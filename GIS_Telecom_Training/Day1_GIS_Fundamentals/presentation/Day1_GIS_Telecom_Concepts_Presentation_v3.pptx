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303520"/>
            <a:ext cx="12191695" cy="15544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8D5D4"/>
                </a:solidFill>
                <a:latin typeface="Calibri"/>
              </a:rPr>
              <a:t>GIS APPLICATIONS IN TELECOMMUNICATIONS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Day 1: See the Network. Own the 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4EF"/>
                </a:solidFill>
                <a:latin typeface="Calibri"/>
              </a:rPr>
              <a:t>GIS Fundamentals · Coordinate Systems · Geodatabase Design · ER Cardinality
From National ISP Core → Fiber → Homes  |  Towers → Sectors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23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5-Day Intensive Training  |  Version 3.0  |  ArcGIS Pro
Companion to Day1_GIS_Fundamentals_Geodatabase_Manual_v3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Hook: Why are we here?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E8"/>
                </a:solidFill>
                <a:latin typeface="Calibri"/>
              </a:rPr>
              <a:t>A network without geography is just a spreadsheet of outages waiting to happen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2743200" cy="182880"/>
          </a:xfrm>
          <a:prstGeom prst="roundRect">
            <a:avLst>
              <a:gd name="adj" fmla="val 8000"/>
            </a:avLst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07A2F"/>
                </a:solidFill>
                <a:latin typeface="Calibri"/>
              </a:rPr>
              <a:t>Dropped calls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happen somewhere — GIS finds the where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6304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463040"/>
            <a:ext cx="2743200" cy="18288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0392B"/>
                </a:solidFill>
                <a:latin typeface="Calibri"/>
              </a:rPr>
              <a:t>Churn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2004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clusters in places — GIS targets retention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6304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463040"/>
            <a:ext cx="2743200" cy="1828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7C7B"/>
                </a:solidFill>
                <a:latin typeface="Calibri"/>
              </a:rPr>
              <a:t>Fiber builds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follow routes &amp; cabinets — GIS designs hierarchy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6304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20" y="1463040"/>
            <a:ext cx="2743200" cy="182880"/>
          </a:xfrm>
          <a:prstGeom prst="roundRect">
            <a:avLst>
              <a:gd name="adj" fmla="val 8000"/>
            </a:avLst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844E"/>
                </a:solidFill>
                <a:latin typeface="Calibri"/>
              </a:rPr>
              <a:t>New towers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04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need coverage + backhaul — GIS supports siting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Day 1 promise: by this afternoon you can design the database relationships that keep ISP inventory truthful — from national core to the living-room ONT.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Today’s 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E8"/>
                </a:solidFill>
                <a:latin typeface="Calibri"/>
              </a:rPr>
              <a:t>What “good” looks like at 16:00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070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Define GIS and its telecom value in one clear sentence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Identify vector types (point/line/polygon) and when to use raster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40864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677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Explain GCS vs PCS and when projection is mandatory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712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9806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Build a File Geodatabase with Feature Dataset + Feature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01568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2841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Assign correct cardinality (1:1, 1:M, M:N) in an ER diagram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3192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58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Model ISP Core → Hub → OLT → FDH → Splitter → Home and Tower → Sector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· GIS Fundamentals · MetroTel Telecom Training v3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1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E8"/>
                </a:solidFill>
                <a:latin typeface="Calibri"/>
              </a:rPr>
              <a:t>Theory that sticks + labs that prove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09:00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325880"/>
            <a:ext cx="93268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463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Hook + GIS for telecom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09:40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2103120"/>
            <a:ext cx="93268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24028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Lab 1: GIS anatomy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036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11:00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880360"/>
            <a:ext cx="93268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301752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Lab 2: CRS &amp; XY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5760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13:15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3657600"/>
            <a:ext cx="93268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379476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Lab 3: GDB + ER cardinality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3484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15:00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4434840"/>
            <a:ext cx="93268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457200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Lab 4: Prove 1:M in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12080"/>
            <a:ext cx="1463040" cy="6400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492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15:45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5212080"/>
            <a:ext cx="93268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53492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Quiz + preview Day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GIS? (Definition Slide)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E8"/>
                </a:solidFill>
                <a:latin typeface="Calibri"/>
              </a:rPr>
              <a:t>Memorize these definitions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Geographic Information System (GIS)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 system to capture, store, query, analyze, and visualize data that has a location — both WHERE and WHAT.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Spatial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Information with geometry referenced to a coordinate system (points, lines, polygons, rasters).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7180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44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Attribute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192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The descriptive table behind geometry (IDs, status, height, technology, capacity).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4048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136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879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One real-world object as geometry + attributes (one tower, one fiber cable, one home).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70916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782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56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 map/analysis collection of similar features (Towers layer, Fiber layer, Districts layer).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· Strong definitions drive strong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GIS Components You Will Touch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E8"/>
                </a:solidFill>
                <a:latin typeface="Calibri"/>
              </a:rPr>
              <a:t>GIS is not “just mapping software” — it is an operational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070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Hardware &amp; software: your laptop + ArcGIS Pro (and later ArcGIS Online on Day 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Data: synthetic MetroTel ISP hierarchy (and optional real open data)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40864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677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People &amp; methods: RF/transmission/GIS roles using shared location truth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712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9806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Analysis: select, join, buffer, relate — beginnings of telecom decision GIS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01568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2841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Visualization: symbology that makes hierarchy readable at a glance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· GIS Fundamentals · MetroTel Telecom Training v3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Vector vs Raster — Choose the right weapon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E8"/>
                </a:solidFill>
                <a:latin typeface="Calibri"/>
              </a:rPr>
              <a:t>Telecom uses both; Day 1 focuses on vector networks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7C7B"/>
                </a:solidFill>
                <a:latin typeface="Calibri"/>
              </a:rPr>
              <a:t>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Points: towers, homes, cabinets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Lines: fiber, microwave paths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Polygons: districts, compounds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79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Best for assets &amp; networks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Exact coordinates + rich attributes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07A2F"/>
                </a:solidFill>
                <a:latin typeface="Calibri"/>
              </a:rPr>
              <a:t>RASTER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Grid of cells/pixels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Each cell has a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747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DEM elevation, coverage RSRP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1479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Best for continuous surfaces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• Day 2/4 use these heavily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Coordinate Systems — Definitions that prevent costly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E8"/>
                </a:solidFill>
                <a:latin typeface="Calibri"/>
              </a:rPr>
              <a:t>Memorize these definitions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Geographic CRS (GCS)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Latitude/longitude on a datum (e.g., WGS84). Units = degrees. Great for GPS exchange &amp;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Projected CRS (PCS)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Flattened coordinates in meters/feet (e.g., UTM). Required for distance, buffer, area, density.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7180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44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Datum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192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The Earth model behind coordinates. Mixing datums without transformation shifts your towers.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4048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136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Define Projection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879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Writes CRS metadata when coordinates are already correct but unlabeled. Does NOT convert values.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70916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782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Project (tool)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56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Mathematically converts coordinates from one CRS to another. Use this before meter-based analysis.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· Strong definitions drive strong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Geodatabase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E8"/>
                </a:solidFill>
                <a:latin typeface="Calibri"/>
              </a:rPr>
              <a:t>Memorize these definitions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File Geodatabase (.gdb)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Esri spatial database container for feature classes, tables, domains, relationship classes, topologies.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Feature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Group of feature classes sharing one spatial reference (put ISP network layers together).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7180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44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Feature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192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Homogeneous features with same geometry type &amp; schema (Towers points, Fiber lines).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4048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136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879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Controlled allowed values (STATUS = Active/Planned). Protects data quality.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709160"/>
            <a:ext cx="11338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7823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Relationship 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056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GDB object storing/enforcing relationships and cardinality between tables/feature classes.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· Strong definitions drive strong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Cardinality — The rule that keeps inventory honest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E8"/>
                </a:solidFill>
                <a:latin typeface="Calibri"/>
              </a:rPr>
              <a:t>How many of A relate to how many of B?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7033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3703320" cy="1097280"/>
          </a:xfrm>
          <a:prstGeom prst="roundRect">
            <a:avLst>
              <a:gd name="adj" fmla="val 8000"/>
            </a:avLst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3703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 :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844E"/>
                </a:solidFill>
                <a:latin typeface="Calibri"/>
              </a:rPr>
              <a:t>One-to-one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Each A ↔ one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3192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Calibri"/>
              </a:rPr>
              <a:t>Customer ↔ Primary Account
(simplified training model)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25880"/>
            <a:ext cx="37033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1325880"/>
            <a:ext cx="3703320" cy="10972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463040"/>
            <a:ext cx="3703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 :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51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E7C7B"/>
                </a:solidFill>
                <a:latin typeface="Calibri"/>
              </a:rPr>
              <a:t>One-to-many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20040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One A → many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93192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Calibri"/>
              </a:rPr>
              <a:t>Splitter → many Homes
Tower → many Sectors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25880"/>
            <a:ext cx="37033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2440" y="1325880"/>
            <a:ext cx="3703320" cy="1097280"/>
          </a:xfrm>
          <a:prstGeom prst="roundRect">
            <a:avLst>
              <a:gd name="adj" fmla="val 8000"/>
            </a:avLst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463040"/>
            <a:ext cx="3703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M : 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6517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7A2F"/>
                </a:solidFill>
                <a:latin typeface="Calibri"/>
              </a:rPr>
              <a:t>Many-to-many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20040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Many A ↔ many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93192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Calibri"/>
              </a:rPr>
              <a:t>Towers ↔ Landlords
(needs bridge table)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Foreign Key rule: in 1:M, store the parent ID on the child table (Homes.SPLITTER_ID, Sectors.TOWER_ID).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ER + Cardinality Map — National ISP Fiber &amp; Mobile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D5D4"/>
                </a:solidFill>
                <a:latin typeface="Calibri"/>
              </a:rPr>
              <a:t>All hierarchy links below are 1:M (one parent serves many children). FK lives on the child.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6012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332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ISP Core POP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07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National backbone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188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31A"/>
                </a:solidFill>
                <a:latin typeface="Calibri"/>
              </a:rPr>
              <a:t>1:M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96012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0332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Regional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307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Province/region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188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31A"/>
                </a:solidFill>
                <a:latin typeface="Calibri"/>
              </a:rPr>
              <a:t>1:M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96012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0332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OLT / Exchange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307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GPON headend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188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31A"/>
                </a:solidFill>
                <a:latin typeface="Calibri"/>
              </a:rPr>
              <a:t>1:M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96012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0332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FDH Cabinet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307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Street cabinet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188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31A"/>
                </a:solidFill>
                <a:latin typeface="Calibri"/>
              </a:rPr>
              <a:t>1:M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960120"/>
            <a:ext cx="2011680" cy="77724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0332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Splitter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13075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1:8 / 1:16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1783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31A"/>
                </a:solidFill>
                <a:latin typeface="Calibri"/>
              </a:rPr>
              <a:t>1:M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205740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21305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Homes / ONT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4048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Many homes per splitter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2057400"/>
            <a:ext cx="8961120" cy="822960"/>
          </a:xfrm>
          <a:prstGeom prst="roundRect">
            <a:avLst>
              <a:gd name="adj" fmla="val 8000"/>
            </a:avLst>
          </a:prstGeom>
          <a:solidFill>
            <a:srgbClr val="12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19456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Fiber cable feature class connects these nodes (FROM_NODE → TO_NODE).
Parent_ID on each child node stores hierarchy. Example: FDH.PARENT_ID = OLT-01.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063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31A"/>
                </a:solidFill>
                <a:latin typeface="Calibri"/>
              </a:rPr>
              <a:t>Mobile / Wireless side (also 1:M)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42900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5021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Backhaul Node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7764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Hub / OLT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3657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31A"/>
                </a:solidFill>
                <a:latin typeface="Calibri"/>
              </a:rPr>
              <a:t>1:M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342900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5021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Tower / BTS Site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37764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Rooftop or greenfield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3657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31A"/>
                </a:solidFill>
                <a:latin typeface="Calibri"/>
              </a:rPr>
              <a:t>1:M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3429000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35021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Sectors / Carriers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3776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Azimuth + 3G/4G tech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5360" y="3429000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12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566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Spatial 1:M
District → many Towers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4480560"/>
            <a:ext cx="11612880" cy="2011680"/>
          </a:xfrm>
          <a:prstGeom prst="roundRect">
            <a:avLst>
              <a:gd name="adj" fmla="val 8000"/>
            </a:avLst>
          </a:prstGeom>
          <a:solidFill>
            <a:srgbClr val="12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6177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A31A"/>
                </a:solidFill>
                <a:latin typeface="Calibri"/>
              </a:rPr>
              <a:t>How to read &amp; implement this 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983480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1) Each box = Entity / Feature Class   2) Each “1:M” = one parent row to many child rows
3) Put Foreign Key on the MANY side (child)   4) M:N (Tower ↔ Landlord) needs a bridge table
5) Day 1 lab data implements this exact MetroTel hierarchy for practice selections &amp; joins
Device chain to memorize: ISP Core → Regional Hub → OLT → FDH → Splitter → Home/ONT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Foreign Keys in practice (1:M)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E8"/>
                </a:solidFill>
                <a:latin typeface="Calibri"/>
              </a:rPr>
              <a:t>The child table carries the parent’s 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03520" cy="54864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SPLITTER (Parent —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NODE_ID (PK)
SPL-01
SPL-02
SPL-03
One splitter row...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303520" cy="548640"/>
          </a:xfrm>
          <a:prstGeom prst="roundRect">
            <a:avLst>
              <a:gd name="adj" fmla="val 8000"/>
            </a:avLst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447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HOMES (Child — Many)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HOME_ID (PK) | SPLITTER_ID (FK)
HOME-101 | SPL-01
HOME-102 | SPL-01
HOME-103 | SPL-01
...
Many home rows point to one splitter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7A2F"/>
                </a:solidFill>
                <a:latin typeface="Calibri"/>
              </a:rPr>
              <a:t>1:M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telecom needs a Geodatabase (not loose files)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070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One spatial reference for the whole access network feature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1051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Relationship classes document cardinality for new staff and contractors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40864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677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Domains stop “Actve/active/ACTIVE” status chaos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712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9806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Topology/connectivity later (Day 4) depends on clean schema today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01568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2841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Executive dashboards (Day 5) inherit trustworthy keys and joins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· GIS Fundamentals · MetroTel Telecom Training v3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Hands-on Labs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E8"/>
                </a:solidFill>
                <a:latin typeface="Calibri"/>
              </a:rPr>
              <a:t>Same MetroTel story in four labs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27432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554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E7C7B"/>
                </a:solidFill>
                <a:latin typeface="Calibri"/>
              </a:rPr>
              <a:t>GIS anatomy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Nodes + fiber on the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54480"/>
            <a:ext cx="27432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554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43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E7C7B"/>
                </a:solidFill>
                <a:latin typeface="Calibri"/>
              </a:rPr>
              <a:t>CRS &amp; XY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8404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Towers/homes in UTM meters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54480"/>
            <a:ext cx="27432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554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Lab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43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E7C7B"/>
                </a:solidFill>
                <a:latin typeface="Calibri"/>
              </a:rPr>
              <a:t>GDB + 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Design cardinality properly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554480"/>
            <a:ext cx="27432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20" y="1554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Lab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743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E7C7B"/>
                </a:solidFill>
                <a:latin typeface="Calibri"/>
              </a:rPr>
              <a:t>Prove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8404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1:M selections &amp; joins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1 Data Package (Synthetic MetroTel)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E8"/>
                </a:solidFill>
                <a:latin typeface="Calibri"/>
              </a:rPr>
              <a:t>No confidential customer PII — safe classroom package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070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ISP_NetworkNodes.csv — Core, Hubs, OLTs, FDHs, Splitters with PARENT_ID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FiberCables.geojson — backbone/aggregation/feeder/distribution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40864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677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Homes_ONT.csv — homes with SPLITTER_ID (child side of 1:M)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712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9806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Towers.csv + Sectors.csv — tower/sector 1:M wireless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01568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2841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Cardinality_Rules_ER.csv — official relationship rules for the ER workshop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3192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58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Optional real data later: HDX boundaries, OSM, regulator site 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· GIS Fundamentals · MetroTel Telecom Training v3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Trap doors (avoid these on Day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E8"/>
                </a:solidFill>
                <a:latin typeface="Calibri"/>
              </a:rPr>
              <a:t>Instructors: pause and quiz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0392B"/>
                </a:solidFill>
                <a:latin typeface="Calibri"/>
              </a:rPr>
              <a:t>X  Buffering in WGS84 degrees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E8F8F5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844E"/>
                </a:solidFill>
                <a:latin typeface="Calibri"/>
              </a:rPr>
              <a:t>OK  Project to UTM/meters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0392B"/>
                </a:solidFill>
                <a:latin typeface="Calibri"/>
              </a:rPr>
              <a:t>X  Using Define Projection to “convert” CRS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4028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E8F8F5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844E"/>
                </a:solidFill>
                <a:latin typeface="Calibri"/>
              </a:rPr>
              <a:t>OK  Use the Project tool to convert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0392B"/>
                </a:solidFill>
                <a:latin typeface="Calibri"/>
              </a:rPr>
              <a:t>X  Putting FK on the parent in 1:M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0040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E8F8F5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429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844E"/>
                </a:solidFill>
                <a:latin typeface="Calibri"/>
              </a:rPr>
              <a:t>OK  FK belongs on the child/many side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0392B"/>
                </a:solidFill>
                <a:latin typeface="Calibri"/>
              </a:rPr>
              <a:t>X  Modeling M:N without a bridge 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6052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E8F8F5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844E"/>
                </a:solidFill>
                <a:latin typeface="Calibri"/>
              </a:rPr>
              <a:t>OK  Create an intermediate 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064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0392B"/>
                </a:solidFill>
                <a:latin typeface="Calibri"/>
              </a:rPr>
              <a:t>X  Shapefile spaghetti folders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12064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E8F8F5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349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844E"/>
                </a:solidFill>
                <a:latin typeface="Calibri"/>
              </a:rPr>
              <a:t>OK  Use a Feature Dataset in a GDB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Rapid Fire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E8"/>
                </a:solidFill>
                <a:latin typeface="Calibri"/>
              </a:rPr>
              <a:t>Answers are in the Day 1 Manual section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070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Define GIS in ≤20 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Vector or raster for fiber cables?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40864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677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GCS or PCS for a 500 m tower buffer?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712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9806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Cardinality of Splitter → Homes? Where is the FK?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01568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2841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Cardinality of Tower → Sector?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3192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587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Name the chain: ISP Core → ? → ? → ? → ? →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· GIS Fundamentals · MetroTel Telecom Training v3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Looking ahead — Your 5-day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E8"/>
                </a:solidFill>
                <a:latin typeface="Calibri"/>
              </a:rPr>
              <a:t>Day 1 is the foundation everything else stands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64592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6459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260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Fundamentals + GDB/ER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720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E7C7B"/>
                </a:solidFill>
                <a:latin typeface="Calibri"/>
              </a:rPr>
              <a:t>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64592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97480" y="16459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8288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9260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Coverage &amp; site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720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B3D5C"/>
                </a:solidFill>
                <a:latin typeface="Calibri"/>
              </a:rPr>
              <a:t>Spatial Analyst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64592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74920" y="16459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8288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Day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9260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Geo-marketing &amp; churn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45720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B3D5C"/>
                </a:solidFill>
                <a:latin typeface="Calibri"/>
              </a:rPr>
              <a:t>Hot spots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64592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52360" y="16459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18288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Day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9260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Fiber &amp; microwave LOS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5720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B3D5C"/>
                </a:solidFill>
                <a:latin typeface="Calibri"/>
              </a:rPr>
              <a:t>Networks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645920"/>
            <a:ext cx="22402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29800" y="16459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18288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Day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9260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AGOL dashboard &amp; 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45720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B3D5C"/>
                </a:solidFill>
                <a:latin typeface="Calibri"/>
              </a:rPr>
              <a:t>Executive 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If you can model cardinality, you can trust the network inventory.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8DDE8"/>
                </a:solidFill>
                <a:latin typeface="Calibri"/>
              </a:rPr>
              <a:t>From national ISP core to the home ONT — and from tower to sector —
Day 1 gives you the language and the database design discipline.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31A"/>
                </a:solidFill>
                <a:latin typeface="Calibri"/>
              </a:rPr>
              <a:t>Open the Manual v3 → start Lab 1
Day1_GIS_Fundamentals_Geodatabase_Manual_v3.docx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