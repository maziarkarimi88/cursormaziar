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5212080"/>
            <a:ext cx="12191695" cy="164592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8D5D4"/>
                </a:solidFill>
                <a:latin typeface="Calibri"/>
                <a:highlight>
                  <a:srgbClr val="FFE08A"/>
                </a:highlight>
              </a:rPr>
              <a:t>GIS Application in Telecom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  <a:highlight>
                  <a:srgbClr val="FFE08A"/>
                </a:highlight>
              </a:rPr>
              <a:t>Day 1 — Concepts, Data &amp; Geodatabase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0E4EF"/>
                </a:solidFill>
                <a:latin typeface="Calibri"/>
              </a:rPr>
              <a:t>Introduction to GIS — Concepts, Components &amp; Data Fundamentals
Geodatabase Design — Feature Classes, Feature Datasets &amp; Relationship Classes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  <a:highlight>
                  <a:srgbClr val="FFE08A"/>
                </a:highlight>
              </a:rPr>
              <a:t>Outcome: Solid GIS terminology + ability to design a relational geodatabase
and assign correct cardinality between telecom entities
Version 3.1  |  ArcGIS Pro  |  MetroTel Training Scenario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Hook: Why Day 1 decides the rest of the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DE8"/>
                </a:solidFill>
                <a:latin typeface="Calibri"/>
              </a:rPr>
              <a:t>Without shared GIS language and correct database design, Days 2–5 collapse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 ·  GIS Concepts, Components, Data Fundamentals &amp; Geodatabase Design  ·  v3.1  ·  2 / 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278892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7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2788920" cy="164592"/>
          </a:xfrm>
          <a:prstGeom prst="roundRect">
            <a:avLst>
              <a:gd name="adj" fmla="val 8000"/>
            </a:avLst>
          </a:prstGeom>
          <a:solidFill>
            <a:srgbClr val="E0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07A2F"/>
                </a:solidFill>
                <a:latin typeface="Calibri"/>
              </a:rPr>
              <a:t>Coverage maps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00400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need correct CRS &amp; layers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463040"/>
            <a:ext cx="278892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91840" y="1463040"/>
            <a:ext cx="2788920" cy="164592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01168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0392B"/>
                </a:solidFill>
                <a:latin typeface="Calibri"/>
              </a:rPr>
              <a:t>Customer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200400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need clean joins &amp; keys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278892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2788920" cy="164592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01168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E7C7B"/>
                </a:solidFill>
                <a:latin typeface="Calibri"/>
                <a:highlight>
                  <a:srgbClr val="FFE08A"/>
                </a:highlight>
              </a:rPr>
              <a:t>Fiber / microwave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200400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need relationships &amp; topology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463040"/>
            <a:ext cx="278892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0" y="1463040"/>
            <a:ext cx="2788920" cy="164592"/>
          </a:xfrm>
          <a:prstGeom prst="roundRect">
            <a:avLst>
              <a:gd name="adj" fmla="val 8000"/>
            </a:avLst>
          </a:prstGeom>
          <a:solidFill>
            <a:srgbClr val="1E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201168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844E"/>
                </a:solidFill>
                <a:latin typeface="Calibri"/>
              </a:rPr>
              <a:t>Executive dashboards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3200400"/>
            <a:ext cx="2514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A1A1A"/>
                </a:solidFill>
                <a:latin typeface="Calibri"/>
              </a:rPr>
              <a:t>need trustworthy schema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Today you will speak GIS fluently and design the ISP data model from Core POP to Homes — and Tower to Sector.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Day 1 Curriculum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DE8"/>
                </a:solidFill>
                <a:latin typeface="Calibri"/>
              </a:rPr>
              <a:t>Mapped exactly to the 5-day program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 ·  GIS Concepts, Components, Data Fundamentals &amp; Geodatabase Design  ·  v3.1  ·  3 / 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005840" cy="6858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447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1280160"/>
            <a:ext cx="99669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135331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Calibri"/>
              </a:rPr>
              <a:t>GIS 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62763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What GIS is, why location matters, telecom applications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057400"/>
            <a:ext cx="1005840" cy="6858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22199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00200" y="2057400"/>
            <a:ext cx="99669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213055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Calibri"/>
              </a:rPr>
              <a:t>Components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40487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People, data, software, methods, visualization as a 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834640"/>
            <a:ext cx="1005840" cy="6858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99923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00200" y="2834640"/>
            <a:ext cx="99669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83080" y="29077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Calibri"/>
              </a:rPr>
              <a:t>Data Fundamentals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18211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Vector/raster, feature types, attributes, metadata quality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1005840" cy="6858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7647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00200" y="3611880"/>
            <a:ext cx="99669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83080" y="368503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Calibri"/>
              </a:rPr>
              <a:t>Coordinate Systems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395935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GCS vs PCS, datum, define vs project, when meters matter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389120"/>
            <a:ext cx="1005840" cy="6858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55371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00200" y="4389120"/>
            <a:ext cx="99669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83080" y="446227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Calibri"/>
              </a:rPr>
              <a:t>Geodatabase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47365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Feature classes, feature datasets, domains, relationship classes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166360"/>
            <a:ext cx="1005840" cy="6858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33095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600200" y="5166360"/>
            <a:ext cx="99669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83080" y="523951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3D5C"/>
                </a:solidFill>
                <a:latin typeface="Calibri"/>
              </a:rPr>
              <a:t>Cardinality &amp; 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83080" y="551383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1:1, 1:M, M:N — design from real ISP/tower datasets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Presentation + Lab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DE8"/>
                </a:solidFill>
                <a:latin typeface="Calibri"/>
              </a:rPr>
              <a:t>Use this deck for teaching; Manual v3 for step-by-step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 ·  GIS Concepts, Components, Data Fundamentals &amp; Geodatabase Design  ·  v3.1  ·  4 / 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828800"/>
            <a:ext cx="16002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1828800"/>
            <a:ext cx="1600200" cy="82296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0116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92608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Concepts &amp; terminology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828800"/>
            <a:ext cx="16002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11680" y="1828800"/>
            <a:ext cx="1600200" cy="82296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20116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4832" y="292608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Components &amp; applications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1828800"/>
            <a:ext cx="16002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03320" y="1828800"/>
            <a:ext cx="1600200" cy="82296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0116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292608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Data types &amp; fundamentals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4960" y="1828800"/>
            <a:ext cx="16002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94960" y="1828800"/>
            <a:ext cx="1600200" cy="82296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20116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8112" y="292608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Coordinate systems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1828800"/>
            <a:ext cx="16002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86600" y="1828800"/>
            <a:ext cx="1600200" cy="82296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20116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9752" y="292608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Geodatabase architecture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1828800"/>
            <a:ext cx="16002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78240" y="1828800"/>
            <a:ext cx="1600200" cy="82296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20116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51392" y="292608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ER + cardinality workshop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69880" y="1828800"/>
            <a:ext cx="16002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469880" y="1828800"/>
            <a:ext cx="1600200" cy="82296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69880" y="20116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43032" y="292608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Labs &amp; Day 1 close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4A31A"/>
                </a:solidFill>
                <a:latin typeface="Calibri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Introduction to GIS —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DE8"/>
                </a:solidFill>
                <a:latin typeface="Calibri"/>
              </a:rPr>
              <a:t>Build a rock-solid definition before touching 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31A"/>
                </a:solidFill>
                <a:latin typeface="Calibri"/>
              </a:rPr>
              <a:t>01 ·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Core GIS Terminology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DE8"/>
                </a:solidFill>
                <a:latin typeface="Calibri"/>
              </a:rPr>
              <a:t>Strong definitions — learn these cold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 ·  GIS Concepts, Components, Data Fundamentals &amp; Geodatabase Design  ·  v3.1  ·  6 /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3502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Geographic Information System (GIS)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934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A system used to capture, store, manage, analyze, and visualize data that is linked to locations on Earth — answering WHERE and WHAT together.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0312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5798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Geographic Information Science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3230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The science behind spatial data, uncertainty, cartography, and spatial analysis methods that GIS software implements.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92608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8094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Spatial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5526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Any dataset with geometry or location coordinates referenced to a coordinate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4904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0390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Attribute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7822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Non-geometry descriptors of features stored in tables (IDs, status, capacity, technology, owner).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57200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62686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Feature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011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One real-world object represented as geometry + attributes (one tower, one cable, one district, one home).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31A"/>
                </a:solidFill>
                <a:latin typeface="Calibri"/>
              </a:rPr>
              <a:t>01 ·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More Essential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DE8"/>
                </a:solidFill>
                <a:latin typeface="Calibri"/>
              </a:rPr>
              <a:t>Strong definitions — learn these cold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 ·  GIS Concepts, Components, Data Fundamentals &amp; Geodatabase Design  ·  v3.1  ·  7 /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3502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934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A display/analysis unit containing features of one theme (Towers, Fiber, Districts).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0312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5798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Basemap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3230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Reference background (streets/imagery) providing context; usually not the analysis layer.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92608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8094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Map vs Layout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5526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Map = interactive data view; Layout = composed printable/PDF output with legend/scale/north arrow.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4904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0390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Query / Selection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7822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Filtering features by attributes or location (Select by Attribute / Select by Location).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57200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62686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Spatial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011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Deriving new information from location relationships (buffer, overlay, density, network, suitability).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31A"/>
                </a:solidFill>
                <a:latin typeface="Calibri"/>
              </a:rPr>
              <a:t>01 ·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  <a:highlight>
                  <a:srgbClr val="FFE08A"/>
                </a:highlight>
              </a:rPr>
              <a:t>GIS Applications in Telecom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DE8"/>
                </a:solidFill>
                <a:latin typeface="Calibri"/>
              </a:rPr>
              <a:t>Why every RF, transmission, marketing, and NOC team needs 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 ·  GIS Concepts, Components, Data Fundamentals &amp; Geodatabase Design  ·  v3.1  ·  8 /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80160"/>
            <a:ext cx="5623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0876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7C7B"/>
                </a:solidFill>
                <a:latin typeface="Calibri"/>
              </a:rPr>
              <a:t>Network inventory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65960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Where are OLTs, cabinets, splitters, towers, sectors?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280160"/>
            <a:ext cx="5623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0876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7C7B"/>
                </a:solidFill>
                <a:latin typeface="Calibri"/>
              </a:rPr>
              <a:t>Coverage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65960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Where is service strong/weak? Where to add sites?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834640"/>
            <a:ext cx="5623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6324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7C7B"/>
                </a:solidFill>
                <a:latin typeface="Calibri"/>
              </a:rPr>
              <a:t>Geo-marketing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520440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Where are high-ARPU / high-churn customers?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834640"/>
            <a:ext cx="5623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06324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7C7B"/>
                </a:solidFill>
                <a:latin typeface="Calibri"/>
                <a:highlight>
                  <a:srgbClr val="FFE08A"/>
                </a:highlight>
              </a:rPr>
              <a:t>Fiber &amp; microwave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520440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Which route/LOS connects demand to capacity?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389120"/>
            <a:ext cx="5623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61772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7C7B"/>
                </a:solidFill>
                <a:latin typeface="Calibri"/>
              </a:rPr>
              <a:t>Outage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074920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Which customers/assets are affected by a cut?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389120"/>
            <a:ext cx="5623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61772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7C7B"/>
                </a:solidFill>
                <a:latin typeface="Calibri"/>
              </a:rPr>
              <a:t>Executive 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074920"/>
            <a:ext cx="5257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Where should money and crews go next?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4A31A"/>
                </a:solidFill>
                <a:latin typeface="Calibri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GIS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DE8"/>
                </a:solidFill>
                <a:latin typeface="Calibri"/>
              </a:rPr>
              <a:t>GIS is a system — not only software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31A"/>
                </a:solidFill>
                <a:latin typeface="Calibri"/>
              </a:rPr>
              <a:t>02 ·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Five GIS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DE8"/>
                </a:solidFill>
                <a:latin typeface="Calibri"/>
              </a:rPr>
              <a:t>All five must work together for telecom GIS success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 ·  GIS Concepts, Components, Data Fundamentals &amp; Geodatabase Design  ·  v3.1  ·  10 /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554480"/>
            <a:ext cx="22402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20040" y="1554480"/>
            <a:ext cx="2240280" cy="100584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7830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 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Laptops, servers, GPS, field tablets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1554480"/>
            <a:ext cx="22402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97480" y="1554480"/>
            <a:ext cx="2240280" cy="100584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17830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2. 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017520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ArcGIS Pro, ArcMap, AGOL, extensions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1554480"/>
            <a:ext cx="22402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74920" y="1554480"/>
            <a:ext cx="2240280" cy="100584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17830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3.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017520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Sites, fiber, customers, DEM, boundaries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554480"/>
            <a:ext cx="22402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52360" y="1554480"/>
            <a:ext cx="2240280" cy="100584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17830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4. People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017520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RF, transmission, GIS, marketing, NOC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1554480"/>
            <a:ext cx="22402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29800" y="1554480"/>
            <a:ext cx="2240280" cy="100584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178308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5. Methods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3017520"/>
            <a:ext cx="1965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Standards, QA, workflows, cardinality rules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31A"/>
                </a:solidFill>
                <a:latin typeface="Calibri"/>
              </a:rPr>
              <a:t>02 ·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Software Stack Used in This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DE8"/>
                </a:solidFill>
                <a:latin typeface="Calibri"/>
              </a:rPr>
              <a:t>Know the platform landscape early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 ·  GIS Concepts, Components, Data Fundamentals &amp; Geodatabase Design  ·  v3.1  ·  11 /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99032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Day 1–4 primary: ArcGIS Pro (Catalog, Map, Analysis tools)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9384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562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  <a:highlight>
                  <a:srgbClr val="FFE08A"/>
                </a:highlight>
              </a:rPr>
              <a:t>Day 4 network option: Utility Network in ArcGIS Pro (Geometric Network is ArcMap legacy; read-only in Pro)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459736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38658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Day 5: ArcGIS Online — Web Maps, Dashboards, StoryMaps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90088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91693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Extensions you will meet later: Spatial Analyst, 3D Analyst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20440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472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Day 1 focus: Catalog/GDB design + Map visualization + CRS tools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4A31A"/>
                </a:solidFill>
                <a:latin typeface="Calibri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Data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DE8"/>
                </a:solidFill>
                <a:latin typeface="Calibri"/>
              </a:rPr>
              <a:t>Geometry types, attributes, and data quality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31A"/>
                </a:solidFill>
                <a:latin typeface="Calibri"/>
              </a:rPr>
              <a:t>03 · Data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Vector Data Types (Telecom examples)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DE8"/>
                </a:solidFill>
                <a:latin typeface="Calibri"/>
              </a:rPr>
              <a:t>Match geometry to the real-world object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 ·  GIS Concepts, Components, Data Fundamentals &amp; Geodatabase Design  ·  v3.1  ·  13 /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365760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1A"/>
                </a:solidFill>
                <a:latin typeface="Calibri"/>
              </a:rPr>
              <a:t>Towers, homes/ONT, cabinets,
splitters, core POP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554480"/>
            <a:ext cx="365760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55448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737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Line / Polyline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92608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1A"/>
                </a:solidFill>
                <a:latin typeface="Calibri"/>
              </a:rPr>
              <a:t>Fiber cables, microwave links,
trench routes, roads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54480"/>
            <a:ext cx="365760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155448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7373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Polygon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92608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1A1A1A"/>
                </a:solidFill>
                <a:latin typeface="Calibri"/>
              </a:rPr>
              <a:t>Districts, compounds, coverage
polygons, building footprints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31A"/>
                </a:solidFill>
                <a:latin typeface="Calibri"/>
              </a:rPr>
              <a:t>03 · Data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Raster Data Fundamentals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DE8"/>
                </a:solidFill>
                <a:latin typeface="Calibri"/>
              </a:rPr>
              <a:t>Continuous surfaces used heavily from Day 2 onward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 ·  GIS Concepts, Components, Data Fundamentals &amp; Geodatabase Design  ·  v3.1  ·  14 /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57784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7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07A2F"/>
                </a:solidFill>
                <a:latin typeface="Calibri"/>
              </a:rPr>
              <a:t>What a raster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Matrix of cells (pixels) in rows/columns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Each cell stores one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Cell size = spatial resolution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79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Good for elevation, slope, coverage strength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Not ideal as primary inventory for discrete assets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371600"/>
            <a:ext cx="548640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3D5C"/>
                </a:solidFill>
                <a:latin typeface="Calibri"/>
              </a:rPr>
              <a:t>Telecom raster 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194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DEM / DSM for microwave LOS (Day 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8346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RSRP / coverage prediction surfaces (Day 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474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Population density grids (Day 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11479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Suitability surfaces (Days 2–3)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7548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• Viewshed outputs (Day 4)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31A"/>
                </a:solidFill>
                <a:latin typeface="Calibri"/>
              </a:rPr>
              <a:t>03 · Data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Attributes, Tables &amp; Data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DE8"/>
                </a:solidFill>
                <a:latin typeface="Calibri"/>
              </a:rPr>
              <a:t>Strong definitions — learn these cold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 ·  GIS Concepts, Components, Data Fundamentals &amp; Geodatabase Design  ·  v3.1  ·  15 /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3502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Attribute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934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Tabular view of feature properties; each row = one feature; each column = one field.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0312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5798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Primary Key (PK)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3230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Unique identifier field (TOWER_ID, HOME_ID, NODE_ID). Required for trustworthy relationships.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92608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8094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Foreign Key (FK)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5526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Field storing another table’s PK to create a link (Homes.SPLITTER_ID).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4904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0390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Metadata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7822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Data about data: source, date, CRS, accuracy, owner. Protects institutional memory.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57200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62686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Data quality dimensions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011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Completeness, accuracy, consistency, currency, uniqueness — all matter in telecom inventory.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4A31A"/>
                </a:solidFill>
                <a:latin typeface="Calibri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Coordinate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DE8"/>
                </a:solidFill>
                <a:latin typeface="Calibri"/>
              </a:rPr>
              <a:t>The most expensive Day-1 mistake is usually CRS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31A"/>
                </a:solidFill>
                <a:latin typeface="Calibri"/>
              </a:rPr>
              <a:t>04 · Coordinate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Coordinate System Definitions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DE8"/>
                </a:solidFill>
                <a:latin typeface="Calibri"/>
              </a:rPr>
              <a:t>Strong definitions — learn these cold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 ·  GIS Concepts, Components, Data Fundamentals &amp; Geodatabase Design  ·  v3.1  ·  17 /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3502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Geographic Coordinate System (GCS)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934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Locations as latitude/longitude on a spheroid/datum (e.g., WGS 1984). Units = degrees.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0312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5798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Projected Coordinate System (PCS)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3230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Flattened map grid in linear units (meters/feet), e.g., UTM Zone. Needed for distance/area/buffer.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92608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8094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Datum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5526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Reference model of Earth. Changing datum without transformation shifts features.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4904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0390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Define Projection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7822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Assigns CRS metadata when coordinates are already correct. Does not convert values.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57200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62686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Project tool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011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Converts coordinates from one CRS to another. Use before meter-based analysis.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31A"/>
                </a:solidFill>
                <a:latin typeface="Calibri"/>
              </a:rPr>
              <a:t>04 · Coordinate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GCS vs PCS — Decision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DE8"/>
                </a:solidFill>
                <a:latin typeface="Calibri"/>
              </a:rPr>
              <a:t>Simple rule students can repeat tomorrow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 ·  GIS Concepts, Components, Data Fundamentals &amp; Geodatabase Design  ·  v3.1  ·  18 /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E7C7B"/>
                </a:solidFill>
                <a:latin typeface="Calibri"/>
              </a:rPr>
              <a:t>Use GCS (WGS84) when…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• Exchanging GPS / survey / CSV XY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• Storing global datasets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• Publishing to some web basemaps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• Latitude/longitude is the source format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7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00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07A2F"/>
                </a:solidFill>
                <a:latin typeface="Calibri"/>
              </a:rPr>
              <a:t>Use PCS (UTM meters) when…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2860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• Buffering towers (e.g., 500 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0175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• Measuring fiber route length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7490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• Calculating area / density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48056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  <a:highlight>
                  <a:srgbClr val="FFE08A"/>
                </a:highlight>
              </a:rPr>
              <a:t>• Day 2–4 Spatial Analyst workflows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31A"/>
                </a:solidFill>
                <a:latin typeface="Calibri"/>
              </a:rPr>
              <a:t>04 · Coordinate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CRS Trap Doors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DE8"/>
                </a:solidFill>
                <a:latin typeface="Calibri"/>
              </a:rPr>
              <a:t>Instructors: quiz this before lunch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 ·  GIS Concepts, Components, Data Fundamentals &amp; Geodatabase Design  ·  v3.1  ·  19 /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99032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Never buffer in degrees and pretend the result is meters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9384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562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Define Projection ≠ Project (labeling vs converting)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459736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38658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Mixed datums without transformation = silent location shift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90088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91693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Feature Dataset forces one shared CRS — design that intentionally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20440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472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Day 1 lab: load WGS84 XY, then Project to UTM for analysis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4A31A"/>
                </a:solidFill>
                <a:latin typeface="Calibri"/>
              </a:rP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Geodatabase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DE8"/>
                </a:solidFill>
                <a:latin typeface="Calibri"/>
              </a:rPr>
              <a:t>Feature Classes · Feature Datasets · Relationship Classes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31A"/>
                </a:solidFill>
                <a:latin typeface="Calibri"/>
              </a:rPr>
              <a:t>05 · Geodatabase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Geodatabase Architecture — Definitions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DE8"/>
                </a:solidFill>
                <a:latin typeface="Calibri"/>
              </a:rPr>
              <a:t>Strong definitions — learn these cold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 ·  GIS Concepts, Components, Data Fundamentals &amp; Geodatabase Design  ·  v3.1  ·  21 /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3502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Geodatabase (GDB)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934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Esri’s spatial database container for feature classes, tables, domains, subtypes, relationship classes, topologies, and networks.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0312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5798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File Geodatabase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3230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Local .gdb folder format used throughout this training for project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92608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8094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Feature 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5526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A collection of features with the same geometry type and attribute schema (e.g., Towers as points).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4904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0390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Feature 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7822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A container inside a GDB that groups related feature classes under one spatial reference.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57200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62686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Object Class /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011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Non-spatial table stored in the GDB (e.g., Sectors, ServicePlans).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31A"/>
                </a:solidFill>
                <a:latin typeface="Calibri"/>
              </a:rPr>
              <a:t>05 · Geodatabase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Quality &amp; Structure Objects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DE8"/>
                </a:solidFill>
                <a:latin typeface="Calibri"/>
              </a:rPr>
              <a:t>Strong definitions — learn these cold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 ·  GIS Concepts, Components, Data Fundamentals &amp; Geodatabase Design  ·  v3.1  ·  22 /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3502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934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  <a:highlight>
                  <a:srgbClr val="FFE08A"/>
                </a:highlight>
              </a:rPr>
              <a:t>Allowed values or ranges for a field (STATUS = Active / Planned / On Air). Improves consistency.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0312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5798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Subtype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3230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Categories inside one feature class with different defaults/domains (TowerType = Rooftop vs Greenfield).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92608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8094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Relationship 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5526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GDB object that stores/enforces relationships between two classes and defines cardinality.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4904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0390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Topology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7822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Rules about shared geometry (connect, cover, no overlap) — foundation for network integrity.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57200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62686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Schema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011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The designed structure of datasets, fields, keys, and relationships — your “data constitution.”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31A"/>
                </a:solidFill>
                <a:latin typeface="Calibri"/>
              </a:rPr>
              <a:t>05 · Geodatabase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Feature Class vs Feature Dataset vs Relationship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DE8"/>
                </a:solidFill>
                <a:latin typeface="Calibri"/>
              </a:rPr>
              <a:t>The three design objects students must separate clearly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 ·  GIS Concepts, Components, Data Fundamentals &amp; Geodatabase Design  ·  v3.1  ·  23 /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3749039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3749039" cy="82296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Feature 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77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C7B"/>
                </a:solidFill>
                <a:latin typeface="Calibri"/>
              </a:rPr>
              <a:t>What it 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One theme, one geometry 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31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7C7B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Towers (points)
FiberCables (lines)
Districts (polygons)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371600"/>
            <a:ext cx="3749039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97680" y="1371600"/>
            <a:ext cx="3749039" cy="82296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55448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Feature 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377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3D5C"/>
                </a:solidFill>
                <a:latin typeface="Calibri"/>
              </a:rPr>
              <a:t>What it 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74320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Family of related FCs
sharing one CRS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931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3D5C"/>
                </a:solidFill>
                <a:latin typeface="Calibri"/>
              </a:rPr>
              <a:t>Example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2976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FD_ISP_Network contains
nodes + cables + homes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371600"/>
            <a:ext cx="3749039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7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0" y="1371600"/>
            <a:ext cx="3749039" cy="822960"/>
          </a:xfrm>
          <a:prstGeom prst="roundRect">
            <a:avLst>
              <a:gd name="adj" fmla="val 8000"/>
            </a:avLst>
          </a:prstGeom>
          <a:solidFill>
            <a:srgbClr val="E0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5448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Relationship Class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3774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07A2F"/>
                </a:solidFill>
                <a:latin typeface="Calibri"/>
              </a:rPr>
              <a:t>What it 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74320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Formal link + cardinality
between two classes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9319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07A2F"/>
                </a:solidFill>
                <a:latin typeface="Calibri"/>
              </a:rPr>
              <a:t>Example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297680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RC_Splitter_Homes
(1:M)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31A"/>
                </a:solidFill>
                <a:latin typeface="Calibri"/>
              </a:rPr>
              <a:t>05 · Geodatabase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Design Pattern for Day 1 MetroTel GDB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DE8"/>
                </a:solidFill>
                <a:latin typeface="Calibri"/>
              </a:rPr>
              <a:t>This is the practical skill outcome of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 ·  GIS Concepts, Components, Data Fundamentals &amp; Geodatabase Design  ·  v3.1  ·  24 /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99032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Create File GDB: MetroTel_Day1.gdb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9384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562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Create Feature Dataset FD_ISP_Network (projected UTM CRS)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459736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38658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Load Feature Classes: ISP_Nodes, FiberCables, Homes, Towers, Districts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90088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91693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Keep Sectors as a related table (or point FC) with TOWER_ID FK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20440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472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Create Relationship Classes for Splitter→Homes and Tower→Sectors (1:M)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50792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9776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Add Domains for STATUS / NODE_TYPE to prevent dirty values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4A31A"/>
                </a:solidFill>
                <a:latin typeface="Calibri"/>
              </a:rP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Relational Design &amp; Cardinality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DE8"/>
                </a:solidFill>
                <a:latin typeface="Calibri"/>
              </a:rPr>
              <a:t>Assign the correct relationship between entities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31A"/>
                </a:solidFill>
                <a:latin typeface="Calibri"/>
              </a:rPr>
              <a:t>06 · Cardinality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ER &amp; Cardinality Definitions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DE8"/>
                </a:solidFill>
                <a:latin typeface="Calibri"/>
              </a:rPr>
              <a:t>Strong definitions — learn these cold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 ·  GIS Concepts, Components, Data Fundamentals &amp; Geodatabase Design  ·  v3.1  ·  26 /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3502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934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A thing we store as a table/feature class (Tower, Splitter, Home, Hub).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0312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5798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Relationship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3230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A business rule linking entities (Splitter serves Homes; Tower hosts Sectors).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92608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8094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ER Diagram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5526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Entity–Relationship diagram: boxes = entities, lines = relationships, labels = cardinality.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4904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0390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Cardinality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7822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How many instances of A relate to how many of B: 1:1, 1:M, or M:N.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572000"/>
            <a:ext cx="1143000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626864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Bridge / Junction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01184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Required for M:N relationships (e.g., TowerLandlordLease with TOWER_ID + LANDLORD_ID).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31A"/>
                </a:solidFill>
                <a:latin typeface="Calibri"/>
              </a:rPr>
              <a:t>06 · Cardinality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Cardinality Types with Telecom Meaning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DE8"/>
                </a:solidFill>
                <a:latin typeface="Calibri"/>
              </a:rPr>
              <a:t>Memorize + give one example 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 ·  GIS Concepts, Components, Data Fundamentals &amp; Geodatabase Design  ·  v3.1  ·  27 /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3749039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325880"/>
            <a:ext cx="3749039" cy="1051560"/>
          </a:xfrm>
          <a:prstGeom prst="roundRect">
            <a:avLst>
              <a:gd name="adj" fmla="val 8000"/>
            </a:avLst>
          </a:prstGeom>
          <a:solidFill>
            <a:srgbClr val="1E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1 :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E844E"/>
                </a:solidFill>
                <a:latin typeface="Calibri"/>
              </a:rPr>
              <a:t>One-to-one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08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Each A relates to one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4048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55555"/>
                </a:solidFill>
                <a:latin typeface="Calibri"/>
              </a:rPr>
              <a:t>Simplified: Customer ↔
Primary Service Account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325880"/>
            <a:ext cx="3749039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51960" y="1325880"/>
            <a:ext cx="3749039" cy="105156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46304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1 :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606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E7C7B"/>
                </a:solidFill>
                <a:latin typeface="Calibri"/>
              </a:rPr>
              <a:t>One-to-many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108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One A relates to many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84048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55555"/>
                </a:solidFill>
                <a:latin typeface="Calibri"/>
              </a:rPr>
              <a:t>Splitter → many Homes
Tower → many Sectors
OLT → many FDHs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325880"/>
            <a:ext cx="3749039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07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38160" y="1325880"/>
            <a:ext cx="3749039" cy="1051560"/>
          </a:xfrm>
          <a:prstGeom prst="roundRect">
            <a:avLst>
              <a:gd name="adj" fmla="val 8000"/>
            </a:avLst>
          </a:prstGeom>
          <a:solidFill>
            <a:srgbClr val="E0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46304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M : 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606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07A2F"/>
                </a:solidFill>
                <a:latin typeface="Calibri"/>
              </a:rPr>
              <a:t>Many-to-many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1089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Calibri"/>
              </a:rPr>
              <a:t>Many A relate to many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84048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55555"/>
                </a:solidFill>
                <a:latin typeface="Calibri"/>
              </a:rPr>
              <a:t>Towers ↔ Landlords
over lease history
(needs bridge table)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B3D5C"/>
                </a:solidFill>
                <a:latin typeface="Calibri"/>
              </a:rPr>
              <a:t>Golden rule: in 1:M, store the Foreign Key on the child (MANY) side.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ER Diagram + Cardinality — ISP Fiber Distribution &amp; Mobile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5720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8D5D4"/>
                </a:solidFill>
                <a:latin typeface="Calibri"/>
              </a:rPr>
              <a:t>Design from available MetroTel datasets: all main hierarchy links are 1:M; FK on child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98755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ISP Core POP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" y="1261872"/>
            <a:ext cx="1755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5F5"/>
                </a:solidFill>
                <a:latin typeface="Calibri"/>
              </a:rPr>
              <a:t>National backbone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14300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A31A"/>
                </a:solidFill>
                <a:latin typeface="Calibri"/>
              </a:rPr>
              <a:t>1:M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91440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98755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Regional 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2616" y="1261872"/>
            <a:ext cx="1755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5F5"/>
                </a:solidFill>
                <a:latin typeface="Calibri"/>
              </a:rPr>
              <a:t>Many per country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14300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A31A"/>
                </a:solidFill>
                <a:latin typeface="Calibri"/>
              </a:rPr>
              <a:t>1:M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91440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98755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OLT / Exchange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0056" y="1261872"/>
            <a:ext cx="1755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5F5"/>
                </a:solidFill>
                <a:latin typeface="Calibri"/>
              </a:rPr>
              <a:t>GPON headend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14300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A31A"/>
                </a:solidFill>
                <a:latin typeface="Calibri"/>
              </a:rPr>
              <a:t>1:M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91440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E0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987552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FDH Cabinet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7496" y="1261872"/>
            <a:ext cx="1755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5F5"/>
                </a:solidFill>
                <a:latin typeface="Calibri"/>
              </a:rPr>
              <a:t>Street cabinet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114300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A31A"/>
                </a:solidFill>
                <a:latin typeface="Calibri"/>
              </a:rPr>
              <a:t>1:M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60" y="914400"/>
            <a:ext cx="2103120" cy="77724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8360" y="98755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Splitter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4936" y="1261872"/>
            <a:ext cx="20299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5F5"/>
                </a:solidFill>
                <a:latin typeface="Calibri"/>
              </a:rPr>
              <a:t>1:8 / 1:16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0" y="1737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4A31A"/>
                </a:solidFill>
                <a:latin typeface="Calibri"/>
              </a:rPr>
              <a:t>1:M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2011680"/>
            <a:ext cx="2286000" cy="822960"/>
          </a:xfrm>
          <a:prstGeom prst="roundRect">
            <a:avLst>
              <a:gd name="adj" fmla="val 8000"/>
            </a:avLst>
          </a:prstGeom>
          <a:solidFill>
            <a:srgbClr val="1E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0" y="208483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Homes / ONT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37776" y="2359152"/>
            <a:ext cx="2212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5F5"/>
                </a:solidFill>
                <a:latin typeface="Calibri"/>
              </a:rPr>
              <a:t>Final customer devices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" y="2011680"/>
            <a:ext cx="9052560" cy="822960"/>
          </a:xfrm>
          <a:prstGeom prst="roundRect">
            <a:avLst>
              <a:gd name="adj" fmla="val 8000"/>
            </a:avLst>
          </a:prstGeom>
          <a:solidFill>
            <a:srgbClr val="12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2148840"/>
            <a:ext cx="8778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FiberCables connect nodes (FROM_NODE→TO_NODE). Each child stores PARENT_ID.
This is how a national ISP distributes fiber optic service down to homes.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3017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4A31A"/>
                </a:solidFill>
                <a:latin typeface="Calibri"/>
              </a:rPr>
              <a:t>Mobile / wireless inventory relationships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3383280"/>
            <a:ext cx="2194560" cy="77724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45643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Backhaul Node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" y="3730752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5F5"/>
                </a:solidFill>
                <a:latin typeface="Calibri"/>
              </a:rPr>
              <a:t>Hub / OLT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361188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A31A"/>
                </a:solidFill>
                <a:latin typeface="Calibri"/>
              </a:rPr>
              <a:t>1:M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54680" y="3383280"/>
            <a:ext cx="2194560" cy="777240"/>
          </a:xfrm>
          <a:prstGeom prst="roundRect">
            <a:avLst>
              <a:gd name="adj" fmla="val 8000"/>
            </a:avLst>
          </a:prstGeom>
          <a:solidFill>
            <a:srgbClr val="E0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54680" y="345643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Tower / Site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91256" y="3730752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5F5"/>
                </a:solidFill>
                <a:latin typeface="Calibri"/>
              </a:rPr>
              <a:t>Rooftop/greenfield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94960" y="361188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4A31A"/>
                </a:solidFill>
                <a:latin typeface="Calibri"/>
              </a:rPr>
              <a:t>1:M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0" y="3383280"/>
            <a:ext cx="2286000" cy="77724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0" y="345643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Sectors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80176" y="3730752"/>
            <a:ext cx="2212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F5F5"/>
                </a:solidFill>
                <a:latin typeface="Calibri"/>
              </a:rPr>
              <a:t>Many per tower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03920" y="3383280"/>
            <a:ext cx="3291840" cy="777240"/>
          </a:xfrm>
          <a:prstGeom prst="roundRect">
            <a:avLst>
              <a:gd name="adj" fmla="val 8000"/>
            </a:avLst>
          </a:prstGeom>
          <a:solidFill>
            <a:srgbClr val="12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41080" y="35204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Also spatial 1:M:
District contains many Towers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28600" y="4389120"/>
            <a:ext cx="11704320" cy="2011680"/>
          </a:xfrm>
          <a:prstGeom prst="roundRect">
            <a:avLst>
              <a:gd name="adj" fmla="val 8000"/>
            </a:avLst>
          </a:prstGeom>
          <a:solidFill>
            <a:srgbClr val="12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452628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4A31A"/>
                </a:solidFill>
                <a:latin typeface="Calibri"/>
              </a:rPr>
              <a:t>Assigning cardinality from available datasets (Day 1 skill)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4892040"/>
            <a:ext cx="11338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1) Identify entities in the data (nodes, cables, homes, towers, sectors, districts)
2) Ask: one parent to how many children? → usually 1:M in physical networks
3) Place FK on child: Homes.SPLITTER_ID, Sectors.TOWER_ID, Nodes.PARENT_ID, Towers.BACKHAUL_NODE
4) Create Relationship Class in GDB with matching cardinality
5) Validate with Select/Join: one splitter should return many homes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31A"/>
                </a:solidFill>
                <a:latin typeface="Calibri"/>
              </a:rPr>
              <a:t>06 · Cardinality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Implementing 1:M with Foreign Keys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DE8"/>
                </a:solidFill>
                <a:latin typeface="Calibri"/>
              </a:rPr>
              <a:t>Child table stores parent key — this is non-negotiable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 ·  GIS Concepts, Components, Data Fundamentals &amp; Geodatabase Design  ·  v3.1  ·  29 /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3035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5303520" cy="54864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447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PARENT (1) — Splitter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4884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PK: NODE_ID
SPL-01
SPL-02
SPL-03
One row per splitter device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53035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1E84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5303520" cy="548640"/>
          </a:xfrm>
          <a:prstGeom prst="roundRect">
            <a:avLst>
              <a:gd name="adj" fmla="val 8000"/>
            </a:avLst>
          </a:prstGeom>
          <a:solidFill>
            <a:srgbClr val="1E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447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CHILD (MANY) — Homes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4884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PK: HOME_ID
FK: SPLITTER_ID → NODE_ID
HOME-101 | SPL-01
HOME-102 | SPL-01
HOME-103 | SPL-01
...
Many homes served by one splitter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291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07A2F"/>
                </a:solidFill>
                <a:latin typeface="Calibri"/>
              </a:rPr>
              <a:t>1:M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31A"/>
                </a:solidFill>
                <a:latin typeface="Calibri"/>
              </a:rPr>
              <a:t>06 · Cardinality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Creating a Relationship Class (concept → ArcGIS)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DE8"/>
                </a:solidFill>
                <a:latin typeface="Calibri"/>
              </a:rPr>
              <a:t>This is the formal GDB implementation of your ER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 ·  GIS Concepts, Components, Data Fundamentals &amp; Geodatabase Design  ·  v3.1  ·  30 /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99032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Origin class = parent (Splitter / Tower)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9384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562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Destination class = child (Homes / Sectors)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459736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38658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Cardinality = One to Many (1:M)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90088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91693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Primary key = parent ID field; Foreign key = child ID field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20440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472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Optional messaging / composite vs simple based on delete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50792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9776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Test: select origin feature → related destination rows appear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4A31A"/>
                </a:solidFill>
                <a:latin typeface="Calibri"/>
              </a:rPr>
              <a:t>SECTION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From Concepts to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DE8"/>
                </a:solidFill>
                <a:latin typeface="Calibri"/>
              </a:rPr>
              <a:t>Manual labs prove every definition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31A"/>
                </a:solidFill>
                <a:latin typeface="Calibri"/>
              </a:rPr>
              <a:t>07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Day 1 Labs (Manual v3)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DE8"/>
                </a:solidFill>
                <a:latin typeface="Calibri"/>
              </a:rPr>
              <a:t>Concepts become skills only when proven in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 ·  GIS Concepts, Components, Data Fundamentals &amp; Geodatabase Design  ·  v3.1  ·  32 /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54480"/>
            <a:ext cx="278892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55448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3736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Lab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E7C7B"/>
                </a:solidFill>
                <a:latin typeface="Calibri"/>
              </a:rPr>
              <a:t>GIS anatomy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93192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Map nodes/fiber; click feature ↔ table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554480"/>
            <a:ext cx="278892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91840" y="155448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73736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Lab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83464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E7C7B"/>
                </a:solidFill>
                <a:latin typeface="Calibri"/>
              </a:rPr>
              <a:t>Data + CRS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93192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XY points; project to UTM; buffer meters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554480"/>
            <a:ext cx="278892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155448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73736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Lab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83464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E7C7B"/>
                </a:solidFill>
                <a:latin typeface="Calibri"/>
              </a:rPr>
              <a:t>GDB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93192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Feature Dataset/Classes; ER + cardinality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1554480"/>
            <a:ext cx="278892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0" y="155448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1737360"/>
            <a:ext cx="2788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Lab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283464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E7C7B"/>
                </a:solidFill>
                <a:latin typeface="Calibri"/>
              </a:rPr>
              <a:t>Prove relations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393192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1:M selections &amp; joins on real fields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31A"/>
                </a:solidFill>
                <a:latin typeface="Calibri"/>
              </a:rPr>
              <a:t>07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Datasets Supporting Concept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DE8"/>
                </a:solidFill>
                <a:latin typeface="Calibri"/>
              </a:rPr>
              <a:t>All included in Day1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 ·  GIS Concepts, Components, Data Fundamentals &amp; Geodatabase Design  ·  v3.1  ·  33 /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99032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ISP_NetworkNodes.csv — hierarchy with PARENT_ID (Core→Hub→OLT→FDH→Splitter)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29384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562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FiberCables.geojson — physical links between nodes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459736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38658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Homes_ONT.csv — child side of Splitter 1:M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90088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91693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Towers.csv + Sectors.csv — Tower 1:M Sectors + backhaul link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20440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472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Cardinality_Rules_ER.csv — ready-made relationship rule sheet for workshop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50792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9776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Districts.geojson — polygon context for spatial containment discussion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4A31A"/>
                </a:solidFill>
                <a:latin typeface="Calibri"/>
              </a:rPr>
              <a:t>07 ·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Knowledge Check — Can students do this?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DE8"/>
                </a:solidFill>
                <a:latin typeface="Calibri"/>
              </a:rPr>
              <a:t>If yes, Day 1 outcomes are met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 ·  GIS Concepts, Components, Data Fundamentals &amp; Geodatabase Design  ·  v3.1  ·  34 /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80160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□  Define GIS, feature, layer, attribute, vector, raster in one sentence each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38528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□  Name the five GIS components and one telecom example each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96896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3405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□  State when to use GCS vs PCS and Define Projection vs Project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55264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9242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□  Explain Feature Class vs Feature Dataset vs Relationship Class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13632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507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□  Draw ER for ISP Core→…→Home and label every link 1:M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72000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709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□  Say where the FK belongs for Tower→Sector and Splitter→Home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230368"/>
            <a:ext cx="11247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3675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□  Create a File GDB + Feature Dataset and load Day 1 layers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Bridge to Days 2–5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DE8"/>
                </a:solidFill>
                <a:latin typeface="Calibri"/>
              </a:rPr>
              <a:t>Day 1 language and schema power everything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Day 1  ·  GIS Concepts, Components, Data Fundamentals &amp; Geodatabase Design  ·  v3.1  ·  35 / 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6459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Day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E7C7B"/>
                </a:solidFill>
                <a:latin typeface="Calibri"/>
              </a:rPr>
              <a:t>Coverage &amp; sites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uses towers/sectors + CRS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64592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16459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828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Day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9260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E7C7B"/>
                </a:solidFill>
                <a:latin typeface="Calibri"/>
              </a:rPr>
              <a:t>Geo-marketing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206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uses joins/keys + zones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64592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16459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828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Day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260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E7C7B"/>
                </a:solidFill>
                <a:latin typeface="Calibri"/>
                <a:highlight>
                  <a:srgbClr val="FFE08A"/>
                </a:highlight>
              </a:rPr>
              <a:t>Fiber &amp; microwave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206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uses relationships/networks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164592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B3D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81160" y="16459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828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Day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9260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E7C7B"/>
                </a:solidFill>
                <a:latin typeface="Calibri"/>
                <a:highlight>
                  <a:srgbClr val="FFE08A"/>
                </a:highlight>
              </a:rPr>
              <a:t>ArcGIS Online 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420624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uses clean published schema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Day 1 standard: speak GIS clearly,
design the geodatabase correctly,
assign cardinality without guessing.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4A31A"/>
                </a:solidFill>
                <a:latin typeface="Calibri"/>
              </a:rPr>
              <a:t>ISP Core → Hub → OLT → FDH → Splitter → Home
Backhaul → Tower → Sectors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8DDE8"/>
                </a:solidFill>
                <a:latin typeface="Calibri"/>
              </a:rPr>
              <a:t>Next: open Manual v3 and start Lab 1
Day1_GIS_Fundamentals_Geodatabase_Manual_v3.docx
Presentation file: Day1_GIS_Telecom_Concepts_Presentation_v3.pptx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Instructor copy — text corrections highlighted in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0392B"/>
                </a:solidFill>
                <a:latin typeface="Calibri"/>
              </a:rPr>
              <a:t>Yellow highlight on slides = wording that was corrected. Review these before delivery.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B3D5C"/>
                </a:solidFill>
                <a:latin typeface="Calibri"/>
              </a:rPr>
              <a:t>Slide     Correction</a:t>
            </a:r>
          </a:p>
          <a:p>
            <a:r>
              <a:rPr sz="1200">
                <a:solidFill>
                  <a:srgbClr val="787878"/>
                </a:solidFill>
                <a:latin typeface="Calibri"/>
              </a:rPr>
              <a:t>Slide 1:  GIS APPLICATIONS IN TELECOMMUNICATIONS</a:t>
            </a:r>
          </a:p>
          <a:p>
            <a:r>
              <a:rPr sz="1300" b="1">
                <a:solidFill>
                  <a:srgbClr val="0E7C7B"/>
                </a:solidFill>
                <a:latin typeface="Calibri"/>
                <a:highlight>
                  <a:srgbClr val="FFE08A"/>
                </a:highlight>
              </a:rPr>
              <a:t>         →  GIS Application in Telecom</a:t>
            </a:r>
          </a:p>
          <a:p>
            <a:r>
              <a:rPr sz="1200" i="1">
                <a:solidFill>
                  <a:srgbClr val="555555"/>
                </a:solidFill>
                <a:latin typeface="Calibri"/>
              </a:rPr>
              <a:t>         Why: Title slide heading</a:t>
            </a:r>
          </a:p>
          <a:p>
            <a:r>
              <a:rPr sz="1200">
                <a:solidFill>
                  <a:srgbClr val="787878"/>
                </a:solidFill>
                <a:latin typeface="Calibri"/>
              </a:rPr>
              <a:t>Slide 1:  Day 1 Presentation</a:t>
            </a:r>
          </a:p>
          <a:p>
            <a:r>
              <a:rPr sz="1300" b="1">
                <a:solidFill>
                  <a:srgbClr val="0E7C7B"/>
                </a:solidFill>
                <a:latin typeface="Calibri"/>
                <a:highlight>
                  <a:srgbClr val="FFE08A"/>
                </a:highlight>
              </a:rPr>
              <a:t>         →  Day 1 — Concepts, Data &amp; Geodatabase Design</a:t>
            </a:r>
          </a:p>
          <a:p>
            <a:r>
              <a:rPr sz="1200" i="1">
                <a:solidFill>
                  <a:srgbClr val="555555"/>
                </a:solidFill>
                <a:latin typeface="Calibri"/>
              </a:rPr>
              <a:t>         Why: Title slide — clearer session name</a:t>
            </a:r>
          </a:p>
          <a:p>
            <a:r>
              <a:rPr sz="1200">
                <a:solidFill>
                  <a:srgbClr val="787878"/>
                </a:solidFill>
                <a:latin typeface="Calibri"/>
              </a:rPr>
              <a:t>Slide 2:  Fiber/MW design</a:t>
            </a:r>
          </a:p>
          <a:p>
            <a:r>
              <a:rPr sz="1300" b="1">
                <a:solidFill>
                  <a:srgbClr val="0E7C7B"/>
                </a:solidFill>
                <a:latin typeface="Calibri"/>
                <a:highlight>
                  <a:srgbClr val="FFE08A"/>
                </a:highlight>
              </a:rPr>
              <a:t>         →  Fiber / microwave design</a:t>
            </a:r>
          </a:p>
          <a:p>
            <a:r>
              <a:rPr sz="1200" i="1">
                <a:solidFill>
                  <a:srgbClr val="555555"/>
                </a:solidFill>
                <a:latin typeface="Calibri"/>
              </a:rPr>
              <a:t>         Why: Spell out MW</a:t>
            </a:r>
          </a:p>
          <a:p>
            <a:r>
              <a:rPr sz="1200">
                <a:solidFill>
                  <a:srgbClr val="787878"/>
                </a:solidFill>
                <a:latin typeface="Calibri"/>
              </a:rPr>
              <a:t>Slide 8:  GIS Applications in Telecommunications</a:t>
            </a:r>
          </a:p>
          <a:p>
            <a:r>
              <a:rPr sz="1300" b="1">
                <a:solidFill>
                  <a:srgbClr val="0E7C7B"/>
                </a:solidFill>
                <a:latin typeface="Calibri"/>
                <a:highlight>
                  <a:srgbClr val="FFE08A"/>
                </a:highlight>
              </a:rPr>
              <a:t>         →  GIS Applications in Telecom</a:t>
            </a:r>
          </a:p>
          <a:p>
            <a:r>
              <a:rPr sz="1200" i="1">
                <a:solidFill>
                  <a:srgbClr val="555555"/>
                </a:solidFill>
                <a:latin typeface="Calibri"/>
              </a:rPr>
              <a:t>         Why: Section title consistency</a:t>
            </a:r>
          </a:p>
          <a:p>
            <a:r>
              <a:rPr sz="1200">
                <a:solidFill>
                  <a:srgbClr val="787878"/>
                </a:solidFill>
                <a:latin typeface="Calibri"/>
              </a:rPr>
              <a:t>Slide 8:  Fiber &amp; MW</a:t>
            </a:r>
          </a:p>
          <a:p>
            <a:r>
              <a:rPr sz="1300" b="1">
                <a:solidFill>
                  <a:srgbClr val="0E7C7B"/>
                </a:solidFill>
                <a:latin typeface="Calibri"/>
                <a:highlight>
                  <a:srgbClr val="FFE08A"/>
                </a:highlight>
              </a:rPr>
              <a:t>         →  Fiber &amp; microwave</a:t>
            </a:r>
          </a:p>
          <a:p>
            <a:r>
              <a:rPr sz="1200" i="1">
                <a:solidFill>
                  <a:srgbClr val="555555"/>
                </a:solidFill>
                <a:latin typeface="Calibri"/>
              </a:rPr>
              <a:t>         Why: Spell out MW</a:t>
            </a:r>
          </a:p>
          <a:p>
            <a:r>
              <a:rPr sz="1200">
                <a:solidFill>
                  <a:srgbClr val="787878"/>
                </a:solidFill>
                <a:latin typeface="Calibri"/>
              </a:rPr>
              <a:t>Slide 11:  Day 4 classic network option: ArcMap Geometric Network / Utility Network Analyst</a:t>
            </a:r>
          </a:p>
          <a:p>
            <a:r>
              <a:rPr sz="1300" b="1">
                <a:solidFill>
                  <a:srgbClr val="0E7C7B"/>
                </a:solidFill>
                <a:latin typeface="Calibri"/>
                <a:highlight>
                  <a:srgbClr val="FFE08A"/>
                </a:highlight>
              </a:rPr>
              <a:t>         →  Day 4 network option: Utility Network in ArcGIS Pro (Geometric Network is ArcMap legacy; read-only in Pro)</a:t>
            </a:r>
          </a:p>
          <a:p>
            <a:r>
              <a:rPr sz="1200" i="1">
                <a:solidFill>
                  <a:srgbClr val="555555"/>
                </a:solidFill>
                <a:latin typeface="Calibri"/>
              </a:rPr>
              <a:t>         Why: ArcMap is retired; Geometric Network is not editable in Pro</a:t>
            </a:r>
          </a:p>
          <a:p>
            <a:r>
              <a:rPr sz="1200">
                <a:solidFill>
                  <a:srgbClr val="787878"/>
                </a:solidFill>
                <a:latin typeface="Calibri"/>
              </a:rPr>
              <a:t>Slide 18:  Day 2–4 spatial analyst workflows</a:t>
            </a:r>
          </a:p>
          <a:p>
            <a:r>
              <a:rPr sz="1300" b="1">
                <a:solidFill>
                  <a:srgbClr val="0E7C7B"/>
                </a:solidFill>
                <a:latin typeface="Calibri"/>
                <a:highlight>
                  <a:srgbClr val="FFE08A"/>
                </a:highlight>
              </a:rPr>
              <a:t>         →  Day 2–4 Spatial Analyst workflows</a:t>
            </a:r>
          </a:p>
          <a:p>
            <a:r>
              <a:rPr sz="1200" i="1">
                <a:solidFill>
                  <a:srgbClr val="555555"/>
                </a:solidFill>
                <a:latin typeface="Calibri"/>
              </a:rPr>
              <a:t>         Why: Product name capitalization</a:t>
            </a:r>
          </a:p>
          <a:p>
            <a:r>
              <a:rPr sz="1200">
                <a:solidFill>
                  <a:srgbClr val="787878"/>
                </a:solidFill>
                <a:latin typeface="Calibri"/>
              </a:rPr>
              <a:t>Slide 22:  STATUS = Active/Planned/OnAir</a:t>
            </a:r>
          </a:p>
          <a:p>
            <a:r>
              <a:rPr sz="1300" b="1">
                <a:solidFill>
                  <a:srgbClr val="0E7C7B"/>
                </a:solidFill>
                <a:latin typeface="Calibri"/>
                <a:highlight>
                  <a:srgbClr val="FFE08A"/>
                </a:highlight>
              </a:rPr>
              <a:t>         →  STATUS = Active / Planned / On Air</a:t>
            </a:r>
          </a:p>
          <a:p>
            <a:r>
              <a:rPr sz="1200" i="1">
                <a:solidFill>
                  <a:srgbClr val="555555"/>
                </a:solidFill>
                <a:latin typeface="Calibri"/>
              </a:rPr>
              <a:t>         Why: Spacing and On Air</a:t>
            </a:r>
          </a:p>
          <a:p>
            <a:r>
              <a:rPr sz="1200">
                <a:solidFill>
                  <a:srgbClr val="787878"/>
                </a:solidFill>
                <a:latin typeface="Calibri"/>
              </a:rPr>
              <a:t>Slide 35:  Fiber &amp; MW</a:t>
            </a:r>
          </a:p>
          <a:p>
            <a:r>
              <a:rPr sz="1300" b="1">
                <a:solidFill>
                  <a:srgbClr val="0E7C7B"/>
                </a:solidFill>
                <a:latin typeface="Calibri"/>
                <a:highlight>
                  <a:srgbClr val="FFE08A"/>
                </a:highlight>
              </a:rPr>
              <a:t>         →  Fiber &amp; microwave</a:t>
            </a:r>
          </a:p>
          <a:p>
            <a:r>
              <a:rPr sz="1200" i="1">
                <a:solidFill>
                  <a:srgbClr val="555555"/>
                </a:solidFill>
                <a:latin typeface="Calibri"/>
              </a:rPr>
              <a:t>         Why: Spell out MW</a:t>
            </a:r>
          </a:p>
          <a:p>
            <a:r>
              <a:rPr sz="1200">
                <a:solidFill>
                  <a:srgbClr val="787878"/>
                </a:solidFill>
                <a:latin typeface="Calibri"/>
              </a:rPr>
              <a:t>Slide 35:  AGOL story</a:t>
            </a:r>
          </a:p>
          <a:p>
            <a:r>
              <a:rPr sz="1300" b="1">
                <a:solidFill>
                  <a:srgbClr val="0E7C7B"/>
                </a:solidFill>
                <a:latin typeface="Calibri"/>
                <a:highlight>
                  <a:srgbClr val="FFE08A"/>
                </a:highlight>
              </a:rPr>
              <a:t>         →  ArcGIS Online story</a:t>
            </a:r>
          </a:p>
          <a:p>
            <a:r>
              <a:rPr sz="1200" i="1">
                <a:solidFill>
                  <a:srgbClr val="555555"/>
                </a:solidFill>
                <a:latin typeface="Calibri"/>
              </a:rPr>
              <a:t>         Why: Spell out AGOL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55555"/>
                </a:solidFill>
                <a:latin typeface="Calibri"/>
              </a:rPr>
              <a:t>Day 1  ·  Instructor corrections log  ·  v3.1  ·  Remove this slide before presenting  ·  37 / 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