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00" r:id="rId2"/>
    <p:sldId id="298" r:id="rId3"/>
    <p:sldId id="299" r:id="rId4"/>
    <p:sldId id="301" r:id="rId5"/>
    <p:sldId id="258" r:id="rId6"/>
    <p:sldId id="259" r:id="rId7"/>
    <p:sldId id="260" r:id="rId8"/>
    <p:sldId id="261" r:id="rId9"/>
    <p:sldId id="262" r:id="rId10"/>
    <p:sldId id="263" r:id="rId11"/>
    <p:sldId id="267" r:id="rId12"/>
    <p:sldId id="264" r:id="rId13"/>
    <p:sldId id="266" r:id="rId14"/>
    <p:sldId id="268" r:id="rId15"/>
    <p:sldId id="265" r:id="rId16"/>
    <p:sldId id="269" r:id="rId17"/>
    <p:sldId id="271" r:id="rId18"/>
    <p:sldId id="270" r:id="rId19"/>
    <p:sldId id="272" r:id="rId20"/>
    <p:sldId id="273" r:id="rId21"/>
    <p:sldId id="274" r:id="rId22"/>
    <p:sldId id="275" r:id="rId23"/>
    <p:sldId id="276" r:id="rId24"/>
    <p:sldId id="277" r:id="rId25"/>
    <p:sldId id="278" r:id="rId26"/>
    <p:sldId id="279" r:id="rId27"/>
    <p:sldId id="280" r:id="rId28"/>
    <p:sldId id="281" r:id="rId29"/>
    <p:sldId id="283" r:id="rId30"/>
    <p:sldId id="282" r:id="rId31"/>
    <p:sldId id="284" r:id="rId32"/>
    <p:sldId id="287" r:id="rId33"/>
    <p:sldId id="286" r:id="rId34"/>
    <p:sldId id="289" r:id="rId35"/>
    <p:sldId id="290" r:id="rId36"/>
    <p:sldId id="291" r:id="rId37"/>
    <p:sldId id="288" r:id="rId38"/>
    <p:sldId id="285" r:id="rId39"/>
    <p:sldId id="297" r:id="rId40"/>
    <p:sldId id="292" r:id="rId41"/>
    <p:sldId id="293" r:id="rId42"/>
    <p:sldId id="294" r:id="rId43"/>
    <p:sldId id="295" r:id="rId44"/>
    <p:sldId id="29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6535FE-1886-4876-91B7-9F4364446D24}"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83F27A-14FF-4A2D-AB82-1C5D77C5FFE2}" type="slidenum">
              <a:rPr lang="en-US" smtClean="0"/>
              <a:t>‹#›</a:t>
            </a:fld>
            <a:endParaRPr lang="en-US"/>
          </a:p>
        </p:txBody>
      </p:sp>
    </p:spTree>
    <p:extLst>
      <p:ext uri="{BB962C8B-B14F-4D97-AF65-F5344CB8AC3E}">
        <p14:creationId xmlns:p14="http://schemas.microsoft.com/office/powerpoint/2010/main" val="964591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5A270A-90A1-45B0-B02E-7B8FB045261D}" type="slidenum">
              <a:rPr lang="en-US" smtClean="0"/>
              <a:t>35</a:t>
            </a:fld>
            <a:endParaRPr lang="en-US"/>
          </a:p>
        </p:txBody>
      </p:sp>
    </p:spTree>
    <p:extLst>
      <p:ext uri="{BB962C8B-B14F-4D97-AF65-F5344CB8AC3E}">
        <p14:creationId xmlns:p14="http://schemas.microsoft.com/office/powerpoint/2010/main" val="330850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6243-DC75-27E7-6FAB-AEDF119180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C34E30-36FC-29A3-A3B8-6A6EF866D0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792618-0AEB-BACC-E6E7-12C97266FAAB}"/>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2B92BA6D-4DE8-1EFF-093B-F54C805AD7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B1A00F-293A-CC33-B230-8B86362B7633}"/>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1740493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7C12-1656-3431-24FE-09E678DC12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DEA0C-FDA9-EDFC-569D-BF0C06963B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06F60-EAE4-2E64-A01B-5B8D6D9C1612}"/>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020D70E5-3324-A739-A284-FADF5F8E73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8B87C-6B45-4493-0EAA-443E160698F7}"/>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286566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203D-F498-D852-01A1-37CDAE5645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598D7F-93BC-C0B4-FEC5-C38B99C1CE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10F046-B83C-D5BF-E4EB-6C9862500499}"/>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D71D44D2-0EB3-DAE8-B3AD-2E9BBCFE66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AB379F-74B3-FE11-3E74-1F6E33AC9E1C}"/>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43193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A989-AE26-6B39-76A8-412C4F6175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BE5F1-C3EF-7519-7BA5-6C6F8CC109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394385-1124-0CE4-77B8-9B22743363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120473-0974-6ADA-E8A6-3C0908156ED8}"/>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6" name="Footer Placeholder 5">
            <a:extLst>
              <a:ext uri="{FF2B5EF4-FFF2-40B4-BE49-F238E27FC236}">
                <a16:creationId xmlns:a16="http://schemas.microsoft.com/office/drawing/2014/main" id="{BCAB0AE7-9C2D-36A0-8DD1-D990317C76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17CDF2-CBAB-C95C-AEB8-9E8C874E8256}"/>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313282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D363-50DD-ADF5-7346-FAF3A7D933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C9D5EC-9FDD-CEDD-ACD3-A21F6EDC5B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595B9-E8B6-784A-E036-E759C2D90D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69D558-8C78-1C23-5446-775579CF22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574C44-C42F-C9C7-D43D-716727E918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87C40B-64DD-2ADB-DD64-B4289616C16B}"/>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8" name="Footer Placeholder 7">
            <a:extLst>
              <a:ext uri="{FF2B5EF4-FFF2-40B4-BE49-F238E27FC236}">
                <a16:creationId xmlns:a16="http://schemas.microsoft.com/office/drawing/2014/main" id="{91E0CD9F-5C08-53F3-E9CC-C6F2533B5F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01DA41-54B5-965B-D86D-4B493D64D0EF}"/>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1737495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5697F-8DBA-1617-4EDE-6D80574568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04DE01-0E77-BDF1-FE90-D09F670B4981}"/>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4" name="Footer Placeholder 3">
            <a:extLst>
              <a:ext uri="{FF2B5EF4-FFF2-40B4-BE49-F238E27FC236}">
                <a16:creationId xmlns:a16="http://schemas.microsoft.com/office/drawing/2014/main" id="{AFD9B860-1505-2F5C-E824-3A68327D18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63CAC4-A7EA-9FD0-3A36-0BB9F1C7412A}"/>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992537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EDB1BC-6777-28AB-62B4-FFF600DA9A0D}"/>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3" name="Footer Placeholder 2">
            <a:extLst>
              <a:ext uri="{FF2B5EF4-FFF2-40B4-BE49-F238E27FC236}">
                <a16:creationId xmlns:a16="http://schemas.microsoft.com/office/drawing/2014/main" id="{AC9E1534-D8B4-8E70-A1E0-B155DE7B22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44C4F7-AFF5-F2A0-DD51-33C8312C0707}"/>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456023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BA317-0B96-2601-AD41-F94C61F738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A87383-89E4-E0C7-137D-307817D58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D12EF8-0416-4646-3BA6-4552543F9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6965C-E727-EC39-31BF-DD109C79D0E3}"/>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6" name="Footer Placeholder 5">
            <a:extLst>
              <a:ext uri="{FF2B5EF4-FFF2-40B4-BE49-F238E27FC236}">
                <a16:creationId xmlns:a16="http://schemas.microsoft.com/office/drawing/2014/main" id="{44643EF0-966E-8A50-1890-2335037D2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ADC7C-726B-C4F3-2F94-68721250C141}"/>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576608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2E81B-3116-C552-F5AB-335ABD0EB9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3D3C2E-6099-A840-D87C-7A47AEA308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98D400-58B4-120A-CA60-64C238E9D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C54CAC-FFA1-8489-641B-BB0110B197F4}"/>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6" name="Footer Placeholder 5">
            <a:extLst>
              <a:ext uri="{FF2B5EF4-FFF2-40B4-BE49-F238E27FC236}">
                <a16:creationId xmlns:a16="http://schemas.microsoft.com/office/drawing/2014/main" id="{E1AF0D2E-E71F-97D0-D9B1-C995179BB8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123275-68FE-990F-A28D-A4C92F443D00}"/>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80063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EEE8-F4D2-6721-3B91-3055B9914F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AA0BC4-8D28-04C5-E349-AABE5470DB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56B87A-37F8-7CB3-4D34-E10E652A7610}"/>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608287FD-4717-DF11-7763-73AB83253E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6C1179-0578-E6C0-05E6-1DF531624322}"/>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4052334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9114DE-1397-2FD5-6ECA-5FADBA968C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E7684D-2219-9980-A718-627D2134B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AC61F-011A-9CE8-2292-5337C8566152}"/>
              </a:ext>
            </a:extLst>
          </p:cNvPr>
          <p:cNvSpPr>
            <a:spLocks noGrp="1"/>
          </p:cNvSpPr>
          <p:nvPr>
            <p:ph type="dt" sz="half" idx="10"/>
          </p:nvPr>
        </p:nvSpPr>
        <p:spPr/>
        <p:txBody>
          <a:body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0EBA5E0F-D1D6-8AD9-98CD-DAE038F92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829DC-17C9-259A-D9A8-D159B95E8B38}"/>
              </a:ext>
            </a:extLst>
          </p:cNvPr>
          <p:cNvSpPr>
            <a:spLocks noGrp="1"/>
          </p:cNvSpPr>
          <p:nvPr>
            <p:ph type="sldNum" sz="quarter" idx="12"/>
          </p:nvPr>
        </p:nvSpPr>
        <p:spPr/>
        <p:txBody>
          <a:bodyPr/>
          <a:lstStyle/>
          <a:p>
            <a:fld id="{F9A09204-5F08-43EC-8C7E-E12E9D7ADCB5}" type="slidenum">
              <a:rPr lang="en-US" smtClean="0"/>
              <a:t>‹#›</a:t>
            </a:fld>
            <a:endParaRPr lang="en-US"/>
          </a:p>
        </p:txBody>
      </p:sp>
    </p:spTree>
    <p:extLst>
      <p:ext uri="{BB962C8B-B14F-4D97-AF65-F5344CB8AC3E}">
        <p14:creationId xmlns:p14="http://schemas.microsoft.com/office/powerpoint/2010/main" val="3761685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925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E2998C-AEA6-2701-A407-4666998B5A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0B08BA-D584-776A-2731-4D0B6F812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0811CE-19B4-60E8-2EBE-D4CC3BCEE8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FFDCE7-951C-4C70-AED8-C0640992E5E9}" type="datetimeFigureOut">
              <a:rPr lang="en-US" smtClean="0"/>
              <a:t>8/15/2026</a:t>
            </a:fld>
            <a:endParaRPr lang="en-US"/>
          </a:p>
        </p:txBody>
      </p:sp>
      <p:sp>
        <p:nvSpPr>
          <p:cNvPr id="5" name="Footer Placeholder 4">
            <a:extLst>
              <a:ext uri="{FF2B5EF4-FFF2-40B4-BE49-F238E27FC236}">
                <a16:creationId xmlns:a16="http://schemas.microsoft.com/office/drawing/2014/main" id="{B7EC72BA-861D-6E42-B255-758BED0C1D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2EF59B-98E5-34BC-AB9F-97D01FD385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A09204-5F08-43EC-8C7E-E12E9D7ADCB5}" type="slidenum">
              <a:rPr lang="en-US" smtClean="0"/>
              <a:t>‹#›</a:t>
            </a:fld>
            <a:endParaRPr lang="en-US"/>
          </a:p>
        </p:txBody>
      </p:sp>
    </p:spTree>
    <p:extLst>
      <p:ext uri="{BB962C8B-B14F-4D97-AF65-F5344CB8AC3E}">
        <p14:creationId xmlns:p14="http://schemas.microsoft.com/office/powerpoint/2010/main" val="2976574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Rectangle 9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52E8D228-DC40-42B5-5470-21D6C236E647}"/>
              </a:ext>
            </a:extLst>
          </p:cNvPr>
          <p:cNvPicPr>
            <a:picLocks noChangeAspect="1"/>
          </p:cNvPicPr>
          <p:nvPr/>
        </p:nvPicPr>
        <p:blipFill>
          <a:blip r:embed="rId2"/>
          <a:srcRect t="5758" b="9988"/>
          <a:stretch>
            <a:fillRect/>
          </a:stretch>
        </p:blipFill>
        <p:spPr>
          <a:xfrm>
            <a:off x="20" y="1282"/>
            <a:ext cx="12191980" cy="6856718"/>
          </a:xfrm>
          <a:prstGeom prst="rect">
            <a:avLst/>
          </a:prstGeom>
        </p:spPr>
      </p:pic>
    </p:spTree>
    <p:extLst>
      <p:ext uri="{BB962C8B-B14F-4D97-AF65-F5344CB8AC3E}">
        <p14:creationId xmlns:p14="http://schemas.microsoft.com/office/powerpoint/2010/main" val="940025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0EF1E-1249-C1A3-8D27-382FAEF2B43D}"/>
              </a:ext>
            </a:extLst>
          </p:cNvPr>
          <p:cNvSpPr>
            <a:spLocks noGrp="1"/>
          </p:cNvSpPr>
          <p:nvPr>
            <p:ph type="title"/>
          </p:nvPr>
        </p:nvSpPr>
        <p:spPr>
          <a:xfrm>
            <a:off x="1077685" y="1410153"/>
            <a:ext cx="9753599" cy="1333046"/>
          </a:xfrm>
        </p:spPr>
        <p:txBody>
          <a:bodyPr/>
          <a:lstStyle/>
          <a:p>
            <a:r>
              <a:rPr lang="en-US" b="1" dirty="0"/>
              <a:t>GIS Applications in Telecommunications</a:t>
            </a:r>
            <a:br>
              <a:rPr lang="en-US" dirty="0"/>
            </a:br>
            <a:endParaRPr lang="en-US" dirty="0"/>
          </a:p>
        </p:txBody>
      </p:sp>
      <p:sp>
        <p:nvSpPr>
          <p:cNvPr id="4" name="TextBox 3">
            <a:extLst>
              <a:ext uri="{FF2B5EF4-FFF2-40B4-BE49-F238E27FC236}">
                <a16:creationId xmlns:a16="http://schemas.microsoft.com/office/drawing/2014/main" id="{08E70717-5402-0B7A-FC6E-8D112A80EE7D}"/>
              </a:ext>
            </a:extLst>
          </p:cNvPr>
          <p:cNvSpPr txBox="1"/>
          <p:nvPr/>
        </p:nvSpPr>
        <p:spPr>
          <a:xfrm>
            <a:off x="2743200" y="2371597"/>
            <a:ext cx="6096000" cy="523220"/>
          </a:xfrm>
          <a:prstGeom prst="rect">
            <a:avLst/>
          </a:prstGeom>
          <a:noFill/>
        </p:spPr>
        <p:txBody>
          <a:bodyPr wrap="square">
            <a:spAutoFit/>
          </a:bodyPr>
          <a:lstStyle/>
          <a:p>
            <a:pPr marL="0" marR="0" algn="ctr">
              <a:spcBef>
                <a:spcPts val="3000"/>
              </a:spcBef>
              <a:spcAft>
                <a:spcPts val="300"/>
              </a:spcAft>
              <a:buNone/>
            </a:pPr>
            <a:r>
              <a:rPr lang="en-US" sz="2800" b="1" dirty="0">
                <a:solidFill>
                  <a:srgbClr val="2E5C8A"/>
                </a:solidFill>
                <a:effectLst/>
                <a:latin typeface="Calibri" panose="020F0502020204030204" pitchFamily="34" charset="0"/>
                <a:ea typeface="Calibri" panose="020F0502020204030204" pitchFamily="34" charset="0"/>
              </a:rPr>
              <a:t>A 5-Day Intensive Training Program</a:t>
            </a:r>
            <a:endParaRPr lang="en-US" sz="2800" dirty="0">
              <a:effectLst/>
              <a:latin typeface="Calibri" panose="020F0502020204030204" pitchFamily="34" charset="0"/>
              <a:ea typeface="Calibri" panose="020F0502020204030204" pitchFamily="34" charset="0"/>
            </a:endParaRPr>
          </a:p>
        </p:txBody>
      </p:sp>
      <p:sp>
        <p:nvSpPr>
          <p:cNvPr id="9" name="TextBox 8">
            <a:extLst>
              <a:ext uri="{FF2B5EF4-FFF2-40B4-BE49-F238E27FC236}">
                <a16:creationId xmlns:a16="http://schemas.microsoft.com/office/drawing/2014/main" id="{99EC697E-77DC-8FC3-A720-F10AA8B3ABB8}"/>
              </a:ext>
            </a:extLst>
          </p:cNvPr>
          <p:cNvSpPr txBox="1"/>
          <p:nvPr/>
        </p:nvSpPr>
        <p:spPr>
          <a:xfrm>
            <a:off x="1627414" y="3856261"/>
            <a:ext cx="7805057" cy="2085186"/>
          </a:xfrm>
          <a:prstGeom prst="rect">
            <a:avLst/>
          </a:prstGeom>
          <a:noFill/>
        </p:spPr>
        <p:txBody>
          <a:bodyPr wrap="square" rtlCol="0">
            <a:spAutoFit/>
          </a:bodyPr>
          <a:lstStyle/>
          <a:p>
            <a:pPr algn="ctr">
              <a:spcBef>
                <a:spcPts val="3000"/>
              </a:spcBef>
              <a:spcAft>
                <a:spcPts val="300"/>
              </a:spcAft>
            </a:pPr>
            <a:r>
              <a:rPr lang="en-US" b="1" dirty="0">
                <a:solidFill>
                  <a:srgbClr val="2E5C8A"/>
                </a:solidFill>
                <a:latin typeface="Calibri" panose="020F0502020204030204" pitchFamily="34" charset="0"/>
                <a:ea typeface="Calibri" panose="020F0502020204030204" pitchFamily="34" charset="0"/>
              </a:rPr>
              <a:t>Duration: 5 Days (9:00 AM – 3:00 PM)</a:t>
            </a:r>
          </a:p>
          <a:p>
            <a:pPr algn="ctr">
              <a:spcBef>
                <a:spcPts val="3000"/>
              </a:spcBef>
              <a:spcAft>
                <a:spcPts val="300"/>
              </a:spcAft>
            </a:pPr>
            <a:r>
              <a:rPr lang="en-US" b="1" dirty="0">
                <a:solidFill>
                  <a:srgbClr val="2E5C8A"/>
                </a:solidFill>
                <a:latin typeface="Calibri" panose="020F0502020204030204" pitchFamily="34" charset="0"/>
                <a:ea typeface="Calibri" panose="020F0502020204030204" pitchFamily="34" charset="0"/>
              </a:rPr>
              <a:t>Format: Instructor-led · Theory + Hands-on Labs</a:t>
            </a:r>
          </a:p>
          <a:p>
            <a:pPr algn="ctr">
              <a:spcBef>
                <a:spcPts val="3000"/>
              </a:spcBef>
              <a:spcAft>
                <a:spcPts val="300"/>
              </a:spcAft>
            </a:pPr>
            <a:r>
              <a:rPr lang="en-US" b="1" dirty="0">
                <a:solidFill>
                  <a:srgbClr val="2E5C8A"/>
                </a:solidFill>
                <a:latin typeface="Calibri" panose="020F0502020204030204" pitchFamily="34" charset="0"/>
                <a:ea typeface="Calibri" panose="020F0502020204030204" pitchFamily="34" charset="0"/>
              </a:rPr>
              <a:t>GIS Platform: ArcGIS Pro / ArcMap</a:t>
            </a:r>
          </a:p>
          <a:p>
            <a:endParaRPr lang="en-US" dirty="0"/>
          </a:p>
        </p:txBody>
      </p:sp>
      <p:sp>
        <p:nvSpPr>
          <p:cNvPr id="10" name="TextBox 9">
            <a:extLst>
              <a:ext uri="{FF2B5EF4-FFF2-40B4-BE49-F238E27FC236}">
                <a16:creationId xmlns:a16="http://schemas.microsoft.com/office/drawing/2014/main" id="{48C0DCD3-8FF9-6737-6838-EFF7D341FE88}"/>
              </a:ext>
            </a:extLst>
          </p:cNvPr>
          <p:cNvSpPr txBox="1"/>
          <p:nvPr/>
        </p:nvSpPr>
        <p:spPr>
          <a:xfrm>
            <a:off x="4572000" y="6183087"/>
            <a:ext cx="2438400" cy="369332"/>
          </a:xfrm>
          <a:prstGeom prst="rect">
            <a:avLst/>
          </a:prstGeom>
          <a:noFill/>
        </p:spPr>
        <p:txBody>
          <a:bodyPr wrap="square" rtlCol="0">
            <a:spAutoFit/>
          </a:bodyPr>
          <a:lstStyle/>
          <a:p>
            <a:r>
              <a:rPr lang="en-US" b="1" dirty="0">
                <a:solidFill>
                  <a:srgbClr val="2E5C8A"/>
                </a:solidFill>
                <a:latin typeface="Calibri" panose="020F0502020204030204" pitchFamily="34" charset="0"/>
                <a:ea typeface="Calibri" panose="020F0502020204030204" pitchFamily="34" charset="0"/>
              </a:rPr>
              <a:t>August</a:t>
            </a:r>
            <a:r>
              <a:rPr lang="en-US" dirty="0"/>
              <a:t> </a:t>
            </a:r>
            <a:r>
              <a:rPr lang="en-US" b="1" dirty="0">
                <a:solidFill>
                  <a:srgbClr val="2E5C8A"/>
                </a:solidFill>
                <a:latin typeface="Calibri" panose="020F0502020204030204" pitchFamily="34" charset="0"/>
                <a:ea typeface="Calibri" panose="020F0502020204030204" pitchFamily="34" charset="0"/>
              </a:rPr>
              <a:t>2026</a:t>
            </a:r>
          </a:p>
        </p:txBody>
      </p:sp>
    </p:spTree>
    <p:extLst>
      <p:ext uri="{BB962C8B-B14F-4D97-AF65-F5344CB8AC3E}">
        <p14:creationId xmlns:p14="http://schemas.microsoft.com/office/powerpoint/2010/main" val="1786831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2F463-2200-A735-5492-C780764F25ED}"/>
              </a:ext>
            </a:extLst>
          </p:cNvPr>
          <p:cNvSpPr>
            <a:spLocks noGrp="1"/>
          </p:cNvSpPr>
          <p:nvPr>
            <p:ph type="title"/>
          </p:nvPr>
        </p:nvSpPr>
        <p:spPr/>
        <p:txBody>
          <a:bodyPr/>
          <a:lstStyle/>
          <a:p>
            <a:r>
              <a:rPr lang="en-US" dirty="0"/>
              <a:t>Overall Agenda of Five Days </a:t>
            </a:r>
            <a:r>
              <a:rPr lang="en-US" dirty="0" err="1"/>
              <a:t>Trainig</a:t>
            </a:r>
            <a:endParaRPr lang="en-US" dirty="0"/>
          </a:p>
        </p:txBody>
      </p:sp>
      <p:graphicFrame>
        <p:nvGraphicFramePr>
          <p:cNvPr id="4" name="Content Placeholder 3">
            <a:extLst>
              <a:ext uri="{FF2B5EF4-FFF2-40B4-BE49-F238E27FC236}">
                <a16:creationId xmlns:a16="http://schemas.microsoft.com/office/drawing/2014/main" id="{BE74545D-6656-A562-A854-42BBAA642E26}"/>
              </a:ext>
            </a:extLst>
          </p:cNvPr>
          <p:cNvGraphicFramePr>
            <a:graphicFrameLocks noGrp="1"/>
          </p:cNvGraphicFramePr>
          <p:nvPr>
            <p:ph idx="1"/>
            <p:extLst>
              <p:ext uri="{D42A27DB-BD31-4B8C-83A1-F6EECF244321}">
                <p14:modId xmlns:p14="http://schemas.microsoft.com/office/powerpoint/2010/main" val="1574210498"/>
              </p:ext>
            </p:extLst>
          </p:nvPr>
        </p:nvGraphicFramePr>
        <p:xfrm>
          <a:off x="1371600" y="2079173"/>
          <a:ext cx="8969829" cy="4113794"/>
        </p:xfrm>
        <a:graphic>
          <a:graphicData uri="http://schemas.openxmlformats.org/drawingml/2006/table">
            <a:tbl>
              <a:tblPr>
                <a:tableStyleId>{5C22544A-7EE6-4342-B048-85BDC9FD1C3A}</a:tableStyleId>
              </a:tblPr>
              <a:tblGrid>
                <a:gridCol w="2085078">
                  <a:extLst>
                    <a:ext uri="{9D8B030D-6E8A-4147-A177-3AD203B41FA5}">
                      <a16:colId xmlns:a16="http://schemas.microsoft.com/office/drawing/2014/main" val="1891456188"/>
                    </a:ext>
                  </a:extLst>
                </a:gridCol>
                <a:gridCol w="6884751">
                  <a:extLst>
                    <a:ext uri="{9D8B030D-6E8A-4147-A177-3AD203B41FA5}">
                      <a16:colId xmlns:a16="http://schemas.microsoft.com/office/drawing/2014/main" val="2621550405"/>
                    </a:ext>
                  </a:extLst>
                </a:gridCol>
              </a:tblGrid>
              <a:tr h="1082037">
                <a:tc>
                  <a:txBody>
                    <a:bodyPr/>
                    <a:lstStyle/>
                    <a:p>
                      <a:pPr marL="0" marR="0">
                        <a:lnSpc>
                          <a:spcPct val="104000"/>
                        </a:lnSpc>
                        <a:buNone/>
                      </a:pPr>
                      <a:r>
                        <a:rPr lang="en-US" sz="3000" b="1" dirty="0">
                          <a:effectLst/>
                        </a:rPr>
                        <a:t>Day 1</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2100" dirty="0">
                          <a:effectLst/>
                        </a:rPr>
                        <a:t>Introduction to GIS — Concepts, Components &amp; Data Fundamentals. Geodatabase Design — Feature Classes, Feature Datasets &amp; Relationship Classes</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4224744267"/>
                  </a:ext>
                </a:extLst>
              </a:tr>
              <a:tr h="655779">
                <a:tc>
                  <a:txBody>
                    <a:bodyPr/>
                    <a:lstStyle/>
                    <a:p>
                      <a:pPr marL="0" marR="0">
                        <a:lnSpc>
                          <a:spcPct val="104000"/>
                        </a:lnSpc>
                        <a:buNone/>
                      </a:pPr>
                      <a:r>
                        <a:rPr lang="en-US" sz="3000" b="1" dirty="0">
                          <a:effectLst/>
                        </a:rPr>
                        <a:t>Day 2</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2100" dirty="0">
                          <a:effectLst/>
                        </a:rPr>
                        <a:t>Coverage Analysis, RF Planning &amp; Network Expansion.</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1668989245"/>
                  </a:ext>
                </a:extLst>
              </a:tr>
              <a:tr h="655779">
                <a:tc>
                  <a:txBody>
                    <a:bodyPr/>
                    <a:lstStyle/>
                    <a:p>
                      <a:pPr marL="0" marR="0">
                        <a:lnSpc>
                          <a:spcPct val="104000"/>
                        </a:lnSpc>
                        <a:buNone/>
                      </a:pPr>
                      <a:r>
                        <a:rPr lang="en-US" sz="3000" b="1" dirty="0">
                          <a:effectLst/>
                        </a:rPr>
                        <a:t>Day 3</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2100" dirty="0">
                          <a:effectLst/>
                        </a:rPr>
                        <a:t>Geo-Marketing &amp; Customer Analytics</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1446302602"/>
                  </a:ext>
                </a:extLst>
              </a:tr>
              <a:tr h="655779">
                <a:tc>
                  <a:txBody>
                    <a:bodyPr/>
                    <a:lstStyle/>
                    <a:p>
                      <a:pPr marL="0" marR="0">
                        <a:lnSpc>
                          <a:spcPct val="104000"/>
                        </a:lnSpc>
                        <a:buNone/>
                      </a:pPr>
                      <a:r>
                        <a:rPr lang="en-US" sz="3000" b="1" dirty="0">
                          <a:effectLst/>
                        </a:rPr>
                        <a:t>Day 4</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2100" dirty="0">
                          <a:effectLst/>
                        </a:rPr>
                        <a:t>Fiber, Transmission &amp; Microwave Link Planning</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739121682"/>
                  </a:ext>
                </a:extLst>
              </a:tr>
              <a:tr h="1043652">
                <a:tc>
                  <a:txBody>
                    <a:bodyPr/>
                    <a:lstStyle/>
                    <a:p>
                      <a:pPr marL="0" marR="0">
                        <a:lnSpc>
                          <a:spcPct val="104000"/>
                        </a:lnSpc>
                        <a:buNone/>
                      </a:pPr>
                      <a:r>
                        <a:rPr lang="en-US" sz="3000" b="1" dirty="0">
                          <a:effectLst/>
                        </a:rPr>
                        <a:t>Day 5</a:t>
                      </a:r>
                      <a:endParaRPr lang="en-US" sz="3000" b="1" dirty="0">
                        <a:effectLst/>
                        <a:latin typeface="Calibri" panose="020F0502020204030204" pitchFamily="34" charset="0"/>
                        <a:ea typeface="Calibri" panose="020F0502020204030204" pitchFamily="34" charset="0"/>
                      </a:endParaRPr>
                    </a:p>
                  </a:txBody>
                  <a:tcPr marL="69850" marR="69850" marT="57150" marB="57150" anchor="ctr">
                    <a:noFill/>
                  </a:tcPr>
                </a:tc>
                <a:tc>
                  <a:txBody>
                    <a:bodyPr/>
                    <a:lstStyle/>
                    <a:p>
                      <a:pPr marL="0" marR="0">
                        <a:lnSpc>
                          <a:spcPct val="104000"/>
                        </a:lnSpc>
                        <a:buNone/>
                      </a:pPr>
                      <a:r>
                        <a:rPr lang="en-US" sz="2100" dirty="0">
                          <a:effectLst/>
                        </a:rPr>
                        <a:t>Network Visualization, Reporting &amp; Capstone Case Study. Using ArcGIS Online platform with available tools.</a:t>
                      </a:r>
                      <a:endParaRPr lang="en-US" sz="2100" dirty="0">
                        <a:effectLst/>
                        <a:latin typeface="Calibri" panose="020F0502020204030204" pitchFamily="34" charset="0"/>
                        <a:ea typeface="Calibri" panose="020F0502020204030204" pitchFamily="34" charset="0"/>
                      </a:endParaRPr>
                    </a:p>
                  </a:txBody>
                  <a:tcPr marL="69850" marR="69850" marT="57150" marB="57150" anchor="ctr">
                    <a:noFill/>
                  </a:tcPr>
                </a:tc>
                <a:extLst>
                  <a:ext uri="{0D108BD9-81ED-4DB2-BD59-A6C34878D82A}">
                    <a16:rowId xmlns:a16="http://schemas.microsoft.com/office/drawing/2014/main" val="213084729"/>
                  </a:ext>
                </a:extLst>
              </a:tr>
            </a:tbl>
          </a:graphicData>
        </a:graphic>
      </p:graphicFrame>
    </p:spTree>
    <p:extLst>
      <p:ext uri="{BB962C8B-B14F-4D97-AF65-F5344CB8AC3E}">
        <p14:creationId xmlns:p14="http://schemas.microsoft.com/office/powerpoint/2010/main" val="844297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306EA-64F5-8B3E-EFFB-D0407D4AF991}"/>
              </a:ext>
            </a:extLst>
          </p:cNvPr>
          <p:cNvSpPr>
            <a:spLocks noGrp="1"/>
          </p:cNvSpPr>
          <p:nvPr>
            <p:ph type="title"/>
          </p:nvPr>
        </p:nvSpPr>
        <p:spPr/>
        <p:txBody>
          <a:bodyPr/>
          <a:lstStyle/>
          <a:p>
            <a:r>
              <a:rPr lang="en-US" dirty="0"/>
              <a:t>Day 1</a:t>
            </a:r>
          </a:p>
        </p:txBody>
      </p:sp>
      <p:sp>
        <p:nvSpPr>
          <p:cNvPr id="3" name="Content Placeholder 2">
            <a:extLst>
              <a:ext uri="{FF2B5EF4-FFF2-40B4-BE49-F238E27FC236}">
                <a16:creationId xmlns:a16="http://schemas.microsoft.com/office/drawing/2014/main" id="{A8CF9B37-EC22-A04D-4F74-72F801933293}"/>
              </a:ext>
            </a:extLst>
          </p:cNvPr>
          <p:cNvSpPr>
            <a:spLocks noGrp="1"/>
          </p:cNvSpPr>
          <p:nvPr>
            <p:ph idx="1"/>
          </p:nvPr>
        </p:nvSpPr>
        <p:spPr>
          <a:xfrm>
            <a:off x="838200" y="2506662"/>
            <a:ext cx="10515600" cy="4351338"/>
          </a:xfrm>
        </p:spPr>
        <p:txBody>
          <a:bodyPr/>
          <a:lstStyle/>
          <a:p>
            <a:r>
              <a:rPr lang="en-US" dirty="0"/>
              <a:t>Introduction to GIS, Concepts, Components &amp; Data Fundamentals. Geodatabase Design Feature Classes, Feature Datasets &amp; Relationship Classes, spatial overlays and analysis.</a:t>
            </a:r>
          </a:p>
          <a:p>
            <a:endParaRPr lang="en-US" dirty="0"/>
          </a:p>
        </p:txBody>
      </p:sp>
    </p:spTree>
    <p:extLst>
      <p:ext uri="{BB962C8B-B14F-4D97-AF65-F5344CB8AC3E}">
        <p14:creationId xmlns:p14="http://schemas.microsoft.com/office/powerpoint/2010/main" val="3112941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B24C28-4FA8-5957-E7E2-AB3F8904B808}"/>
              </a:ext>
            </a:extLst>
          </p:cNvPr>
          <p:cNvSpPr>
            <a:spLocks noGrp="1"/>
          </p:cNvSpPr>
          <p:nvPr>
            <p:ph type="title"/>
          </p:nvPr>
        </p:nvSpPr>
        <p:spPr>
          <a:xfrm>
            <a:off x="793662" y="386930"/>
            <a:ext cx="10066122" cy="1298448"/>
          </a:xfrm>
        </p:spPr>
        <p:txBody>
          <a:bodyPr anchor="b">
            <a:normAutofit/>
          </a:bodyPr>
          <a:lstStyle/>
          <a:p>
            <a:r>
              <a:rPr lang="en-US" sz="4800" dirty="0"/>
              <a:t>What is GIS</a:t>
            </a:r>
          </a:p>
        </p:txBody>
      </p:sp>
      <p:sp>
        <p:nvSpPr>
          <p:cNvPr id="31" name="Rectangle 3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3F626F9-E6D7-C296-3475-DAA1A4D0B15E}"/>
              </a:ext>
            </a:extLst>
          </p:cNvPr>
          <p:cNvSpPr>
            <a:spLocks noGrp="1"/>
          </p:cNvSpPr>
          <p:nvPr>
            <p:ph idx="1"/>
          </p:nvPr>
        </p:nvSpPr>
        <p:spPr>
          <a:xfrm>
            <a:off x="737407" y="2144835"/>
            <a:ext cx="5781310" cy="3425900"/>
          </a:xfrm>
        </p:spPr>
        <p:txBody>
          <a:bodyPr anchor="ctr">
            <a:normAutofit/>
          </a:bodyPr>
          <a:lstStyle/>
          <a:p>
            <a:pPr marL="0" indent="0">
              <a:buNone/>
            </a:pPr>
            <a:r>
              <a:rPr lang="en-US" sz="2000" dirty="0"/>
              <a:t>A Geographic Information Systems (GIS) is a system designed to capture, store, manipulate, analyze, manage, and present all types of geographically referenced data. Although the term GIS is commonly used to describe software packages, a true GIS includes knowledgeable staff, hardware, data, and software. </a:t>
            </a:r>
          </a:p>
          <a:p>
            <a:pPr marL="0" indent="0">
              <a:buNone/>
            </a:pPr>
            <a:endParaRPr lang="en-US" sz="2000" dirty="0"/>
          </a:p>
        </p:txBody>
      </p:sp>
      <p:sp>
        <p:nvSpPr>
          <p:cNvPr id="35" name="Rectangle 3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07986BF-78E9-0762-C1E2-14634E68322C}"/>
              </a:ext>
            </a:extLst>
          </p:cNvPr>
          <p:cNvSpPr txBox="1"/>
          <p:nvPr/>
        </p:nvSpPr>
        <p:spPr>
          <a:xfrm>
            <a:off x="737407" y="4779389"/>
            <a:ext cx="6166756" cy="1479123"/>
          </a:xfrm>
          <a:prstGeom prst="rect">
            <a:avLst/>
          </a:prstGeom>
          <a:noFill/>
        </p:spPr>
        <p:txBody>
          <a:bodyPr wrap="square">
            <a:spAutoFit/>
          </a:bodyPr>
          <a:lstStyle/>
          <a:p>
            <a:pPr>
              <a:lnSpc>
                <a:spcPct val="90000"/>
              </a:lnSpc>
              <a:spcBef>
                <a:spcPts val="1000"/>
              </a:spcBef>
            </a:pPr>
            <a:r>
              <a:rPr lang="en-US" sz="2000" dirty="0"/>
              <a:t>A GIS integrates hardware, software, and data to help people understand patterns, relationships, and trends in geographic information. It answers questions like "where," "what's nearby," "how has this changed over time," and "what patterns exist across space."</a:t>
            </a:r>
          </a:p>
        </p:txBody>
      </p:sp>
      <p:pic>
        <p:nvPicPr>
          <p:cNvPr id="27" name="Picture 26" descr="Information Systems Infographic">
            <a:extLst>
              <a:ext uri="{FF2B5EF4-FFF2-40B4-BE49-F238E27FC236}">
                <a16:creationId xmlns:a16="http://schemas.microsoft.com/office/drawing/2014/main" id="{2B54E864-3EC0-AEDC-5904-EF78CAD479D4}"/>
              </a:ext>
            </a:extLst>
          </p:cNvPr>
          <p:cNvPicPr>
            <a:picLocks noChangeAspect="1"/>
          </p:cNvPicPr>
          <p:nvPr/>
        </p:nvPicPr>
        <p:blipFill>
          <a:blip r:embed="rId2"/>
          <a:stretch>
            <a:fillRect/>
          </a:stretch>
        </p:blipFill>
        <p:spPr>
          <a:xfrm>
            <a:off x="6808646" y="2838788"/>
            <a:ext cx="4542877" cy="2610808"/>
          </a:xfrm>
          <a:prstGeom prst="rect">
            <a:avLst/>
          </a:prstGeom>
        </p:spPr>
      </p:pic>
    </p:spTree>
    <p:extLst>
      <p:ext uri="{BB962C8B-B14F-4D97-AF65-F5344CB8AC3E}">
        <p14:creationId xmlns:p14="http://schemas.microsoft.com/office/powerpoint/2010/main" val="4241447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C4EBF0-A3E6-E1C4-8B05-A50B62F700EC}"/>
              </a:ext>
            </a:extLst>
          </p:cNvPr>
          <p:cNvSpPr>
            <a:spLocks noGrp="1"/>
          </p:cNvSpPr>
          <p:nvPr>
            <p:ph idx="1"/>
          </p:nvPr>
        </p:nvSpPr>
        <p:spPr>
          <a:xfrm>
            <a:off x="793660" y="2599509"/>
            <a:ext cx="10143668" cy="3435531"/>
          </a:xfrm>
        </p:spPr>
        <p:txBody>
          <a:bodyPr anchor="ctr">
            <a:normAutofit/>
          </a:bodyPr>
          <a:lstStyle/>
          <a:p>
            <a:pPr lvl="0"/>
            <a:r>
              <a:rPr lang="en-US" sz="2400" b="1"/>
              <a:t>Geographic</a:t>
            </a:r>
            <a:r>
              <a:rPr lang="en-US" sz="2400"/>
              <a:t> - The key word is geography which means that the data and information are associated with some location in space or referenced to the locations on the earth.</a:t>
            </a:r>
          </a:p>
          <a:p>
            <a:pPr lvl="0"/>
            <a:r>
              <a:rPr lang="en-US" sz="2400" b="1"/>
              <a:t>Information </a:t>
            </a:r>
            <a:r>
              <a:rPr lang="en-US" sz="2400"/>
              <a:t>- tabular, attributes, or the characteristics (data), can be used to symbolize and provide further insight into a given location.</a:t>
            </a:r>
          </a:p>
          <a:p>
            <a:pPr lvl="0"/>
            <a:r>
              <a:rPr lang="en-US" sz="2400" b="1"/>
              <a:t>Systems</a:t>
            </a:r>
            <a:r>
              <a:rPr lang="en-US" sz="2400"/>
              <a:t> - a seamless operation linking the information to the geography - which requires hardware, networks, software, data, and operational procedures</a:t>
            </a:r>
          </a:p>
          <a:p>
            <a:endParaRPr lang="en-US" sz="2400"/>
          </a:p>
        </p:txBody>
      </p:sp>
      <p:sp>
        <p:nvSpPr>
          <p:cNvPr id="6" name="Title 1">
            <a:extLst>
              <a:ext uri="{FF2B5EF4-FFF2-40B4-BE49-F238E27FC236}">
                <a16:creationId xmlns:a16="http://schemas.microsoft.com/office/drawing/2014/main" id="{2179CF5E-D62A-51C6-05B1-5B546BBF76EE}"/>
              </a:ext>
            </a:extLst>
          </p:cNvPr>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GIS Key Words</a:t>
            </a:r>
          </a:p>
        </p:txBody>
      </p:sp>
    </p:spTree>
    <p:extLst>
      <p:ext uri="{BB962C8B-B14F-4D97-AF65-F5344CB8AC3E}">
        <p14:creationId xmlns:p14="http://schemas.microsoft.com/office/powerpoint/2010/main" val="1152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87BE253-8619-D064-8AD0-18966A573C7D}"/>
              </a:ext>
            </a:extLst>
          </p:cNvPr>
          <p:cNvSpPr>
            <a:spLocks noGrp="1"/>
          </p:cNvSpPr>
          <p:nvPr>
            <p:ph idx="1"/>
          </p:nvPr>
        </p:nvSpPr>
        <p:spPr>
          <a:xfrm>
            <a:off x="699054" y="3302091"/>
            <a:ext cx="10443760" cy="3435531"/>
          </a:xfrm>
        </p:spPr>
        <p:txBody>
          <a:bodyPr anchor="ctr">
            <a:normAutofit/>
          </a:bodyPr>
          <a:lstStyle/>
          <a:p>
            <a:r>
              <a:rPr lang="en-US" sz="2400" b="1" dirty="0"/>
              <a:t>Data acquisition </a:t>
            </a:r>
            <a:r>
              <a:rPr lang="en-US" sz="2400" dirty="0"/>
              <a:t> – collecting geographic data via GPS, satellite imagery, surveys</a:t>
            </a:r>
          </a:p>
          <a:p>
            <a:r>
              <a:rPr lang="en-US" sz="2400" b="1" dirty="0"/>
              <a:t>Storage</a:t>
            </a:r>
            <a:r>
              <a:rPr lang="en-US" sz="2400" dirty="0"/>
              <a:t> – organizing spatial and attribute data in databases</a:t>
            </a:r>
          </a:p>
          <a:p>
            <a:r>
              <a:rPr lang="en-US" sz="2400" b="1" dirty="0"/>
              <a:t>Analysis</a:t>
            </a:r>
            <a:r>
              <a:rPr lang="en-US" sz="2400" dirty="0"/>
              <a:t> – spatial analysis such as proximity, overlay, network analysis</a:t>
            </a:r>
          </a:p>
          <a:p>
            <a:r>
              <a:rPr lang="en-US" sz="2400" b="1" dirty="0"/>
              <a:t>Visualization</a:t>
            </a:r>
            <a:r>
              <a:rPr lang="en-US" sz="2400" dirty="0"/>
              <a:t> – producing maps, 3D models, and dashboards</a:t>
            </a:r>
          </a:p>
          <a:p>
            <a:r>
              <a:rPr lang="en-US" sz="2400" b="1" dirty="0"/>
              <a:t>Data management</a:t>
            </a:r>
            <a:r>
              <a:rPr lang="en-US" sz="2400" dirty="0"/>
              <a:t> – integrating and updating datasets over time</a:t>
            </a:r>
          </a:p>
          <a:p>
            <a:endParaRPr lang="en-US" sz="2400" dirty="0"/>
          </a:p>
        </p:txBody>
      </p:sp>
      <p:sp>
        <p:nvSpPr>
          <p:cNvPr id="4" name="Title 1">
            <a:extLst>
              <a:ext uri="{FF2B5EF4-FFF2-40B4-BE49-F238E27FC236}">
                <a16:creationId xmlns:a16="http://schemas.microsoft.com/office/drawing/2014/main" id="{F4F3CEAA-5944-8D59-DC38-1F9B7E30E7D8}"/>
              </a:ext>
            </a:extLst>
          </p:cNvPr>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GIS Functions</a:t>
            </a:r>
          </a:p>
        </p:txBody>
      </p:sp>
      <p:sp>
        <p:nvSpPr>
          <p:cNvPr id="9" name="TextBox 8">
            <a:extLst>
              <a:ext uri="{FF2B5EF4-FFF2-40B4-BE49-F238E27FC236}">
                <a16:creationId xmlns:a16="http://schemas.microsoft.com/office/drawing/2014/main" id="{3BA6CA8A-28A8-F1E3-83AE-868510CA6D09}"/>
              </a:ext>
            </a:extLst>
          </p:cNvPr>
          <p:cNvSpPr txBox="1"/>
          <p:nvPr/>
        </p:nvSpPr>
        <p:spPr>
          <a:xfrm>
            <a:off x="699054" y="2270238"/>
            <a:ext cx="10255338" cy="1200329"/>
          </a:xfrm>
          <a:prstGeom prst="rect">
            <a:avLst/>
          </a:prstGeom>
          <a:noFill/>
        </p:spPr>
        <p:txBody>
          <a:bodyPr wrap="square">
            <a:spAutoFit/>
          </a:bodyPr>
          <a:lstStyle/>
          <a:p>
            <a:r>
              <a:rPr lang="en-US" sz="2400" dirty="0"/>
              <a:t>GIS use the spatial and non-spatial attribute data to answer the questions about real world. It is a spatial analysis functions that distinguish from other applications.</a:t>
            </a:r>
          </a:p>
        </p:txBody>
      </p:sp>
    </p:spTree>
    <p:extLst>
      <p:ext uri="{BB962C8B-B14F-4D97-AF65-F5344CB8AC3E}">
        <p14:creationId xmlns:p14="http://schemas.microsoft.com/office/powerpoint/2010/main" val="1999893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B83C2720-E5F6-A5AF-109F-F50C9AF8EC50}"/>
              </a:ext>
            </a:extLst>
          </p:cNvPr>
          <p:cNvSpPr txBox="1">
            <a:spLocks/>
          </p:cNvSpPr>
          <p:nvPr/>
        </p:nvSpPr>
        <p:spPr>
          <a:xfrm>
            <a:off x="1043631" y="809898"/>
            <a:ext cx="9942716" cy="15544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800" kern="1200">
                <a:solidFill>
                  <a:schemeClr val="tx1"/>
                </a:solidFill>
                <a:latin typeface="+mj-lt"/>
                <a:ea typeface="+mj-ea"/>
                <a:cs typeface="+mj-cs"/>
              </a:rPr>
              <a:t>Key GIS Components</a:t>
            </a:r>
            <a:endParaRPr lang="en-US" sz="48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9DF2C2CA-3594-5459-63BD-30D24CACD382}"/>
              </a:ext>
            </a:extLst>
          </p:cNvPr>
          <p:cNvSpPr>
            <a:spLocks noGrp="1"/>
          </p:cNvSpPr>
          <p:nvPr>
            <p:ph idx="1"/>
          </p:nvPr>
        </p:nvSpPr>
        <p:spPr>
          <a:xfrm>
            <a:off x="1045028" y="3017522"/>
            <a:ext cx="9941319" cy="3124658"/>
          </a:xfrm>
        </p:spPr>
        <p:txBody>
          <a:bodyPr vert="horz" lIns="91440" tIns="45720" rIns="91440" bIns="45720" rtlCol="0" anchor="ctr">
            <a:normAutofit/>
          </a:bodyPr>
          <a:lstStyle/>
          <a:p>
            <a:r>
              <a:rPr lang="en-US" sz="1900" b="1" dirty="0"/>
              <a:t>Hardware</a:t>
            </a:r>
            <a:r>
              <a:rPr lang="en-US" sz="1900" dirty="0"/>
              <a:t> – computers, GPS devices, drones, satellites, servers</a:t>
            </a:r>
          </a:p>
          <a:p>
            <a:r>
              <a:rPr lang="en-US" sz="1900" b="1" dirty="0"/>
              <a:t>Software</a:t>
            </a:r>
            <a:r>
              <a:rPr lang="en-US" sz="1900" dirty="0"/>
              <a:t> – programs like ArcGIS Pro, QGIS, or Google Earth Engine that process spatial data</a:t>
            </a:r>
          </a:p>
          <a:p>
            <a:r>
              <a:rPr lang="en-US" sz="1900" b="1" dirty="0"/>
              <a:t>Data</a:t>
            </a:r>
            <a:r>
              <a:rPr lang="en-US" sz="1900" dirty="0"/>
              <a:t> – two main types: </a:t>
            </a:r>
          </a:p>
          <a:p>
            <a:pPr lvl="1"/>
            <a:r>
              <a:rPr lang="en-US" sz="1900" b="1" dirty="0"/>
              <a:t>Spatial data</a:t>
            </a:r>
            <a:r>
              <a:rPr lang="en-US" sz="1900" dirty="0"/>
              <a:t>: coordinates, shapes, boundaries (points, lines, polygons)</a:t>
            </a:r>
          </a:p>
          <a:p>
            <a:pPr lvl="1"/>
            <a:r>
              <a:rPr lang="en-US" sz="1900" b="1" dirty="0"/>
              <a:t>Attribute data</a:t>
            </a:r>
            <a:r>
              <a:rPr lang="en-US" sz="1900" dirty="0"/>
              <a:t>: descriptive info about those features (e.g., population, land use, elevation)</a:t>
            </a:r>
          </a:p>
          <a:p>
            <a:r>
              <a:rPr lang="en-US" sz="1900" b="1" dirty="0"/>
              <a:t>People</a:t>
            </a:r>
            <a:r>
              <a:rPr lang="en-US" sz="1900" dirty="0"/>
              <a:t> – analysts, planners, and scientists who design workflows and interpret results</a:t>
            </a:r>
          </a:p>
          <a:p>
            <a:r>
              <a:rPr lang="en-US" sz="1900" b="1" dirty="0"/>
              <a:t>Methods/Procedures</a:t>
            </a:r>
            <a:r>
              <a:rPr lang="en-US" sz="1900" dirty="0"/>
              <a:t> – models and workflows for analysis (e.g., overlay analysis, buffering, spatial queries)</a:t>
            </a:r>
          </a:p>
          <a:p>
            <a:endParaRPr lang="en-US" sz="1900" dirty="0"/>
          </a:p>
        </p:txBody>
      </p:sp>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0209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F3EF393A-60F0-312A-CDAA-B1E6DF2684FA}"/>
              </a:ext>
            </a:extLst>
          </p:cNvPr>
          <p:cNvSpPr>
            <a:spLocks noGrp="1"/>
          </p:cNvSpPr>
          <p:nvPr>
            <p:ph idx="1"/>
          </p:nvPr>
        </p:nvSpPr>
        <p:spPr>
          <a:xfrm>
            <a:off x="233823" y="1998368"/>
            <a:ext cx="7175113" cy="2620746"/>
          </a:xfrm>
        </p:spPr>
        <p:txBody>
          <a:bodyPr anchor="ctr">
            <a:normAutofit/>
          </a:bodyPr>
          <a:lstStyle/>
          <a:p>
            <a:pPr marL="0" indent="0">
              <a:buNone/>
            </a:pPr>
            <a:r>
              <a:rPr lang="en-US" sz="2000" b="1" dirty="0"/>
              <a:t>Vector Data</a:t>
            </a:r>
            <a:r>
              <a:rPr lang="en-US" sz="2000" dirty="0"/>
              <a:t> is a representation of the world using points, lines, and polygons. Vector models are useful for storing data that has discrete boundaries, such as country borders, land parcels, and streets</a:t>
            </a:r>
          </a:p>
        </p:txBody>
      </p:sp>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4AA708-6834-27F8-251A-969DE95954E4}"/>
              </a:ext>
            </a:extLst>
          </p:cNvPr>
          <p:cNvSpPr txBox="1"/>
          <p:nvPr/>
        </p:nvSpPr>
        <p:spPr>
          <a:xfrm>
            <a:off x="216425" y="3922321"/>
            <a:ext cx="7497737" cy="1631216"/>
          </a:xfrm>
          <a:prstGeom prst="rect">
            <a:avLst/>
          </a:prstGeom>
          <a:noFill/>
        </p:spPr>
        <p:txBody>
          <a:bodyPr wrap="square">
            <a:spAutoFit/>
          </a:bodyPr>
          <a:lstStyle/>
          <a:p>
            <a:r>
              <a:rPr lang="en-US" sz="2000" b="1" dirty="0"/>
              <a:t>Raster Data </a:t>
            </a:r>
            <a:r>
              <a:rPr lang="en-US" sz="2000" dirty="0"/>
              <a:t>is a representation of the world as a surface divided into a regular grid of cells. Raster data are useful for storing data that varies continuously, as in an aerial photograph, a satellite image, a surface of chemical concentrations, or an elevation surface</a:t>
            </a:r>
          </a:p>
        </p:txBody>
      </p:sp>
      <p:sp>
        <p:nvSpPr>
          <p:cNvPr id="9" name="Title 1">
            <a:extLst>
              <a:ext uri="{FF2B5EF4-FFF2-40B4-BE49-F238E27FC236}">
                <a16:creationId xmlns:a16="http://schemas.microsoft.com/office/drawing/2014/main" id="{F1AA5236-2846-CCCD-C2BF-6D0209D6D2F7}"/>
              </a:ext>
            </a:extLst>
          </p:cNvPr>
          <p:cNvSpPr txBox="1">
            <a:spLocks/>
          </p:cNvSpPr>
          <p:nvPr/>
        </p:nvSpPr>
        <p:spPr>
          <a:xfrm>
            <a:off x="946062" y="5393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Fundamental Data Type Used in GIS</a:t>
            </a:r>
          </a:p>
        </p:txBody>
      </p:sp>
      <p:pic>
        <p:nvPicPr>
          <p:cNvPr id="16" name="Picture 15">
            <a:extLst>
              <a:ext uri="{FF2B5EF4-FFF2-40B4-BE49-F238E27FC236}">
                <a16:creationId xmlns:a16="http://schemas.microsoft.com/office/drawing/2014/main" id="{E3892804-563B-020E-E4AD-81B5F66ED282}"/>
              </a:ext>
            </a:extLst>
          </p:cNvPr>
          <p:cNvPicPr>
            <a:picLocks noChangeAspect="1"/>
          </p:cNvPicPr>
          <p:nvPr/>
        </p:nvPicPr>
        <p:blipFill>
          <a:blip r:embed="rId2"/>
          <a:srcRect t="7218" r="2475"/>
          <a:stretch>
            <a:fillRect/>
          </a:stretch>
        </p:blipFill>
        <p:spPr>
          <a:xfrm>
            <a:off x="7321217" y="2492829"/>
            <a:ext cx="4074234" cy="2620746"/>
          </a:xfrm>
          <a:prstGeom prst="rect">
            <a:avLst/>
          </a:prstGeom>
        </p:spPr>
      </p:pic>
    </p:spTree>
    <p:extLst>
      <p:ext uri="{BB962C8B-B14F-4D97-AF65-F5344CB8AC3E}">
        <p14:creationId xmlns:p14="http://schemas.microsoft.com/office/powerpoint/2010/main" val="2593771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2842-97AC-472B-96D5-716E250C4C7B}"/>
              </a:ext>
            </a:extLst>
          </p:cNvPr>
          <p:cNvSpPr>
            <a:spLocks noGrp="1"/>
          </p:cNvSpPr>
          <p:nvPr>
            <p:ph type="title"/>
          </p:nvPr>
        </p:nvSpPr>
        <p:spPr/>
        <p:txBody>
          <a:bodyPr/>
          <a:lstStyle/>
          <a:p>
            <a:r>
              <a:rPr lang="en-US" b="1"/>
              <a:t>Other Key Data Types in GIS</a:t>
            </a:r>
            <a:endParaRPr lang="en-US" b="1" dirty="0"/>
          </a:p>
        </p:txBody>
      </p:sp>
      <p:sp>
        <p:nvSpPr>
          <p:cNvPr id="7" name="TextBox 6">
            <a:extLst>
              <a:ext uri="{FF2B5EF4-FFF2-40B4-BE49-F238E27FC236}">
                <a16:creationId xmlns:a16="http://schemas.microsoft.com/office/drawing/2014/main" id="{65CF5E46-D956-A535-E382-5E4A23D1AC80}"/>
              </a:ext>
            </a:extLst>
          </p:cNvPr>
          <p:cNvSpPr txBox="1"/>
          <p:nvPr/>
        </p:nvSpPr>
        <p:spPr>
          <a:xfrm>
            <a:off x="726621" y="1690688"/>
            <a:ext cx="9114065" cy="707886"/>
          </a:xfrm>
          <a:prstGeom prst="rect">
            <a:avLst/>
          </a:prstGeom>
          <a:noFill/>
        </p:spPr>
        <p:txBody>
          <a:bodyPr wrap="square">
            <a:spAutoFit/>
          </a:bodyPr>
          <a:lstStyle/>
          <a:p>
            <a:r>
              <a:rPr lang="en-US" sz="2000"/>
              <a:t>Beyond spatial data (vector/raster), a functioning GIS relies on several other data types that give geographic features meaning, context, and trustworthiness</a:t>
            </a:r>
            <a:endParaRPr lang="en-US" sz="2000" dirty="0"/>
          </a:p>
        </p:txBody>
      </p:sp>
      <p:sp>
        <p:nvSpPr>
          <p:cNvPr id="9" name="TextBox 8">
            <a:extLst>
              <a:ext uri="{FF2B5EF4-FFF2-40B4-BE49-F238E27FC236}">
                <a16:creationId xmlns:a16="http://schemas.microsoft.com/office/drawing/2014/main" id="{CCBB7793-FDFE-FD61-90E1-286FDC5BC585}"/>
              </a:ext>
            </a:extLst>
          </p:cNvPr>
          <p:cNvSpPr txBox="1"/>
          <p:nvPr/>
        </p:nvSpPr>
        <p:spPr>
          <a:xfrm>
            <a:off x="726621" y="2571530"/>
            <a:ext cx="10028465" cy="3416320"/>
          </a:xfrm>
          <a:prstGeom prst="rect">
            <a:avLst/>
          </a:prstGeom>
          <a:noFill/>
        </p:spPr>
        <p:txBody>
          <a:bodyPr wrap="square">
            <a:spAutoFit/>
          </a:bodyPr>
          <a:lstStyle/>
          <a:p>
            <a:r>
              <a:rPr lang="en-US" b="1" dirty="0"/>
              <a:t>Attribute Data </a:t>
            </a:r>
            <a:r>
              <a:rPr lang="en-US" dirty="0"/>
              <a:t>Descriptive information attached to spatial features — the "what" behind the "where."</a:t>
            </a:r>
          </a:p>
          <a:p>
            <a:r>
              <a:rPr lang="en-US" dirty="0"/>
              <a:t>Stored in tables linked to each point, line, or polygon</a:t>
            </a:r>
          </a:p>
          <a:p>
            <a:r>
              <a:rPr lang="en-US" dirty="0"/>
              <a:t>Example: a road (line feature) might have attributes like name and length</a:t>
            </a:r>
          </a:p>
          <a:p>
            <a:r>
              <a:rPr lang="en-US" b="1" dirty="0" err="1"/>
              <a:t>abular</a:t>
            </a:r>
            <a:r>
              <a:rPr lang="en-US" b="1" dirty="0"/>
              <a:t> / Non-Spatial Data: </a:t>
            </a:r>
            <a:r>
              <a:rPr lang="en-US" dirty="0"/>
              <a:t>Regular data tables (like a census spreadsheet) that don't have inherent location but can be joined to spatial features using a common key (e.g. ZIP code, county FIPS code).</a:t>
            </a:r>
          </a:p>
          <a:p>
            <a:r>
              <a:rPr lang="en-US" b="1" dirty="0"/>
              <a:t>Metadata: </a:t>
            </a:r>
            <a:r>
              <a:rPr lang="en-US" dirty="0"/>
              <a:t>Data </a:t>
            </a:r>
            <a:r>
              <a:rPr lang="en-US" i="1" dirty="0"/>
              <a:t>about</a:t>
            </a:r>
            <a:r>
              <a:rPr lang="en-US" dirty="0"/>
              <a:t> the data — describes the dataset itself rather than the features in it.</a:t>
            </a:r>
          </a:p>
          <a:p>
            <a:r>
              <a:rPr lang="en-US" dirty="0"/>
              <a:t>Includes: source, date collected, coordinate system/projection, accuracy, resolution, author, update frequency, licensing</a:t>
            </a:r>
          </a:p>
          <a:p>
            <a:r>
              <a:rPr lang="en-US" dirty="0"/>
              <a:t>Critical for trust and reproducibility — tells you whether a dataset is current, reliable, and fit for your purpose</a:t>
            </a:r>
          </a:p>
          <a:p>
            <a:r>
              <a:rPr lang="en-US" dirty="0"/>
              <a:t>Standards exist for this (e.g. ISO 19115, FGDC) so metadata is consistent across organizations</a:t>
            </a:r>
          </a:p>
          <a:p>
            <a:endParaRPr lang="en-US" dirty="0"/>
          </a:p>
        </p:txBody>
      </p:sp>
    </p:spTree>
    <p:extLst>
      <p:ext uri="{BB962C8B-B14F-4D97-AF65-F5344CB8AC3E}">
        <p14:creationId xmlns:p14="http://schemas.microsoft.com/office/powerpoint/2010/main" val="2216819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763EB-D461-372C-FCAF-146AC9BA5697}"/>
              </a:ext>
            </a:extLst>
          </p:cNvPr>
          <p:cNvSpPr>
            <a:spLocks noGrp="1"/>
          </p:cNvSpPr>
          <p:nvPr>
            <p:ph type="title"/>
          </p:nvPr>
        </p:nvSpPr>
        <p:spPr/>
        <p:txBody>
          <a:bodyPr/>
          <a:lstStyle/>
          <a:p>
            <a:r>
              <a:rPr lang="en-US" dirty="0"/>
              <a:t>Raster data format </a:t>
            </a:r>
          </a:p>
        </p:txBody>
      </p:sp>
      <p:sp>
        <p:nvSpPr>
          <p:cNvPr id="3" name="Content Placeholder 2">
            <a:extLst>
              <a:ext uri="{FF2B5EF4-FFF2-40B4-BE49-F238E27FC236}">
                <a16:creationId xmlns:a16="http://schemas.microsoft.com/office/drawing/2014/main" id="{CBA832CB-FBA3-ED59-8595-C9144B888406}"/>
              </a:ext>
            </a:extLst>
          </p:cNvPr>
          <p:cNvSpPr>
            <a:spLocks noGrp="1"/>
          </p:cNvSpPr>
          <p:nvPr>
            <p:ph idx="1"/>
          </p:nvPr>
        </p:nvSpPr>
        <p:spPr>
          <a:xfrm>
            <a:off x="838200" y="1556657"/>
            <a:ext cx="8839200" cy="4615543"/>
          </a:xfrm>
        </p:spPr>
        <p:txBody>
          <a:bodyPr>
            <a:normAutofit fontScale="85000" lnSpcReduction="20000"/>
          </a:bodyPr>
          <a:lstStyle/>
          <a:p>
            <a:r>
              <a:rPr lang="en-US" sz="2100" dirty="0"/>
              <a:t>Rater data generalizes map features as cells or pixels in a grid matrix. The space is defined by a matrix of points or cells organized into rows and columns. In a raster data set, data values for a given parameter are stored in each cell - these values may represent an elevation in meters above sea level, a land use class and etc. </a:t>
            </a:r>
          </a:p>
          <a:p>
            <a:pPr marL="0" indent="-342900">
              <a:lnSpc>
                <a:spcPct val="100000"/>
              </a:lnSpc>
            </a:pPr>
            <a:r>
              <a:rPr lang="en-US" sz="2100" dirty="0"/>
              <a:t>Scanned</a:t>
            </a:r>
          </a:p>
          <a:p>
            <a:pPr marL="0" indent="-342900">
              <a:lnSpc>
                <a:spcPct val="100000"/>
              </a:lnSpc>
            </a:pPr>
            <a:r>
              <a:rPr lang="en-US" sz="2100" dirty="0"/>
              <a:t>Remotely Sensed</a:t>
            </a:r>
          </a:p>
          <a:p>
            <a:pPr marL="0" indent="-342900">
              <a:lnSpc>
                <a:spcPct val="100000"/>
              </a:lnSpc>
            </a:pPr>
            <a:r>
              <a:rPr lang="en-US" sz="2100" dirty="0"/>
              <a:t>Aerial Photos</a:t>
            </a:r>
          </a:p>
          <a:p>
            <a:pPr marL="0" indent="-342900">
              <a:lnSpc>
                <a:spcPct val="100000"/>
              </a:lnSpc>
            </a:pPr>
            <a:r>
              <a:rPr lang="en-US" sz="2100" dirty="0"/>
              <a:t>Satellite Photos</a:t>
            </a:r>
          </a:p>
          <a:p>
            <a:pPr marL="0" indent="-342900">
              <a:lnSpc>
                <a:spcPct val="100000"/>
              </a:lnSpc>
            </a:pPr>
            <a:r>
              <a:rPr lang="en-US" sz="2100" dirty="0"/>
              <a:t>Digital Elevation Models (DEM)</a:t>
            </a:r>
          </a:p>
          <a:p>
            <a:pPr marL="0" lvl="1" indent="-342900">
              <a:lnSpc>
                <a:spcPct val="100000"/>
              </a:lnSpc>
              <a:spcBef>
                <a:spcPts val="1000"/>
              </a:spcBef>
            </a:pPr>
            <a:r>
              <a:rPr lang="en-US" sz="2100" dirty="0"/>
              <a:t>Derived </a:t>
            </a:r>
            <a:r>
              <a:rPr lang="en-US" sz="2100" dirty="0" err="1"/>
              <a:t>Rasters</a:t>
            </a:r>
            <a:endParaRPr lang="en-US" sz="2100" dirty="0"/>
          </a:p>
          <a:p>
            <a:pPr marL="457200" lvl="3" indent="-285750">
              <a:lnSpc>
                <a:spcPct val="100000"/>
              </a:lnSpc>
              <a:spcBef>
                <a:spcPts val="1000"/>
              </a:spcBef>
            </a:pPr>
            <a:r>
              <a:rPr lang="en-US" sz="1900" dirty="0"/>
              <a:t>Hill shade</a:t>
            </a:r>
          </a:p>
          <a:p>
            <a:pPr marL="457200" lvl="3" indent="-285750">
              <a:lnSpc>
                <a:spcPct val="100000"/>
              </a:lnSpc>
              <a:spcBef>
                <a:spcPts val="1000"/>
              </a:spcBef>
            </a:pPr>
            <a:r>
              <a:rPr lang="en-US" sz="1900" dirty="0"/>
              <a:t>Slope</a:t>
            </a:r>
          </a:p>
          <a:p>
            <a:pPr marL="457200" lvl="3" indent="-285750">
              <a:lnSpc>
                <a:spcPct val="100000"/>
              </a:lnSpc>
              <a:spcBef>
                <a:spcPts val="1000"/>
              </a:spcBef>
            </a:pPr>
            <a:r>
              <a:rPr lang="en-US" sz="1900" dirty="0"/>
              <a:t>Aspect</a:t>
            </a:r>
          </a:p>
          <a:p>
            <a:pPr marL="0" lvl="2" indent="-285750">
              <a:lnSpc>
                <a:spcPct val="100000"/>
              </a:lnSpc>
              <a:spcBef>
                <a:spcPts val="1000"/>
              </a:spcBef>
            </a:pPr>
            <a:r>
              <a:rPr lang="en-US" sz="2100" dirty="0"/>
              <a:t>viewshed</a:t>
            </a:r>
          </a:p>
        </p:txBody>
      </p:sp>
      <p:pic>
        <p:nvPicPr>
          <p:cNvPr id="5" name="Picture 4">
            <a:extLst>
              <a:ext uri="{FF2B5EF4-FFF2-40B4-BE49-F238E27FC236}">
                <a16:creationId xmlns:a16="http://schemas.microsoft.com/office/drawing/2014/main" id="{1F462B16-9382-0711-70A4-1E370ED39C5D}"/>
              </a:ext>
            </a:extLst>
          </p:cNvPr>
          <p:cNvPicPr>
            <a:picLocks noChangeAspect="1"/>
          </p:cNvPicPr>
          <p:nvPr/>
        </p:nvPicPr>
        <p:blipFill>
          <a:blip r:embed="rId2"/>
          <a:stretch>
            <a:fillRect/>
          </a:stretch>
        </p:blipFill>
        <p:spPr>
          <a:xfrm>
            <a:off x="6832065" y="2400964"/>
            <a:ext cx="4597935" cy="3771236"/>
          </a:xfrm>
          <a:prstGeom prst="rect">
            <a:avLst/>
          </a:prstGeom>
        </p:spPr>
      </p:pic>
    </p:spTree>
    <p:extLst>
      <p:ext uri="{BB962C8B-B14F-4D97-AF65-F5344CB8AC3E}">
        <p14:creationId xmlns:p14="http://schemas.microsoft.com/office/powerpoint/2010/main" val="2185295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BBD7A-75B5-089F-66C3-A0ABAB473D69}"/>
              </a:ext>
            </a:extLst>
          </p:cNvPr>
          <p:cNvSpPr>
            <a:spLocks noGrp="1"/>
          </p:cNvSpPr>
          <p:nvPr>
            <p:ph type="title"/>
          </p:nvPr>
        </p:nvSpPr>
        <p:spPr/>
        <p:txBody>
          <a:bodyPr/>
          <a:lstStyle/>
          <a:p>
            <a:r>
              <a:rPr lang="en-US" dirty="0"/>
              <a:t>Advantage and Disadvantages of Raster</a:t>
            </a:r>
          </a:p>
        </p:txBody>
      </p:sp>
      <p:sp>
        <p:nvSpPr>
          <p:cNvPr id="3" name="Content Placeholder 2">
            <a:extLst>
              <a:ext uri="{FF2B5EF4-FFF2-40B4-BE49-F238E27FC236}">
                <a16:creationId xmlns:a16="http://schemas.microsoft.com/office/drawing/2014/main" id="{CC19B53E-972B-F04A-0411-8F06D2E8C9E2}"/>
              </a:ext>
            </a:extLst>
          </p:cNvPr>
          <p:cNvSpPr>
            <a:spLocks noGrp="1"/>
          </p:cNvSpPr>
          <p:nvPr>
            <p:ph idx="1"/>
          </p:nvPr>
        </p:nvSpPr>
        <p:spPr/>
        <p:txBody>
          <a:bodyPr>
            <a:normAutofit lnSpcReduction="10000"/>
          </a:bodyPr>
          <a:lstStyle/>
          <a:p>
            <a:pPr marL="0" indent="0">
              <a:buNone/>
            </a:pPr>
            <a:r>
              <a:rPr lang="en-US" sz="1800" b="1" dirty="0"/>
              <a:t>Disadvantage</a:t>
            </a:r>
            <a:r>
              <a:rPr lang="en-US" sz="1800" dirty="0"/>
              <a:t>: </a:t>
            </a:r>
          </a:p>
          <a:p>
            <a:pPr marL="0"/>
            <a:r>
              <a:rPr lang="en-US" sz="1800" dirty="0"/>
              <a:t>Larger file sizes, especially at high resolution</a:t>
            </a:r>
          </a:p>
          <a:p>
            <a:pPr marL="0"/>
            <a:r>
              <a:rPr lang="en-US" sz="1800" dirty="0"/>
              <a:t>Loss of precision — boundaries look "blocky" or pixelated, especially at coarse resolution</a:t>
            </a:r>
          </a:p>
          <a:p>
            <a:pPr marL="0"/>
            <a:r>
              <a:rPr lang="en-US" sz="1800" dirty="0"/>
              <a:t>Attribute data is limited — typically just one value per cell, not rich multi-field records</a:t>
            </a:r>
          </a:p>
          <a:p>
            <a:pPr marL="0"/>
            <a:r>
              <a:rPr lang="en-US" sz="1800" dirty="0"/>
              <a:t>Resolution trade-off — fine detail requires huge file sizes; coarse resolution loses accuracy</a:t>
            </a:r>
          </a:p>
          <a:p>
            <a:pPr marL="0"/>
            <a:r>
              <a:rPr lang="en-US" sz="1800" dirty="0"/>
              <a:t>Zooming in reveals pixelation rather than clean edges</a:t>
            </a:r>
          </a:p>
          <a:p>
            <a:pPr marL="0" indent="0">
              <a:lnSpc>
                <a:spcPct val="100000"/>
              </a:lnSpc>
              <a:buNone/>
            </a:pPr>
            <a:r>
              <a:rPr lang="en-US" sz="1800" b="1" dirty="0"/>
              <a:t>Advantages:</a:t>
            </a:r>
          </a:p>
          <a:p>
            <a:pPr marL="0">
              <a:lnSpc>
                <a:spcPct val="100000"/>
              </a:lnSpc>
            </a:pPr>
            <a:r>
              <a:rPr lang="en-US" sz="1800" dirty="0"/>
              <a:t>Excellent for continuous data — elevation, temperature, satellite imagery, rainfall </a:t>
            </a:r>
          </a:p>
          <a:p>
            <a:pPr marL="0">
              <a:lnSpc>
                <a:spcPct val="100000"/>
              </a:lnSpc>
            </a:pPr>
            <a:r>
              <a:rPr lang="en-US" sz="1800" dirty="0"/>
              <a:t>Simple data structure — just a grid of values, easy to process mathematically</a:t>
            </a:r>
          </a:p>
          <a:p>
            <a:pPr marL="0">
              <a:lnSpc>
                <a:spcPct val="100000"/>
              </a:lnSpc>
            </a:pPr>
            <a:r>
              <a:rPr lang="en-US" sz="1800" dirty="0"/>
              <a:t>Fast for certain types of spatial analysis (overlay, map algebra, surface modeling)Naturally suited to remote sensing and satellite/drone imagery</a:t>
            </a:r>
          </a:p>
          <a:p>
            <a:pPr marL="0">
              <a:lnSpc>
                <a:spcPct val="100000"/>
              </a:lnSpc>
            </a:pPr>
            <a:r>
              <a:rPr lang="en-US" sz="1800" dirty="0"/>
              <a:t>Uniform structure makes it easy to combine multiple raster layers cell-by-cell</a:t>
            </a:r>
          </a:p>
        </p:txBody>
      </p:sp>
    </p:spTree>
    <p:extLst>
      <p:ext uri="{BB962C8B-B14F-4D97-AF65-F5344CB8AC3E}">
        <p14:creationId xmlns:p14="http://schemas.microsoft.com/office/powerpoint/2010/main" val="3037076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74933-77D9-291C-C4D3-3CE2939D3DE0}"/>
              </a:ext>
            </a:extLst>
          </p:cNvPr>
          <p:cNvSpPr>
            <a:spLocks noGrp="1"/>
          </p:cNvSpPr>
          <p:nvPr>
            <p:ph type="title"/>
          </p:nvPr>
        </p:nvSpPr>
        <p:spPr>
          <a:xfrm>
            <a:off x="544286" y="286317"/>
            <a:ext cx="10515600" cy="1325563"/>
          </a:xfrm>
        </p:spPr>
        <p:txBody>
          <a:bodyPr/>
          <a:lstStyle/>
          <a:p>
            <a:r>
              <a:rPr lang="en-US" dirty="0"/>
              <a:t>Vector data format</a:t>
            </a:r>
          </a:p>
        </p:txBody>
      </p:sp>
      <p:sp>
        <p:nvSpPr>
          <p:cNvPr id="3" name="Content Placeholder 2">
            <a:extLst>
              <a:ext uri="{FF2B5EF4-FFF2-40B4-BE49-F238E27FC236}">
                <a16:creationId xmlns:a16="http://schemas.microsoft.com/office/drawing/2014/main" id="{3376B6E2-EF7D-5F6E-6806-CF070EDBB386}"/>
              </a:ext>
            </a:extLst>
          </p:cNvPr>
          <p:cNvSpPr>
            <a:spLocks noGrp="1"/>
          </p:cNvSpPr>
          <p:nvPr>
            <p:ph idx="1"/>
          </p:nvPr>
        </p:nvSpPr>
        <p:spPr>
          <a:xfrm>
            <a:off x="544286" y="1342421"/>
            <a:ext cx="5704115" cy="4351338"/>
          </a:xfrm>
        </p:spPr>
        <p:txBody>
          <a:bodyPr/>
          <a:lstStyle/>
          <a:p>
            <a:pPr marL="0" indent="0">
              <a:buNone/>
            </a:pPr>
            <a:r>
              <a:rPr lang="en-US" sz="1800" dirty="0"/>
              <a:t>In vector data objects are represented as points, lines or polygons, whose positions are precisely specified. </a:t>
            </a:r>
          </a:p>
        </p:txBody>
      </p:sp>
      <p:pic>
        <p:nvPicPr>
          <p:cNvPr id="4" name="Picture 3" descr="GIS in R: Intro to Vector Format Spatial Data - Points, Lines and ...">
            <a:extLst>
              <a:ext uri="{FF2B5EF4-FFF2-40B4-BE49-F238E27FC236}">
                <a16:creationId xmlns:a16="http://schemas.microsoft.com/office/drawing/2014/main" id="{552B2ECD-13EC-A706-E202-C659B0AD64E9}"/>
              </a:ext>
            </a:extLst>
          </p:cNvPr>
          <p:cNvPicPr>
            <a:picLocks noChangeAspect="1"/>
          </p:cNvPicPr>
          <p:nvPr/>
        </p:nvPicPr>
        <p:blipFill>
          <a:blip r:embed="rId2"/>
          <a:srcRect l="4659" t="3017" r="3589" b="3862"/>
          <a:stretch>
            <a:fillRect/>
          </a:stretch>
        </p:blipFill>
        <p:spPr>
          <a:xfrm>
            <a:off x="7977099" y="1002091"/>
            <a:ext cx="4138701" cy="4244823"/>
          </a:xfrm>
          <a:prstGeom prst="rect">
            <a:avLst/>
          </a:prstGeom>
        </p:spPr>
      </p:pic>
      <p:sp>
        <p:nvSpPr>
          <p:cNvPr id="6" name="TextBox 5">
            <a:extLst>
              <a:ext uri="{FF2B5EF4-FFF2-40B4-BE49-F238E27FC236}">
                <a16:creationId xmlns:a16="http://schemas.microsoft.com/office/drawing/2014/main" id="{CD681CD4-758C-50CA-E837-2820CB8C1BB1}"/>
              </a:ext>
            </a:extLst>
          </p:cNvPr>
          <p:cNvSpPr txBox="1"/>
          <p:nvPr/>
        </p:nvSpPr>
        <p:spPr>
          <a:xfrm>
            <a:off x="446314" y="1881339"/>
            <a:ext cx="7717971" cy="5078313"/>
          </a:xfrm>
          <a:prstGeom prst="rect">
            <a:avLst/>
          </a:prstGeom>
          <a:noFill/>
        </p:spPr>
        <p:txBody>
          <a:bodyPr wrap="square">
            <a:spAutoFit/>
          </a:bodyPr>
          <a:lstStyle/>
          <a:p>
            <a:pPr rtl="0">
              <a:buNone/>
            </a:pPr>
            <a:r>
              <a:rPr lang="en-US" b="1" dirty="0"/>
              <a:t>Advantages:</a:t>
            </a:r>
          </a:p>
          <a:p>
            <a:pPr rtl="0">
              <a:buFont typeface="Arial" panose="020B0604020202020204" pitchFamily="34" charset="0"/>
              <a:buChar char="•"/>
            </a:pPr>
            <a:r>
              <a:rPr lang="en-US" dirty="0"/>
              <a:t>High precision — exact coordinates give sharp, accurate boundaries</a:t>
            </a:r>
          </a:p>
          <a:p>
            <a:pPr rtl="0">
              <a:buFont typeface="Arial" panose="020B0604020202020204" pitchFamily="34" charset="0"/>
              <a:buChar char="•"/>
            </a:pPr>
            <a:r>
              <a:rPr lang="en-US" dirty="0"/>
              <a:t>Compact file size — only stores geometry + attributes, not every point in space</a:t>
            </a:r>
          </a:p>
          <a:p>
            <a:pPr rtl="0">
              <a:buFont typeface="Arial" panose="020B0604020202020204" pitchFamily="34" charset="0"/>
              <a:buChar char="•"/>
            </a:pPr>
            <a:r>
              <a:rPr lang="en-US" dirty="0"/>
              <a:t>Easy to attach rich attribute data (tables) to each feature</a:t>
            </a:r>
          </a:p>
          <a:p>
            <a:pPr rtl="0">
              <a:buFont typeface="Arial" panose="020B0604020202020204" pitchFamily="34" charset="0"/>
              <a:buChar char="•"/>
            </a:pPr>
            <a:r>
              <a:rPr lang="en-US" dirty="0"/>
              <a:t>Ideal for network analysis (routing, connectivity) since features are discrete and topological</a:t>
            </a:r>
          </a:p>
          <a:p>
            <a:pPr rtl="0">
              <a:buFont typeface="Arial" panose="020B0604020202020204" pitchFamily="34" charset="0"/>
              <a:buChar char="•"/>
            </a:pPr>
            <a:r>
              <a:rPr lang="en-US" dirty="0"/>
              <a:t>Scales well — zooming in doesn't lose detail or create pixelation</a:t>
            </a:r>
          </a:p>
          <a:p>
            <a:pPr rtl="0">
              <a:buFont typeface="Arial" panose="020B0604020202020204" pitchFamily="34" charset="0"/>
              <a:buChar char="•"/>
            </a:pPr>
            <a:r>
              <a:rPr lang="en-US" dirty="0"/>
              <a:t>Easy to edit individual features without affecting the whole dataset</a:t>
            </a:r>
          </a:p>
          <a:p>
            <a:pPr rtl="0">
              <a:buNone/>
            </a:pPr>
            <a:r>
              <a:rPr lang="en-US" b="1" dirty="0"/>
              <a:t>Disadvantages:</a:t>
            </a:r>
          </a:p>
          <a:p>
            <a:pPr rtl="0">
              <a:buFont typeface="Arial" panose="020B0604020202020204" pitchFamily="34" charset="0"/>
              <a:buChar char="•"/>
            </a:pPr>
            <a:r>
              <a:rPr lang="en-US" dirty="0"/>
              <a:t>Poor at representing continuous phenomena (elevation, temperature, rainfall) — everything must be broken into discrete shapes</a:t>
            </a:r>
          </a:p>
          <a:p>
            <a:pPr rtl="0">
              <a:buFont typeface="Arial" panose="020B0604020202020204" pitchFamily="34" charset="0"/>
              <a:buChar char="•"/>
            </a:pPr>
            <a:r>
              <a:rPr lang="en-US" dirty="0"/>
              <a:t>Complex overlay/analysis operations (e.g. combining many polygon layers) can be computationally expensive</a:t>
            </a:r>
          </a:p>
          <a:p>
            <a:pPr rtl="0">
              <a:buFont typeface="Arial" panose="020B0604020202020204" pitchFamily="34" charset="0"/>
              <a:buChar char="•"/>
            </a:pPr>
            <a:r>
              <a:rPr lang="en-US" dirty="0"/>
              <a:t>Doesn't handle "fuzzy" or gradually-changing boundaries well (e.g. soil transition zones)</a:t>
            </a:r>
          </a:p>
          <a:p>
            <a:pPr rtl="0">
              <a:buFont typeface="Arial" panose="020B0604020202020204" pitchFamily="34" charset="0"/>
              <a:buChar char="•"/>
            </a:pPr>
            <a:r>
              <a:rPr lang="en-US" dirty="0"/>
              <a:t>Requires more complex data structures and topology rules to maintain validity</a:t>
            </a:r>
          </a:p>
        </p:txBody>
      </p:sp>
    </p:spTree>
    <p:extLst>
      <p:ext uri="{BB962C8B-B14F-4D97-AF65-F5344CB8AC3E}">
        <p14:creationId xmlns:p14="http://schemas.microsoft.com/office/powerpoint/2010/main" val="1607184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FA9C-A9B5-BE4E-7C54-0DE791ED82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B7A83-B718-1B48-E9E5-8D7208B7EE54}"/>
              </a:ext>
            </a:extLst>
          </p:cNvPr>
          <p:cNvSpPr>
            <a:spLocks noGrp="1"/>
          </p:cNvSpPr>
          <p:nvPr>
            <p:ph idx="1"/>
          </p:nvPr>
        </p:nvSpPr>
        <p:spPr>
          <a:xfrm>
            <a:off x="699054" y="616935"/>
            <a:ext cx="10443760" cy="3435531"/>
          </a:xfrm>
        </p:spPr>
        <p:txBody>
          <a:bodyPr anchor="ctr">
            <a:normAutofit/>
          </a:bodyPr>
          <a:lstStyle/>
          <a:p>
            <a:pPr marL="0" indent="0">
              <a:buNone/>
            </a:pPr>
            <a:endParaRPr lang="en-US" sz="2400" dirty="0"/>
          </a:p>
          <a:p>
            <a:pPr marL="0" indent="0">
              <a:buNone/>
            </a:pPr>
            <a:endParaRPr lang="en-US" sz="2400" dirty="0"/>
          </a:p>
        </p:txBody>
      </p:sp>
      <p:sp>
        <p:nvSpPr>
          <p:cNvPr id="4" name="Title 1">
            <a:extLst>
              <a:ext uri="{FF2B5EF4-FFF2-40B4-BE49-F238E27FC236}">
                <a16:creationId xmlns:a16="http://schemas.microsoft.com/office/drawing/2014/main" id="{0E3B470C-9ECD-C5B6-B3D3-3EF2A48E494E}"/>
              </a:ext>
            </a:extLst>
          </p:cNvPr>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Coordinate System</a:t>
            </a:r>
          </a:p>
        </p:txBody>
      </p:sp>
      <p:sp>
        <p:nvSpPr>
          <p:cNvPr id="9" name="TextBox 8">
            <a:extLst>
              <a:ext uri="{FF2B5EF4-FFF2-40B4-BE49-F238E27FC236}">
                <a16:creationId xmlns:a16="http://schemas.microsoft.com/office/drawing/2014/main" id="{6DC1620C-D7EC-585E-8E43-7EC6D6F355E8}"/>
              </a:ext>
            </a:extLst>
          </p:cNvPr>
          <p:cNvSpPr txBox="1"/>
          <p:nvPr/>
        </p:nvSpPr>
        <p:spPr>
          <a:xfrm>
            <a:off x="699054" y="2085181"/>
            <a:ext cx="10255338" cy="1569660"/>
          </a:xfrm>
          <a:prstGeom prst="rect">
            <a:avLst/>
          </a:prstGeom>
          <a:noFill/>
        </p:spPr>
        <p:txBody>
          <a:bodyPr wrap="square">
            <a:spAutoFit/>
          </a:bodyPr>
          <a:lstStyle/>
          <a:p>
            <a:r>
              <a:rPr lang="en-US" sz="2400" dirty="0"/>
              <a:t>Coordinate systems enable geographic datasets to use common locations for integration. A coordinate system is a reference system used to represent the locations of geographic features, imagery, and observations such as GPS locations within a common geographic framework</a:t>
            </a:r>
          </a:p>
        </p:txBody>
      </p:sp>
      <p:graphicFrame>
        <p:nvGraphicFramePr>
          <p:cNvPr id="2" name="Table 1">
            <a:extLst>
              <a:ext uri="{FF2B5EF4-FFF2-40B4-BE49-F238E27FC236}">
                <a16:creationId xmlns:a16="http://schemas.microsoft.com/office/drawing/2014/main" id="{1D176B1C-4E21-8E50-D105-4348B0F16A0C}"/>
              </a:ext>
            </a:extLst>
          </p:cNvPr>
          <p:cNvGraphicFramePr>
            <a:graphicFrameLocks noGrp="1"/>
          </p:cNvGraphicFramePr>
          <p:nvPr>
            <p:extLst>
              <p:ext uri="{D42A27DB-BD31-4B8C-83A1-F6EECF244321}">
                <p14:modId xmlns:p14="http://schemas.microsoft.com/office/powerpoint/2010/main" val="741375751"/>
              </p:ext>
            </p:extLst>
          </p:nvPr>
        </p:nvGraphicFramePr>
        <p:xfrm>
          <a:off x="902519" y="3775467"/>
          <a:ext cx="8556171" cy="2110740"/>
        </p:xfrm>
        <a:graphic>
          <a:graphicData uri="http://schemas.openxmlformats.org/drawingml/2006/table">
            <a:tbl>
              <a:tblPr/>
              <a:tblGrid>
                <a:gridCol w="2852057">
                  <a:extLst>
                    <a:ext uri="{9D8B030D-6E8A-4147-A177-3AD203B41FA5}">
                      <a16:colId xmlns:a16="http://schemas.microsoft.com/office/drawing/2014/main" val="361274904"/>
                    </a:ext>
                  </a:extLst>
                </a:gridCol>
                <a:gridCol w="2852057">
                  <a:extLst>
                    <a:ext uri="{9D8B030D-6E8A-4147-A177-3AD203B41FA5}">
                      <a16:colId xmlns:a16="http://schemas.microsoft.com/office/drawing/2014/main" val="4138721464"/>
                    </a:ext>
                  </a:extLst>
                </a:gridCol>
                <a:gridCol w="2852057">
                  <a:extLst>
                    <a:ext uri="{9D8B030D-6E8A-4147-A177-3AD203B41FA5}">
                      <a16:colId xmlns:a16="http://schemas.microsoft.com/office/drawing/2014/main" val="2632136562"/>
                    </a:ext>
                  </a:extLst>
                </a:gridCol>
              </a:tblGrid>
              <a:tr h="0">
                <a:tc>
                  <a:txBody>
                    <a:bodyPr/>
                    <a:lstStyle/>
                    <a:p>
                      <a:pPr algn="l" fontAlgn="t">
                        <a:buNone/>
                      </a:pPr>
                      <a:endParaRPr lang="en-US" b="0" dirty="0">
                        <a:effectLst/>
                      </a:endParaRPr>
                    </a:p>
                  </a:txBody>
                  <a:tcPr marL="57150" marR="57150" marT="31750" marB="31750">
                    <a:lnL>
                      <a:noFill/>
                    </a:lnL>
                    <a:lnR>
                      <a:noFill/>
                    </a:lnR>
                    <a:lnT>
                      <a:noFill/>
                    </a:lnT>
                    <a:lnB>
                      <a:noFill/>
                    </a:lnB>
                    <a:noFill/>
                  </a:tcPr>
                </a:tc>
                <a:tc>
                  <a:txBody>
                    <a:bodyPr/>
                    <a:lstStyle/>
                    <a:p>
                      <a:pPr algn="l" fontAlgn="t">
                        <a:buNone/>
                      </a:pPr>
                      <a:endParaRPr lang="en-US" b="0" dirty="0">
                        <a:effectLst/>
                      </a:endParaRPr>
                    </a:p>
                  </a:txBody>
                  <a:tcPr marL="57150" marR="57150" marT="31750" marB="31750">
                    <a:lnL>
                      <a:noFill/>
                    </a:lnL>
                    <a:lnR>
                      <a:noFill/>
                    </a:lnR>
                    <a:lnT>
                      <a:noFill/>
                    </a:lnT>
                    <a:lnB>
                      <a:noFill/>
                    </a:lnB>
                    <a:noFill/>
                  </a:tcPr>
                </a:tc>
                <a:tc>
                  <a:txBody>
                    <a:bodyPr/>
                    <a:lstStyle/>
                    <a:p>
                      <a:pPr algn="l" fontAlgn="t">
                        <a:buNone/>
                      </a:pPr>
                      <a:endParaRPr lang="en-US" b="0" dirty="0">
                        <a:effectLst/>
                      </a:endParaRPr>
                    </a:p>
                  </a:txBody>
                  <a:tcPr marL="57150" marR="57150" marT="31750" marB="31750">
                    <a:lnL>
                      <a:noFill/>
                    </a:lnL>
                    <a:lnR>
                      <a:noFill/>
                    </a:lnR>
                    <a:lnT>
                      <a:noFill/>
                    </a:lnT>
                    <a:lnB>
                      <a:noFill/>
                    </a:lnB>
                    <a:noFill/>
                  </a:tcPr>
                </a:tc>
                <a:extLst>
                  <a:ext uri="{0D108BD9-81ED-4DB2-BD59-A6C34878D82A}">
                    <a16:rowId xmlns:a16="http://schemas.microsoft.com/office/drawing/2014/main" val="4206671389"/>
                  </a:ext>
                </a:extLst>
              </a:tr>
              <a:tr h="0">
                <a:tc>
                  <a:txBody>
                    <a:bodyPr/>
                    <a:lstStyle/>
                    <a:p>
                      <a:pPr algn="l" fontAlgn="t" latinLnBrk="0">
                        <a:buNone/>
                      </a:pPr>
                      <a:r>
                        <a:rPr lang="en-US" b="1" dirty="0">
                          <a:effectLst/>
                        </a:rPr>
                        <a:t>Latitude</a:t>
                      </a:r>
                      <a:endParaRPr lang="en-US" dirty="0">
                        <a:effectLst/>
                      </a:endParaRPr>
                    </a:p>
                  </a:txBody>
                  <a:tcPr marL="57150" marR="57150" marT="31750" marB="31750">
                    <a:lnL>
                      <a:noFill/>
                    </a:lnL>
                    <a:lnR>
                      <a:noFill/>
                    </a:lnR>
                    <a:lnT>
                      <a:noFill/>
                    </a:lnT>
                    <a:lnB>
                      <a:noFill/>
                    </a:lnB>
                    <a:noFill/>
                  </a:tcPr>
                </a:tc>
                <a:tc>
                  <a:txBody>
                    <a:bodyPr/>
                    <a:lstStyle/>
                    <a:p>
                      <a:pPr algn="l" fontAlgn="t" latinLnBrk="0">
                        <a:buNone/>
                      </a:pPr>
                      <a:r>
                        <a:rPr lang="en-US" dirty="0">
                          <a:effectLst/>
                        </a:rPr>
                        <a:t>How far </a:t>
                      </a:r>
                      <a:r>
                        <a:rPr lang="en-US" b="1" dirty="0">
                          <a:effectLst/>
                        </a:rPr>
                        <a:t>north or south</a:t>
                      </a:r>
                      <a:r>
                        <a:rPr lang="en-US" dirty="0">
                          <a:effectLst/>
                        </a:rPr>
                        <a:t> you are from the equator</a:t>
                      </a:r>
                    </a:p>
                  </a:txBody>
                  <a:tcPr marL="57150" marR="57150" marT="31750" marB="31750">
                    <a:lnL>
                      <a:noFill/>
                    </a:lnL>
                    <a:lnR>
                      <a:noFill/>
                    </a:lnR>
                    <a:lnT>
                      <a:noFill/>
                    </a:lnT>
                    <a:lnB>
                      <a:noFill/>
                    </a:lnB>
                    <a:noFill/>
                  </a:tcPr>
                </a:tc>
                <a:tc>
                  <a:txBody>
                    <a:bodyPr/>
                    <a:lstStyle/>
                    <a:p>
                      <a:pPr algn="l" fontAlgn="t" latinLnBrk="0">
                        <a:buNone/>
                      </a:pPr>
                      <a:r>
                        <a:rPr lang="en-US" dirty="0">
                          <a:effectLst/>
                        </a:rPr>
                        <a:t>~34.5° N</a:t>
                      </a:r>
                    </a:p>
                  </a:txBody>
                  <a:tcPr marL="57150" marR="57150" marT="31750" marB="31750">
                    <a:lnL>
                      <a:noFill/>
                    </a:lnL>
                    <a:lnR>
                      <a:noFill/>
                    </a:lnR>
                    <a:lnT>
                      <a:noFill/>
                    </a:lnT>
                    <a:lnB>
                      <a:noFill/>
                    </a:lnB>
                    <a:noFill/>
                  </a:tcPr>
                </a:tc>
                <a:extLst>
                  <a:ext uri="{0D108BD9-81ED-4DB2-BD59-A6C34878D82A}">
                    <a16:rowId xmlns:a16="http://schemas.microsoft.com/office/drawing/2014/main" val="2699019641"/>
                  </a:ext>
                </a:extLst>
              </a:tr>
              <a:tr h="0">
                <a:tc>
                  <a:txBody>
                    <a:bodyPr/>
                    <a:lstStyle/>
                    <a:p>
                      <a:pPr algn="l" fontAlgn="t" latinLnBrk="0">
                        <a:buNone/>
                      </a:pPr>
                      <a:r>
                        <a:rPr lang="en-US" b="1" dirty="0">
                          <a:effectLst/>
                        </a:rPr>
                        <a:t>Longitude</a:t>
                      </a:r>
                      <a:endParaRPr lang="en-US" dirty="0">
                        <a:effectLst/>
                      </a:endParaRPr>
                    </a:p>
                  </a:txBody>
                  <a:tcPr marL="57150" marR="57150" marT="31750" marB="31750">
                    <a:lnL>
                      <a:noFill/>
                    </a:lnL>
                    <a:lnR>
                      <a:noFill/>
                    </a:lnR>
                    <a:lnT>
                      <a:noFill/>
                    </a:lnT>
                    <a:lnB>
                      <a:noFill/>
                    </a:lnB>
                    <a:noFill/>
                  </a:tcPr>
                </a:tc>
                <a:tc>
                  <a:txBody>
                    <a:bodyPr/>
                    <a:lstStyle/>
                    <a:p>
                      <a:pPr algn="l" fontAlgn="t" latinLnBrk="0">
                        <a:buNone/>
                      </a:pPr>
                      <a:r>
                        <a:rPr lang="en-US" dirty="0">
                          <a:effectLst/>
                        </a:rPr>
                        <a:t>How far </a:t>
                      </a:r>
                      <a:r>
                        <a:rPr lang="en-US" b="1" dirty="0">
                          <a:effectLst/>
                        </a:rPr>
                        <a:t>east or west</a:t>
                      </a:r>
                      <a:r>
                        <a:rPr lang="en-US" dirty="0">
                          <a:effectLst/>
                        </a:rPr>
                        <a:t> you are from Greenwich, UK (like vertical slices of the orange)</a:t>
                      </a:r>
                    </a:p>
                  </a:txBody>
                  <a:tcPr marL="57150" marR="57150" marT="31750" marB="31750">
                    <a:lnL>
                      <a:noFill/>
                    </a:lnL>
                    <a:lnR>
                      <a:noFill/>
                    </a:lnR>
                    <a:lnT>
                      <a:noFill/>
                    </a:lnT>
                    <a:lnB>
                      <a:noFill/>
                    </a:lnB>
                    <a:noFill/>
                  </a:tcPr>
                </a:tc>
                <a:tc>
                  <a:txBody>
                    <a:bodyPr/>
                    <a:lstStyle/>
                    <a:p>
                      <a:pPr algn="l" fontAlgn="t" latinLnBrk="0">
                        <a:buNone/>
                      </a:pPr>
                      <a:r>
                        <a:rPr lang="en-US" dirty="0">
                          <a:effectLst/>
                        </a:rPr>
                        <a:t>~69.2°</a:t>
                      </a:r>
                    </a:p>
                  </a:txBody>
                  <a:tcPr marL="57150" marR="57150" marT="31750" marB="31750">
                    <a:lnL>
                      <a:noFill/>
                    </a:lnL>
                    <a:lnR>
                      <a:noFill/>
                    </a:lnR>
                    <a:lnT>
                      <a:noFill/>
                    </a:lnT>
                    <a:lnB>
                      <a:noFill/>
                    </a:lnB>
                    <a:noFill/>
                  </a:tcPr>
                </a:tc>
                <a:extLst>
                  <a:ext uri="{0D108BD9-81ED-4DB2-BD59-A6C34878D82A}">
                    <a16:rowId xmlns:a16="http://schemas.microsoft.com/office/drawing/2014/main" val="1219092691"/>
                  </a:ext>
                </a:extLst>
              </a:tr>
            </a:tbl>
          </a:graphicData>
        </a:graphic>
      </p:graphicFrame>
      <p:sp>
        <p:nvSpPr>
          <p:cNvPr id="6" name="TextBox 5">
            <a:extLst>
              <a:ext uri="{FF2B5EF4-FFF2-40B4-BE49-F238E27FC236}">
                <a16:creationId xmlns:a16="http://schemas.microsoft.com/office/drawing/2014/main" id="{C11DFAEE-4946-09B7-AAFE-7FD2D662F958}"/>
              </a:ext>
            </a:extLst>
          </p:cNvPr>
          <p:cNvSpPr txBox="1"/>
          <p:nvPr/>
        </p:nvSpPr>
        <p:spPr>
          <a:xfrm>
            <a:off x="793662" y="3775467"/>
            <a:ext cx="6096000" cy="369332"/>
          </a:xfrm>
          <a:prstGeom prst="rect">
            <a:avLst/>
          </a:prstGeom>
          <a:noFill/>
        </p:spPr>
        <p:txBody>
          <a:bodyPr wrap="square">
            <a:spAutoFit/>
          </a:bodyPr>
          <a:lstStyle/>
          <a:p>
            <a:pPr indent="0" algn="l">
              <a:spcBef>
                <a:spcPts val="750"/>
              </a:spcBef>
              <a:spcAft>
                <a:spcPts val="750"/>
              </a:spcAft>
              <a:buNone/>
            </a:pPr>
            <a:r>
              <a:rPr lang="en-US" sz="1800" b="0" i="0" dirty="0">
                <a:solidFill>
                  <a:srgbClr val="141414"/>
                </a:solidFill>
                <a:effectLst/>
                <a:latin typeface="Segoe WPC"/>
              </a:rPr>
              <a:t>Every place has an address using </a:t>
            </a:r>
            <a:r>
              <a:rPr lang="en-US" sz="1800" b="1" i="0" dirty="0">
                <a:solidFill>
                  <a:srgbClr val="141414"/>
                </a:solidFill>
                <a:effectLst/>
                <a:latin typeface="Segoe WPC"/>
              </a:rPr>
              <a:t>coordinates</a:t>
            </a:r>
            <a:r>
              <a:rPr lang="en-US" sz="1800" b="0" i="0" dirty="0">
                <a:solidFill>
                  <a:srgbClr val="141414"/>
                </a:solidFill>
                <a:effectLst/>
                <a:latin typeface="Segoe WPC"/>
              </a:rPr>
              <a:t>:</a:t>
            </a:r>
          </a:p>
        </p:txBody>
      </p:sp>
    </p:spTree>
    <p:extLst>
      <p:ext uri="{BB962C8B-B14F-4D97-AF65-F5344CB8AC3E}">
        <p14:creationId xmlns:p14="http://schemas.microsoft.com/office/powerpoint/2010/main" val="2042082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AC7265C-533E-8F4F-6757-D1AD5C631A11}"/>
              </a:ext>
            </a:extLst>
          </p:cNvPr>
          <p:cNvSpPr txBox="1">
            <a:spLocks/>
          </p:cNvSpPr>
          <p:nvPr/>
        </p:nvSpPr>
        <p:spPr>
          <a:xfrm>
            <a:off x="579809" y="399455"/>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What is the shape of earth?</a:t>
            </a:r>
          </a:p>
        </p:txBody>
      </p:sp>
      <p:sp>
        <p:nvSpPr>
          <p:cNvPr id="13" name="Content Placeholder 12">
            <a:extLst>
              <a:ext uri="{FF2B5EF4-FFF2-40B4-BE49-F238E27FC236}">
                <a16:creationId xmlns:a16="http://schemas.microsoft.com/office/drawing/2014/main" id="{A9BC8337-8281-7A11-0529-D5A17E4A9EF0}"/>
              </a:ext>
            </a:extLst>
          </p:cNvPr>
          <p:cNvSpPr>
            <a:spLocks noGrp="1"/>
          </p:cNvSpPr>
          <p:nvPr>
            <p:ph idx="1"/>
          </p:nvPr>
        </p:nvSpPr>
        <p:spPr>
          <a:xfrm>
            <a:off x="579809" y="1803853"/>
            <a:ext cx="5777448" cy="4351338"/>
          </a:xfrm>
        </p:spPr>
        <p:txBody>
          <a:bodyPr/>
          <a:lstStyle/>
          <a:p>
            <a:pPr marL="0" indent="0">
              <a:buNone/>
            </a:pPr>
            <a:r>
              <a:rPr lang="en-US" sz="2400" dirty="0"/>
              <a:t>Earth is not a perfect Sphere (like football ball) — nor Ellipsoid/spheroid. The earth shape is Geoid. it is slightly squashed at the poles, like a slightly squashed football ball.</a:t>
            </a:r>
          </a:p>
          <a:p>
            <a:pPr marL="0" indent="0">
              <a:buNone/>
            </a:pPr>
            <a:r>
              <a:rPr lang="en-US" sz="2400" dirty="0"/>
              <a:t>The earth diameter is different; in Polar diameter (north-south): ~</a:t>
            </a:r>
            <a:r>
              <a:rPr lang="en-US" sz="2400" b="1" dirty="0"/>
              <a:t>12,714 Km </a:t>
            </a:r>
            <a:r>
              <a:rPr lang="en-US" sz="2400" dirty="0"/>
              <a:t>and Equatorial diameter (east-west): ~</a:t>
            </a:r>
            <a:r>
              <a:rPr lang="en-US" sz="2400" b="1" dirty="0"/>
              <a:t>12,756</a:t>
            </a:r>
            <a:r>
              <a:rPr lang="en-US" sz="2400" dirty="0"/>
              <a:t> Km. The difference ~</a:t>
            </a:r>
            <a:r>
              <a:rPr lang="en-US" sz="2400" b="1" dirty="0"/>
              <a:t>42</a:t>
            </a:r>
            <a:r>
              <a:rPr lang="en-US" sz="2400" dirty="0"/>
              <a:t> km.</a:t>
            </a:r>
          </a:p>
        </p:txBody>
      </p:sp>
      <p:pic>
        <p:nvPicPr>
          <p:cNvPr id="14" name="Picture 13" descr="Earth's Structure: A Simple Exploration (Video)">
            <a:extLst>
              <a:ext uri="{FF2B5EF4-FFF2-40B4-BE49-F238E27FC236}">
                <a16:creationId xmlns:a16="http://schemas.microsoft.com/office/drawing/2014/main" id="{5668B970-9B6A-9D3F-E58F-0B549979E119}"/>
              </a:ext>
            </a:extLst>
          </p:cNvPr>
          <p:cNvPicPr>
            <a:picLocks noChangeAspect="1"/>
          </p:cNvPicPr>
          <p:nvPr/>
        </p:nvPicPr>
        <p:blipFill>
          <a:blip r:embed="rId2"/>
          <a:srcRect l="22738" t="8576" r="21548" b="6826"/>
          <a:stretch>
            <a:fillRect/>
          </a:stretch>
        </p:blipFill>
        <p:spPr>
          <a:xfrm>
            <a:off x="8214553" y="279998"/>
            <a:ext cx="3320145" cy="2835809"/>
          </a:xfrm>
          <a:prstGeom prst="rect">
            <a:avLst/>
          </a:prstGeom>
          <a:solidFill>
            <a:schemeClr val="bg1"/>
          </a:solidFill>
        </p:spPr>
      </p:pic>
      <p:pic>
        <p:nvPicPr>
          <p:cNvPr id="18" name="Picture 17">
            <a:extLst>
              <a:ext uri="{FF2B5EF4-FFF2-40B4-BE49-F238E27FC236}">
                <a16:creationId xmlns:a16="http://schemas.microsoft.com/office/drawing/2014/main" id="{7E10A590-1431-421E-90F1-093EEC6C0600}"/>
              </a:ext>
            </a:extLst>
          </p:cNvPr>
          <p:cNvPicPr>
            <a:picLocks noChangeAspect="1"/>
          </p:cNvPicPr>
          <p:nvPr/>
        </p:nvPicPr>
        <p:blipFill>
          <a:blip r:embed="rId3"/>
          <a:srcRect r="4502"/>
          <a:stretch>
            <a:fillRect/>
          </a:stretch>
        </p:blipFill>
        <p:spPr>
          <a:xfrm>
            <a:off x="6096000" y="3235264"/>
            <a:ext cx="5610050" cy="3156869"/>
          </a:xfrm>
          <a:prstGeom prst="rect">
            <a:avLst/>
          </a:prstGeom>
        </p:spPr>
      </p:pic>
    </p:spTree>
    <p:extLst>
      <p:ext uri="{BB962C8B-B14F-4D97-AF65-F5344CB8AC3E}">
        <p14:creationId xmlns:p14="http://schemas.microsoft.com/office/powerpoint/2010/main" val="3922356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0AD3-413C-B816-35BF-F077436B938A}"/>
              </a:ext>
            </a:extLst>
          </p:cNvPr>
          <p:cNvSpPr>
            <a:spLocks noGrp="1"/>
          </p:cNvSpPr>
          <p:nvPr>
            <p:ph type="title"/>
          </p:nvPr>
        </p:nvSpPr>
        <p:spPr/>
        <p:txBody>
          <a:bodyPr/>
          <a:lstStyle/>
          <a:p>
            <a:r>
              <a:rPr lang="en-US" dirty="0"/>
              <a:t>What is a datum? 🌍</a:t>
            </a:r>
          </a:p>
        </p:txBody>
      </p:sp>
      <p:sp>
        <p:nvSpPr>
          <p:cNvPr id="3" name="Content Placeholder 2">
            <a:extLst>
              <a:ext uri="{FF2B5EF4-FFF2-40B4-BE49-F238E27FC236}">
                <a16:creationId xmlns:a16="http://schemas.microsoft.com/office/drawing/2014/main" id="{1301B2AF-D72A-7CD7-DB51-65F551652B73}"/>
              </a:ext>
            </a:extLst>
          </p:cNvPr>
          <p:cNvSpPr>
            <a:spLocks noGrp="1"/>
          </p:cNvSpPr>
          <p:nvPr>
            <p:ph idx="1"/>
          </p:nvPr>
        </p:nvSpPr>
        <p:spPr>
          <a:xfrm>
            <a:off x="838200" y="1589247"/>
            <a:ext cx="10515600" cy="4351338"/>
          </a:xfrm>
        </p:spPr>
        <p:txBody>
          <a:bodyPr>
            <a:normAutofit fontScale="70000" lnSpcReduction="20000"/>
          </a:bodyPr>
          <a:lstStyle/>
          <a:p>
            <a:pPr marL="0" indent="0">
              <a:buNone/>
            </a:pPr>
            <a:r>
              <a:rPr lang="en-US" dirty="0"/>
              <a:t>Simple definition: A datum is the model of Earth's shape that coordinates are measured from.</a:t>
            </a:r>
          </a:p>
          <a:p>
            <a:endParaRPr lang="en-US" dirty="0"/>
          </a:p>
          <a:p>
            <a:r>
              <a:rPr lang="en-US" dirty="0"/>
              <a:t>The size and shape of that football (the ellipsoid)</a:t>
            </a:r>
          </a:p>
          <a:p>
            <a:r>
              <a:rPr lang="en-US" dirty="0"/>
              <a:t>Where the center of the model sits relative to the real Earth</a:t>
            </a:r>
          </a:p>
          <a:p>
            <a:r>
              <a:rPr lang="en-US" dirty="0"/>
              <a:t>Analogy: Imagine two people measuring your height:</a:t>
            </a:r>
          </a:p>
          <a:p>
            <a:endParaRPr lang="en-US" dirty="0"/>
          </a:p>
          <a:p>
            <a:pPr marL="0" indent="0">
              <a:buNone/>
            </a:pPr>
            <a:r>
              <a:rPr lang="en-US" dirty="0"/>
              <a:t>One stands you on the floor → 150 cm</a:t>
            </a:r>
          </a:p>
          <a:p>
            <a:pPr lvl="1"/>
            <a:r>
              <a:rPr lang="en-US" dirty="0"/>
              <a:t>One stands you on a thick book → 155 cm</a:t>
            </a:r>
          </a:p>
          <a:p>
            <a:pPr lvl="1"/>
            <a:r>
              <a:rPr lang="en-US" dirty="0"/>
              <a:t>Same person, different starting surface = different number.</a:t>
            </a:r>
          </a:p>
          <a:p>
            <a:pPr lvl="1"/>
            <a:r>
              <a:rPr lang="en-US" dirty="0"/>
              <a:t>Same real place on Earth, different datum = slightly different coordinates.</a:t>
            </a:r>
          </a:p>
          <a:p>
            <a:r>
              <a:rPr lang="en-US" dirty="0"/>
              <a:t>Why it matters: If Map A uses one datum and Map B uses another, a hospital, pipeline, or fiber cable can appear hundreds of meters in the wrong place when you overlay them.</a:t>
            </a:r>
          </a:p>
        </p:txBody>
      </p:sp>
      <p:sp>
        <p:nvSpPr>
          <p:cNvPr id="7" name="TextBox 6">
            <a:extLst>
              <a:ext uri="{FF2B5EF4-FFF2-40B4-BE49-F238E27FC236}">
                <a16:creationId xmlns:a16="http://schemas.microsoft.com/office/drawing/2014/main" id="{8A8AFB19-787C-97C0-8F37-68E27AD49F7C}"/>
              </a:ext>
            </a:extLst>
          </p:cNvPr>
          <p:cNvSpPr txBox="1"/>
          <p:nvPr/>
        </p:nvSpPr>
        <p:spPr>
          <a:xfrm>
            <a:off x="838200" y="5294254"/>
            <a:ext cx="9742715" cy="646331"/>
          </a:xfrm>
          <a:prstGeom prst="rect">
            <a:avLst/>
          </a:prstGeom>
          <a:noFill/>
        </p:spPr>
        <p:txBody>
          <a:bodyPr wrap="square">
            <a:spAutoFit/>
          </a:bodyPr>
          <a:lstStyle/>
          <a:p>
            <a:r>
              <a:rPr lang="en-US" dirty="0"/>
              <a:t>These are some example of different datums used,</a:t>
            </a:r>
            <a:r>
              <a:rPr lang="en-US" b="1" dirty="0"/>
              <a:t> NAD27 / NAD83</a:t>
            </a:r>
            <a:r>
              <a:rPr lang="en-US" dirty="0"/>
              <a:t> (North American Datum), </a:t>
            </a:r>
            <a:r>
              <a:rPr lang="en-US" b="1" dirty="0"/>
              <a:t>ETRS89</a:t>
            </a:r>
            <a:r>
              <a:rPr lang="en-US" dirty="0"/>
              <a:t> (European Terrestrial Reference System 1989), and </a:t>
            </a:r>
            <a:r>
              <a:rPr lang="en-US" b="1" dirty="0"/>
              <a:t>WGS84</a:t>
            </a:r>
          </a:p>
        </p:txBody>
      </p:sp>
    </p:spTree>
    <p:extLst>
      <p:ext uri="{BB962C8B-B14F-4D97-AF65-F5344CB8AC3E}">
        <p14:creationId xmlns:p14="http://schemas.microsoft.com/office/powerpoint/2010/main" val="1269304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5CD6D-7E35-275A-02FE-757A39ACE866}"/>
              </a:ext>
            </a:extLst>
          </p:cNvPr>
          <p:cNvSpPr>
            <a:spLocks noGrp="1"/>
          </p:cNvSpPr>
          <p:nvPr>
            <p:ph type="title"/>
          </p:nvPr>
        </p:nvSpPr>
        <p:spPr>
          <a:xfrm>
            <a:off x="478972" y="909410"/>
            <a:ext cx="10515600" cy="1325563"/>
          </a:xfrm>
        </p:spPr>
        <p:txBody>
          <a:bodyPr/>
          <a:lstStyle/>
          <a:p>
            <a:r>
              <a:rPr lang="en-US" dirty="0">
                <a:solidFill>
                  <a:srgbClr val="141414"/>
                </a:solidFill>
                <a:latin typeface="Segoe WPC"/>
              </a:rPr>
              <a:t>What is WGS84? 🛰️</a:t>
            </a:r>
            <a:br>
              <a:rPr lang="en-US" dirty="0">
                <a:solidFill>
                  <a:srgbClr val="141414"/>
                </a:solidFill>
                <a:latin typeface="Segoe WPC"/>
              </a:rPr>
            </a:br>
            <a:endParaRPr lang="en-US" dirty="0"/>
          </a:p>
        </p:txBody>
      </p:sp>
      <p:graphicFrame>
        <p:nvGraphicFramePr>
          <p:cNvPr id="4" name="Content Placeholder 3">
            <a:extLst>
              <a:ext uri="{FF2B5EF4-FFF2-40B4-BE49-F238E27FC236}">
                <a16:creationId xmlns:a16="http://schemas.microsoft.com/office/drawing/2014/main" id="{612345E4-98B3-C2E0-6B5B-B992F8858DEF}"/>
              </a:ext>
            </a:extLst>
          </p:cNvPr>
          <p:cNvGraphicFramePr>
            <a:graphicFrameLocks noGrp="1"/>
          </p:cNvGraphicFramePr>
          <p:nvPr>
            <p:ph idx="1"/>
            <p:extLst>
              <p:ext uri="{D42A27DB-BD31-4B8C-83A1-F6EECF244321}">
                <p14:modId xmlns:p14="http://schemas.microsoft.com/office/powerpoint/2010/main" val="755129221"/>
              </p:ext>
            </p:extLst>
          </p:nvPr>
        </p:nvGraphicFramePr>
        <p:xfrm>
          <a:off x="729341" y="2834546"/>
          <a:ext cx="10515600" cy="2301240"/>
        </p:xfrm>
        <a:graphic>
          <a:graphicData uri="http://schemas.openxmlformats.org/drawingml/2006/table">
            <a:tbl>
              <a:tblPr/>
              <a:tblGrid>
                <a:gridCol w="5257800">
                  <a:extLst>
                    <a:ext uri="{9D8B030D-6E8A-4147-A177-3AD203B41FA5}">
                      <a16:colId xmlns:a16="http://schemas.microsoft.com/office/drawing/2014/main" val="2078734133"/>
                    </a:ext>
                  </a:extLst>
                </a:gridCol>
                <a:gridCol w="5257800">
                  <a:extLst>
                    <a:ext uri="{9D8B030D-6E8A-4147-A177-3AD203B41FA5}">
                      <a16:colId xmlns:a16="http://schemas.microsoft.com/office/drawing/2014/main" val="2544360179"/>
                    </a:ext>
                  </a:extLst>
                </a:gridCol>
              </a:tblGrid>
              <a:tr h="0">
                <a:tc>
                  <a:txBody>
                    <a:bodyPr/>
                    <a:lstStyle/>
                    <a:p>
                      <a:pPr algn="l" fontAlgn="t">
                        <a:buNone/>
                      </a:pPr>
                      <a:r>
                        <a:rPr lang="en-US" b="0">
                          <a:effectLst/>
                        </a:rPr>
                        <a:t>Feature</a:t>
                      </a:r>
                    </a:p>
                  </a:txBody>
                  <a:tcPr marL="57150" marR="57150" marT="31750" marB="31750">
                    <a:lnL>
                      <a:noFill/>
                    </a:lnL>
                    <a:lnR>
                      <a:noFill/>
                    </a:lnR>
                    <a:lnT>
                      <a:noFill/>
                    </a:lnT>
                    <a:lnB>
                      <a:noFill/>
                    </a:lnB>
                    <a:noFill/>
                  </a:tcPr>
                </a:tc>
                <a:tc>
                  <a:txBody>
                    <a:bodyPr/>
                    <a:lstStyle/>
                    <a:p>
                      <a:pPr algn="l" fontAlgn="t">
                        <a:buNone/>
                      </a:pPr>
                      <a:r>
                        <a:rPr lang="en-US" b="0" dirty="0">
                          <a:effectLst/>
                        </a:rPr>
                        <a:t>WGS84</a:t>
                      </a:r>
                    </a:p>
                  </a:txBody>
                  <a:tcPr marL="57150" marR="57150" marT="31750" marB="31750">
                    <a:lnL>
                      <a:noFill/>
                    </a:lnL>
                    <a:lnR>
                      <a:noFill/>
                    </a:lnR>
                    <a:lnT>
                      <a:noFill/>
                    </a:lnT>
                    <a:lnB>
                      <a:noFill/>
                    </a:lnB>
                    <a:noFill/>
                  </a:tcPr>
                </a:tc>
                <a:extLst>
                  <a:ext uri="{0D108BD9-81ED-4DB2-BD59-A6C34878D82A}">
                    <a16:rowId xmlns:a16="http://schemas.microsoft.com/office/drawing/2014/main" val="3812487824"/>
                  </a:ext>
                </a:extLst>
              </a:tr>
              <a:tr h="0">
                <a:tc>
                  <a:txBody>
                    <a:bodyPr/>
                    <a:lstStyle/>
                    <a:p>
                      <a:pPr algn="l" fontAlgn="t" latinLnBrk="0">
                        <a:buNone/>
                      </a:pPr>
                      <a:r>
                        <a:rPr lang="en-US">
                          <a:effectLst/>
                        </a:rPr>
                        <a:t>Full name</a:t>
                      </a:r>
                    </a:p>
                  </a:txBody>
                  <a:tcPr marL="57150" marR="57150" marT="31750" marB="31750">
                    <a:lnL>
                      <a:noFill/>
                    </a:lnL>
                    <a:lnR>
                      <a:noFill/>
                    </a:lnR>
                    <a:lnT>
                      <a:noFill/>
                    </a:lnT>
                    <a:lnB>
                      <a:noFill/>
                    </a:lnB>
                    <a:noFill/>
                  </a:tcPr>
                </a:tc>
                <a:tc>
                  <a:txBody>
                    <a:bodyPr/>
                    <a:lstStyle/>
                    <a:p>
                      <a:pPr algn="l" fontAlgn="t" latinLnBrk="0">
                        <a:buNone/>
                      </a:pPr>
                      <a:r>
                        <a:rPr lang="en-US">
                          <a:effectLst/>
                        </a:rPr>
                        <a:t>World Geodetic System 1984</a:t>
                      </a:r>
                    </a:p>
                  </a:txBody>
                  <a:tcPr marL="57150" marR="57150" marT="31750" marB="31750">
                    <a:lnL>
                      <a:noFill/>
                    </a:lnL>
                    <a:lnR>
                      <a:noFill/>
                    </a:lnR>
                    <a:lnT>
                      <a:noFill/>
                    </a:lnT>
                    <a:lnB>
                      <a:noFill/>
                    </a:lnB>
                    <a:noFill/>
                  </a:tcPr>
                </a:tc>
                <a:extLst>
                  <a:ext uri="{0D108BD9-81ED-4DB2-BD59-A6C34878D82A}">
                    <a16:rowId xmlns:a16="http://schemas.microsoft.com/office/drawing/2014/main" val="2356366772"/>
                  </a:ext>
                </a:extLst>
              </a:tr>
              <a:tr h="0">
                <a:tc>
                  <a:txBody>
                    <a:bodyPr/>
                    <a:lstStyle/>
                    <a:p>
                      <a:pPr algn="l" fontAlgn="t" latinLnBrk="0">
                        <a:buNone/>
                      </a:pPr>
                      <a:r>
                        <a:rPr lang="en-US">
                          <a:effectLst/>
                        </a:rPr>
                        <a:t>Ellipsoid</a:t>
                      </a:r>
                    </a:p>
                  </a:txBody>
                  <a:tcPr marL="57150" marR="57150" marT="31750" marB="31750">
                    <a:lnL>
                      <a:noFill/>
                    </a:lnL>
                    <a:lnR>
                      <a:noFill/>
                    </a:lnR>
                    <a:lnT>
                      <a:noFill/>
                    </a:lnT>
                    <a:lnB>
                      <a:noFill/>
                    </a:lnB>
                    <a:noFill/>
                  </a:tcPr>
                </a:tc>
                <a:tc>
                  <a:txBody>
                    <a:bodyPr/>
                    <a:lstStyle/>
                    <a:p>
                      <a:pPr algn="l" fontAlgn="t" latinLnBrk="0">
                        <a:buNone/>
                      </a:pPr>
                      <a:r>
                        <a:rPr lang="en-US">
                          <a:effectLst/>
                        </a:rPr>
                        <a:t>WGS 84 ellipsoid</a:t>
                      </a:r>
                    </a:p>
                  </a:txBody>
                  <a:tcPr marL="57150" marR="57150" marT="31750" marB="31750">
                    <a:lnL>
                      <a:noFill/>
                    </a:lnL>
                    <a:lnR>
                      <a:noFill/>
                    </a:lnR>
                    <a:lnT>
                      <a:noFill/>
                    </a:lnT>
                    <a:lnB>
                      <a:noFill/>
                    </a:lnB>
                    <a:noFill/>
                  </a:tcPr>
                </a:tc>
                <a:extLst>
                  <a:ext uri="{0D108BD9-81ED-4DB2-BD59-A6C34878D82A}">
                    <a16:rowId xmlns:a16="http://schemas.microsoft.com/office/drawing/2014/main" val="221114854"/>
                  </a:ext>
                </a:extLst>
              </a:tr>
              <a:tr h="0">
                <a:tc>
                  <a:txBody>
                    <a:bodyPr/>
                    <a:lstStyle/>
                    <a:p>
                      <a:pPr algn="l" fontAlgn="t" latinLnBrk="0">
                        <a:buNone/>
                      </a:pPr>
                      <a:r>
                        <a:rPr lang="en-US" dirty="0">
                          <a:effectLst/>
                        </a:rPr>
                        <a:t>Used by</a:t>
                      </a:r>
                    </a:p>
                  </a:txBody>
                  <a:tcPr marL="57150" marR="57150" marT="31750" marB="31750">
                    <a:lnL>
                      <a:noFill/>
                    </a:lnL>
                    <a:lnR>
                      <a:noFill/>
                    </a:lnR>
                    <a:lnT>
                      <a:noFill/>
                    </a:lnT>
                    <a:lnB>
                      <a:noFill/>
                    </a:lnB>
                    <a:noFill/>
                  </a:tcPr>
                </a:tc>
                <a:tc>
                  <a:txBody>
                    <a:bodyPr/>
                    <a:lstStyle/>
                    <a:p>
                      <a:pPr algn="l" fontAlgn="t" latinLnBrk="0">
                        <a:buNone/>
                      </a:pPr>
                      <a:r>
                        <a:rPr lang="en-US" dirty="0">
                          <a:effectLst/>
                        </a:rPr>
                        <a:t>GPS, Google Maps, most satellites, most modern GIS</a:t>
                      </a:r>
                    </a:p>
                  </a:txBody>
                  <a:tcPr marL="57150" marR="57150" marT="31750" marB="31750">
                    <a:lnL>
                      <a:noFill/>
                    </a:lnL>
                    <a:lnR>
                      <a:noFill/>
                    </a:lnR>
                    <a:lnT>
                      <a:noFill/>
                    </a:lnT>
                    <a:lnB>
                      <a:noFill/>
                    </a:lnB>
                    <a:noFill/>
                  </a:tcPr>
                </a:tc>
                <a:extLst>
                  <a:ext uri="{0D108BD9-81ED-4DB2-BD59-A6C34878D82A}">
                    <a16:rowId xmlns:a16="http://schemas.microsoft.com/office/drawing/2014/main" val="3872715819"/>
                  </a:ext>
                </a:extLst>
              </a:tr>
              <a:tr h="0">
                <a:tc>
                  <a:txBody>
                    <a:bodyPr/>
                    <a:lstStyle/>
                    <a:p>
                      <a:pPr algn="l" fontAlgn="t" latinLnBrk="0">
                        <a:buNone/>
                      </a:pPr>
                      <a:r>
                        <a:rPr lang="en-US">
                          <a:effectLst/>
                        </a:rPr>
                        <a:t>EPSG code (geographic)</a:t>
                      </a:r>
                    </a:p>
                  </a:txBody>
                  <a:tcPr marL="57150" marR="57150" marT="31750" marB="31750">
                    <a:lnL>
                      <a:noFill/>
                    </a:lnL>
                    <a:lnR>
                      <a:noFill/>
                    </a:lnR>
                    <a:lnT>
                      <a:noFill/>
                    </a:lnT>
                    <a:lnB>
                      <a:noFill/>
                    </a:lnB>
                    <a:noFill/>
                  </a:tcPr>
                </a:tc>
                <a:tc>
                  <a:txBody>
                    <a:bodyPr/>
                    <a:lstStyle/>
                    <a:p>
                      <a:pPr algn="l" fontAlgn="t" latinLnBrk="0">
                        <a:buNone/>
                      </a:pPr>
                      <a:r>
                        <a:rPr lang="en-US" b="1">
                          <a:effectLst/>
                        </a:rPr>
                        <a:t>EPSG:4326</a:t>
                      </a:r>
                      <a:endParaRPr lang="en-US">
                        <a:effectLst/>
                      </a:endParaRPr>
                    </a:p>
                  </a:txBody>
                  <a:tcPr marL="57150" marR="57150" marT="31750" marB="31750">
                    <a:lnL>
                      <a:noFill/>
                    </a:lnL>
                    <a:lnR>
                      <a:noFill/>
                    </a:lnR>
                    <a:lnT>
                      <a:noFill/>
                    </a:lnT>
                    <a:lnB>
                      <a:noFill/>
                    </a:lnB>
                    <a:noFill/>
                  </a:tcPr>
                </a:tc>
                <a:extLst>
                  <a:ext uri="{0D108BD9-81ED-4DB2-BD59-A6C34878D82A}">
                    <a16:rowId xmlns:a16="http://schemas.microsoft.com/office/drawing/2014/main" val="816488178"/>
                  </a:ext>
                </a:extLst>
              </a:tr>
              <a:tr h="0">
                <a:tc>
                  <a:txBody>
                    <a:bodyPr/>
                    <a:lstStyle/>
                    <a:p>
                      <a:pPr algn="l" fontAlgn="t" latinLnBrk="0">
                        <a:buNone/>
                      </a:pPr>
                      <a:r>
                        <a:rPr lang="en-US">
                          <a:effectLst/>
                        </a:rPr>
                        <a:t>Units</a:t>
                      </a:r>
                    </a:p>
                  </a:txBody>
                  <a:tcPr marL="57150" marR="57150" marT="31750" marB="31750">
                    <a:lnL>
                      <a:noFill/>
                    </a:lnL>
                    <a:lnR>
                      <a:noFill/>
                    </a:lnR>
                    <a:lnT>
                      <a:noFill/>
                    </a:lnT>
                    <a:lnB>
                      <a:noFill/>
                    </a:lnB>
                    <a:noFill/>
                  </a:tcPr>
                </a:tc>
                <a:tc>
                  <a:txBody>
                    <a:bodyPr/>
                    <a:lstStyle/>
                    <a:p>
                      <a:pPr algn="l" fontAlgn="t" latinLnBrk="0">
                        <a:buNone/>
                      </a:pPr>
                      <a:r>
                        <a:rPr lang="en-US" dirty="0">
                          <a:effectLst/>
                        </a:rPr>
                        <a:t>Degrees (latitude, longitude)</a:t>
                      </a:r>
                    </a:p>
                  </a:txBody>
                  <a:tcPr marL="57150" marR="57150" marT="31750" marB="31750">
                    <a:lnL>
                      <a:noFill/>
                    </a:lnL>
                    <a:lnR>
                      <a:noFill/>
                    </a:lnR>
                    <a:lnT>
                      <a:noFill/>
                    </a:lnT>
                    <a:lnB>
                      <a:noFill/>
                    </a:lnB>
                    <a:noFill/>
                  </a:tcPr>
                </a:tc>
                <a:extLst>
                  <a:ext uri="{0D108BD9-81ED-4DB2-BD59-A6C34878D82A}">
                    <a16:rowId xmlns:a16="http://schemas.microsoft.com/office/drawing/2014/main" val="4232925275"/>
                  </a:ext>
                </a:extLst>
              </a:tr>
            </a:tbl>
          </a:graphicData>
        </a:graphic>
      </p:graphicFrame>
      <p:sp>
        <p:nvSpPr>
          <p:cNvPr id="6" name="TextBox 5">
            <a:extLst>
              <a:ext uri="{FF2B5EF4-FFF2-40B4-BE49-F238E27FC236}">
                <a16:creationId xmlns:a16="http://schemas.microsoft.com/office/drawing/2014/main" id="{469D86E7-7372-93DF-9224-9DD7EFA7C537}"/>
              </a:ext>
            </a:extLst>
          </p:cNvPr>
          <p:cNvSpPr txBox="1"/>
          <p:nvPr/>
        </p:nvSpPr>
        <p:spPr>
          <a:xfrm>
            <a:off x="729341" y="2132221"/>
            <a:ext cx="8632371" cy="646331"/>
          </a:xfrm>
          <a:prstGeom prst="rect">
            <a:avLst/>
          </a:prstGeom>
          <a:noFill/>
        </p:spPr>
        <p:txBody>
          <a:bodyPr wrap="square">
            <a:spAutoFit/>
          </a:bodyPr>
          <a:lstStyle/>
          <a:p>
            <a:pPr indent="0" algn="l">
              <a:spcBef>
                <a:spcPts val="750"/>
              </a:spcBef>
              <a:spcAft>
                <a:spcPts val="750"/>
              </a:spcAft>
              <a:buNone/>
            </a:pPr>
            <a:r>
              <a:rPr lang="en-US" sz="1800" i="0" dirty="0">
                <a:solidFill>
                  <a:srgbClr val="141414"/>
                </a:solidFill>
                <a:effectLst/>
                <a:latin typeface="Segoe WPC"/>
              </a:rPr>
              <a:t>WGS84 = World Geodetic System 1984. Simple definition: WGS84 is the most widely used global datum today. It is the datum behind GPS on your phone</a:t>
            </a:r>
            <a:r>
              <a:rPr lang="en-US" sz="1800" b="0" i="0" dirty="0">
                <a:solidFill>
                  <a:srgbClr val="141414"/>
                </a:solidFill>
                <a:effectLst/>
                <a:latin typeface="Segoe WPC"/>
              </a:rPr>
              <a:t>.</a:t>
            </a:r>
          </a:p>
        </p:txBody>
      </p:sp>
      <p:sp>
        <p:nvSpPr>
          <p:cNvPr id="8" name="TextBox 7">
            <a:extLst>
              <a:ext uri="{FF2B5EF4-FFF2-40B4-BE49-F238E27FC236}">
                <a16:creationId xmlns:a16="http://schemas.microsoft.com/office/drawing/2014/main" id="{CA278909-3BE2-99B9-1052-A66B1CEAC795}"/>
              </a:ext>
            </a:extLst>
          </p:cNvPr>
          <p:cNvSpPr txBox="1"/>
          <p:nvPr/>
        </p:nvSpPr>
        <p:spPr>
          <a:xfrm>
            <a:off x="729341" y="5302259"/>
            <a:ext cx="10363201" cy="646331"/>
          </a:xfrm>
          <a:prstGeom prst="rect">
            <a:avLst/>
          </a:prstGeom>
          <a:noFill/>
        </p:spPr>
        <p:txBody>
          <a:bodyPr wrap="square">
            <a:spAutoFit/>
          </a:bodyPr>
          <a:lstStyle/>
          <a:p>
            <a:r>
              <a:rPr lang="en-US" dirty="0"/>
              <a:t>Important: WGS84 is very accurate for global use. Some countries have local datums that were measured more carefully for one region.</a:t>
            </a:r>
          </a:p>
        </p:txBody>
      </p:sp>
    </p:spTree>
    <p:extLst>
      <p:ext uri="{BB962C8B-B14F-4D97-AF65-F5344CB8AC3E}">
        <p14:creationId xmlns:p14="http://schemas.microsoft.com/office/powerpoint/2010/main" val="84409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3C7A-7F02-7D61-CC04-B3B6989527C4}"/>
              </a:ext>
            </a:extLst>
          </p:cNvPr>
          <p:cNvSpPr>
            <a:spLocks noGrp="1"/>
          </p:cNvSpPr>
          <p:nvPr>
            <p:ph type="title"/>
          </p:nvPr>
        </p:nvSpPr>
        <p:spPr/>
        <p:txBody>
          <a:bodyPr/>
          <a:lstStyle/>
          <a:p>
            <a:r>
              <a:rPr lang="en-US"/>
              <a:t>Types of Coordinates Systems</a:t>
            </a:r>
            <a:endParaRPr lang="en-US" dirty="0"/>
          </a:p>
        </p:txBody>
      </p:sp>
      <p:sp>
        <p:nvSpPr>
          <p:cNvPr id="5" name="Content Placeholder 4">
            <a:extLst>
              <a:ext uri="{FF2B5EF4-FFF2-40B4-BE49-F238E27FC236}">
                <a16:creationId xmlns:a16="http://schemas.microsoft.com/office/drawing/2014/main" id="{55494682-1B1E-B313-F4EC-A5F781B60B60}"/>
              </a:ext>
            </a:extLst>
          </p:cNvPr>
          <p:cNvSpPr txBox="1">
            <a:spLocks noGrp="1"/>
          </p:cNvSpPr>
          <p:nvPr>
            <p:ph idx="1"/>
          </p:nvPr>
        </p:nvSpPr>
        <p:spPr>
          <a:xfrm>
            <a:off x="838200" y="1825625"/>
            <a:ext cx="7761514" cy="1219886"/>
          </a:xfrm>
          <a:prstGeom prst="rect">
            <a:avLst/>
          </a:prstGeom>
          <a:noFill/>
        </p:spPr>
        <p:txBody>
          <a:bodyPr wrap="square">
            <a:spAutoFit/>
          </a:bodyPr>
          <a:lstStyle/>
          <a:p>
            <a:pPr marL="0" indent="0">
              <a:buNone/>
            </a:pPr>
            <a:r>
              <a:rPr lang="en-US" sz="2400" b="1" dirty="0"/>
              <a:t>There are two types of coordinate system in GIS:</a:t>
            </a:r>
          </a:p>
          <a:p>
            <a:pPr marL="0" indent="0">
              <a:buNone/>
            </a:pPr>
            <a:r>
              <a:rPr lang="en-US" sz="2400" dirty="0"/>
              <a:t>Geographic Coordinate System (GCS) and Project Coordinate systems(PCS)</a:t>
            </a:r>
          </a:p>
        </p:txBody>
      </p:sp>
      <p:pic>
        <p:nvPicPr>
          <p:cNvPr id="7" name="Picture 6" descr="Coordinate systems and map projections in GIS">
            <a:extLst>
              <a:ext uri="{FF2B5EF4-FFF2-40B4-BE49-F238E27FC236}">
                <a16:creationId xmlns:a16="http://schemas.microsoft.com/office/drawing/2014/main" id="{FF641099-9D2A-602B-D0AF-9023ED119966}"/>
              </a:ext>
            </a:extLst>
          </p:cNvPr>
          <p:cNvPicPr>
            <a:picLocks noChangeAspect="1"/>
          </p:cNvPicPr>
          <p:nvPr/>
        </p:nvPicPr>
        <p:blipFill>
          <a:blip r:embed="rId2"/>
          <a:stretch>
            <a:fillRect/>
          </a:stretch>
        </p:blipFill>
        <p:spPr>
          <a:xfrm>
            <a:off x="8094890" y="683079"/>
            <a:ext cx="3661682" cy="2441121"/>
          </a:xfrm>
          <a:prstGeom prst="rect">
            <a:avLst/>
          </a:prstGeom>
        </p:spPr>
      </p:pic>
      <p:pic>
        <p:nvPicPr>
          <p:cNvPr id="8" name="Picture 7" descr="Where Is Guadalajara, Mexico On Map Lat Long Coordinates – NQETJ">
            <a:extLst>
              <a:ext uri="{FF2B5EF4-FFF2-40B4-BE49-F238E27FC236}">
                <a16:creationId xmlns:a16="http://schemas.microsoft.com/office/drawing/2014/main" id="{6DD56DD1-DB6B-B675-D739-4DA28FE63530}"/>
              </a:ext>
            </a:extLst>
          </p:cNvPr>
          <p:cNvPicPr>
            <a:picLocks noChangeAspect="1"/>
          </p:cNvPicPr>
          <p:nvPr/>
        </p:nvPicPr>
        <p:blipFill>
          <a:blip r:embed="rId3"/>
          <a:srcRect l="3106" t="10634" r="2484" b="7680"/>
          <a:stretch>
            <a:fillRect/>
          </a:stretch>
        </p:blipFill>
        <p:spPr>
          <a:xfrm>
            <a:off x="6999513" y="3124199"/>
            <a:ext cx="4550229" cy="2362201"/>
          </a:xfrm>
          <a:prstGeom prst="rect">
            <a:avLst/>
          </a:prstGeom>
        </p:spPr>
      </p:pic>
      <p:pic>
        <p:nvPicPr>
          <p:cNvPr id="16" name="Picture 15">
            <a:extLst>
              <a:ext uri="{FF2B5EF4-FFF2-40B4-BE49-F238E27FC236}">
                <a16:creationId xmlns:a16="http://schemas.microsoft.com/office/drawing/2014/main" id="{97E91442-F143-73B6-86F9-30B98836D87E}"/>
              </a:ext>
            </a:extLst>
          </p:cNvPr>
          <p:cNvPicPr>
            <a:picLocks noChangeAspect="1"/>
          </p:cNvPicPr>
          <p:nvPr/>
        </p:nvPicPr>
        <p:blipFill>
          <a:blip r:embed="rId4"/>
          <a:stretch>
            <a:fillRect/>
          </a:stretch>
        </p:blipFill>
        <p:spPr>
          <a:xfrm>
            <a:off x="5224515" y="5714522"/>
            <a:ext cx="6750397" cy="920797"/>
          </a:xfrm>
          <a:prstGeom prst="rect">
            <a:avLst/>
          </a:prstGeom>
        </p:spPr>
      </p:pic>
      <p:pic>
        <p:nvPicPr>
          <p:cNvPr id="18" name="Picture 17" descr="Geographic vs Projected Coordinate Systems">
            <a:extLst>
              <a:ext uri="{FF2B5EF4-FFF2-40B4-BE49-F238E27FC236}">
                <a16:creationId xmlns:a16="http://schemas.microsoft.com/office/drawing/2014/main" id="{DF1DDAA0-155C-6983-A407-02E74701F665}"/>
              </a:ext>
            </a:extLst>
          </p:cNvPr>
          <p:cNvPicPr>
            <a:picLocks noChangeAspect="1"/>
          </p:cNvPicPr>
          <p:nvPr/>
        </p:nvPicPr>
        <p:blipFill>
          <a:blip r:embed="rId5"/>
          <a:stretch>
            <a:fillRect/>
          </a:stretch>
        </p:blipFill>
        <p:spPr>
          <a:xfrm>
            <a:off x="252465" y="3180448"/>
            <a:ext cx="4972050" cy="2905125"/>
          </a:xfrm>
          <a:prstGeom prst="rect">
            <a:avLst/>
          </a:prstGeom>
        </p:spPr>
      </p:pic>
    </p:spTree>
    <p:extLst>
      <p:ext uri="{BB962C8B-B14F-4D97-AF65-F5344CB8AC3E}">
        <p14:creationId xmlns:p14="http://schemas.microsoft.com/office/powerpoint/2010/main" val="91688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Longitude latitude coordinates">
            <a:extLst>
              <a:ext uri="{FF2B5EF4-FFF2-40B4-BE49-F238E27FC236}">
                <a16:creationId xmlns:a16="http://schemas.microsoft.com/office/drawing/2014/main" id="{C5D9FA54-C36D-28C7-9C83-E65BAF5D920A}"/>
              </a:ext>
            </a:extLst>
          </p:cNvPr>
          <p:cNvPicPr>
            <a:picLocks noGrp="1" noChangeAspect="1"/>
          </p:cNvPicPr>
          <p:nvPr>
            <p:ph idx="1"/>
          </p:nvPr>
        </p:nvPicPr>
        <p:blipFill>
          <a:blip r:embed="rId2"/>
          <a:srcRect l="2968" t="2574" r="6720"/>
          <a:stretch>
            <a:fillRect/>
          </a:stretch>
        </p:blipFill>
        <p:spPr>
          <a:xfrm>
            <a:off x="7098712" y="934472"/>
            <a:ext cx="5180373" cy="2794226"/>
          </a:xfrm>
          <a:prstGeom prst="rect">
            <a:avLst/>
          </a:prstGeom>
        </p:spPr>
      </p:pic>
      <p:sp>
        <p:nvSpPr>
          <p:cNvPr id="7" name="Title 6">
            <a:extLst>
              <a:ext uri="{FF2B5EF4-FFF2-40B4-BE49-F238E27FC236}">
                <a16:creationId xmlns:a16="http://schemas.microsoft.com/office/drawing/2014/main" id="{0E72C6EA-45B3-22DD-E6B8-145B0D0D627A}"/>
              </a:ext>
            </a:extLst>
          </p:cNvPr>
          <p:cNvSpPr>
            <a:spLocks noGrp="1"/>
          </p:cNvSpPr>
          <p:nvPr>
            <p:ph type="title"/>
          </p:nvPr>
        </p:nvSpPr>
        <p:spPr>
          <a:xfrm>
            <a:off x="838200" y="681037"/>
            <a:ext cx="10515600" cy="1009651"/>
          </a:xfrm>
        </p:spPr>
        <p:txBody>
          <a:bodyPr>
            <a:normAutofit/>
          </a:bodyPr>
          <a:lstStyle/>
          <a:p>
            <a:r>
              <a:rPr lang="en-US" sz="4200" dirty="0"/>
              <a:t>Geographic Coordinate System</a:t>
            </a:r>
          </a:p>
        </p:txBody>
      </p:sp>
      <p:sp>
        <p:nvSpPr>
          <p:cNvPr id="10" name="TextBox 9">
            <a:extLst>
              <a:ext uri="{FF2B5EF4-FFF2-40B4-BE49-F238E27FC236}">
                <a16:creationId xmlns:a16="http://schemas.microsoft.com/office/drawing/2014/main" id="{383D5D0E-7972-3560-3F62-363E7B13BB65}"/>
              </a:ext>
            </a:extLst>
          </p:cNvPr>
          <p:cNvSpPr txBox="1"/>
          <p:nvPr/>
        </p:nvSpPr>
        <p:spPr>
          <a:xfrm>
            <a:off x="578169" y="1862466"/>
            <a:ext cx="6769688" cy="1959511"/>
          </a:xfrm>
          <a:prstGeom prst="rect">
            <a:avLst/>
          </a:prstGeom>
          <a:noFill/>
        </p:spPr>
        <p:txBody>
          <a:bodyPr wrap="square">
            <a:spAutoFit/>
          </a:bodyPr>
          <a:lstStyle/>
          <a:p>
            <a:pPr indent="0" algn="l">
              <a:spcBef>
                <a:spcPts val="750"/>
              </a:spcBef>
              <a:spcAft>
                <a:spcPts val="750"/>
              </a:spcAft>
              <a:buNone/>
            </a:pPr>
            <a:r>
              <a:rPr lang="en-US" b="0" i="0" dirty="0">
                <a:solidFill>
                  <a:srgbClr val="141414"/>
                </a:solidFill>
                <a:effectLst/>
                <a:latin typeface="Segoe WPC"/>
              </a:rPr>
              <a:t>A </a:t>
            </a:r>
            <a:r>
              <a:rPr lang="en-US" b="1" i="0" dirty="0">
                <a:solidFill>
                  <a:srgbClr val="141414"/>
                </a:solidFill>
                <a:effectLst/>
                <a:latin typeface="Segoe WPC"/>
              </a:rPr>
              <a:t>Geographic Coordinate System</a:t>
            </a:r>
            <a:r>
              <a:rPr lang="en-US" b="0" i="0" dirty="0">
                <a:solidFill>
                  <a:srgbClr val="141414"/>
                </a:solidFill>
                <a:effectLst/>
                <a:latin typeface="Segoe WPC"/>
              </a:rPr>
              <a:t> is a </a:t>
            </a:r>
            <a:r>
              <a:rPr lang="en-US" b="1" i="0" dirty="0">
                <a:solidFill>
                  <a:srgbClr val="141414"/>
                </a:solidFill>
                <a:effectLst/>
                <a:latin typeface="Segoe WPC"/>
              </a:rPr>
              <a:t>3D reference framework</a:t>
            </a:r>
            <a:r>
              <a:rPr lang="en-US" b="0" i="0" dirty="0">
                <a:solidFill>
                  <a:srgbClr val="141414"/>
                </a:solidFill>
                <a:effectLst/>
                <a:latin typeface="Segoe WPC"/>
              </a:rPr>
              <a:t> that locates points on a </a:t>
            </a:r>
            <a:r>
              <a:rPr lang="en-US" b="1" i="0" dirty="0">
                <a:solidFill>
                  <a:srgbClr val="141414"/>
                </a:solidFill>
                <a:effectLst/>
                <a:latin typeface="Segoe WPC"/>
              </a:rPr>
              <a:t>model of the Earth</a:t>
            </a:r>
            <a:r>
              <a:rPr lang="en-US" b="0" i="0" dirty="0">
                <a:solidFill>
                  <a:srgbClr val="141414"/>
                </a:solidFill>
                <a:effectLst/>
                <a:latin typeface="Segoe WPC"/>
              </a:rPr>
              <a:t> using </a:t>
            </a:r>
            <a:r>
              <a:rPr lang="en-US" b="1" i="0" dirty="0">
                <a:solidFill>
                  <a:srgbClr val="141414"/>
                </a:solidFill>
                <a:effectLst/>
                <a:latin typeface="Segoe WPC"/>
              </a:rPr>
              <a:t>angular measurements</a:t>
            </a:r>
            <a:r>
              <a:rPr lang="en-US" b="0" i="0" dirty="0">
                <a:solidFill>
                  <a:srgbClr val="141414"/>
                </a:solidFill>
                <a:effectLst/>
                <a:latin typeface="Segoe WPC"/>
              </a:rPr>
              <a:t> from the Earth’s center to the surface.</a:t>
            </a:r>
          </a:p>
          <a:p>
            <a:pPr indent="0" algn="l">
              <a:spcBef>
                <a:spcPts val="750"/>
              </a:spcBef>
              <a:spcAft>
                <a:spcPts val="750"/>
              </a:spcAft>
              <a:buNone/>
            </a:pPr>
            <a:r>
              <a:rPr lang="en-US" b="0" i="0" dirty="0">
                <a:solidFill>
                  <a:srgbClr val="141414"/>
                </a:solidFill>
                <a:effectLst/>
                <a:latin typeface="Segoe WPC"/>
              </a:rPr>
              <a:t>It is </a:t>
            </a:r>
            <a:r>
              <a:rPr lang="en-US" b="1" i="0" dirty="0">
                <a:solidFill>
                  <a:srgbClr val="141414"/>
                </a:solidFill>
                <a:effectLst/>
                <a:latin typeface="Segoe WPC"/>
              </a:rPr>
              <a:t>spherical / ellipsoidal</a:t>
            </a:r>
            <a:r>
              <a:rPr lang="en-US" b="0" i="0" dirty="0">
                <a:solidFill>
                  <a:srgbClr val="141414"/>
                </a:solidFill>
                <a:effectLst/>
                <a:latin typeface="Segoe WPC"/>
              </a:rPr>
              <a:t>, not flat. Its grid is the </a:t>
            </a:r>
            <a:r>
              <a:rPr lang="en-US" b="1" i="0" dirty="0">
                <a:solidFill>
                  <a:srgbClr val="141414"/>
                </a:solidFill>
                <a:effectLst/>
                <a:latin typeface="Segoe WPC"/>
              </a:rPr>
              <a:t>graticule</a:t>
            </a:r>
            <a:r>
              <a:rPr lang="en-US" b="0" i="0" dirty="0">
                <a:solidFill>
                  <a:srgbClr val="141414"/>
                </a:solidFill>
                <a:effectLst/>
                <a:latin typeface="Segoe WPC"/>
              </a:rPr>
              <a:t>: lines of </a:t>
            </a:r>
            <a:r>
              <a:rPr lang="en-US" b="1" i="0" dirty="0">
                <a:solidFill>
                  <a:srgbClr val="141414"/>
                </a:solidFill>
                <a:effectLst/>
                <a:latin typeface="Segoe WPC"/>
              </a:rPr>
              <a:t>latitude</a:t>
            </a:r>
            <a:r>
              <a:rPr lang="en-US" b="0" i="0" dirty="0">
                <a:solidFill>
                  <a:srgbClr val="141414"/>
                </a:solidFill>
                <a:effectLst/>
                <a:latin typeface="Segoe WPC"/>
              </a:rPr>
              <a:t> and </a:t>
            </a:r>
            <a:r>
              <a:rPr lang="en-US" b="1" i="0" dirty="0">
                <a:solidFill>
                  <a:srgbClr val="141414"/>
                </a:solidFill>
                <a:effectLst/>
                <a:latin typeface="Segoe WPC"/>
              </a:rPr>
              <a:t>longitude</a:t>
            </a:r>
            <a:r>
              <a:rPr lang="en-US" sz="1125" b="0" i="0" dirty="0">
                <a:solidFill>
                  <a:srgbClr val="141414"/>
                </a:solidFill>
                <a:effectLst/>
                <a:latin typeface="Segoe WPC"/>
              </a:rPr>
              <a:t>.</a:t>
            </a:r>
          </a:p>
        </p:txBody>
      </p:sp>
      <p:pic>
        <p:nvPicPr>
          <p:cNvPr id="11" name="Picture 10" descr="Medium">
            <a:extLst>
              <a:ext uri="{FF2B5EF4-FFF2-40B4-BE49-F238E27FC236}">
                <a16:creationId xmlns:a16="http://schemas.microsoft.com/office/drawing/2014/main" id="{FA58765F-6F4C-9688-5CB5-63726C469655}"/>
              </a:ext>
            </a:extLst>
          </p:cNvPr>
          <p:cNvPicPr>
            <a:picLocks noChangeAspect="1"/>
          </p:cNvPicPr>
          <p:nvPr/>
        </p:nvPicPr>
        <p:blipFill>
          <a:blip r:embed="rId3"/>
          <a:srcRect l="4645" r="3267" b="7425"/>
          <a:stretch>
            <a:fillRect/>
          </a:stretch>
        </p:blipFill>
        <p:spPr>
          <a:xfrm>
            <a:off x="8300969" y="3728698"/>
            <a:ext cx="2775857" cy="2982577"/>
          </a:xfrm>
          <a:prstGeom prst="rect">
            <a:avLst/>
          </a:prstGeom>
        </p:spPr>
      </p:pic>
      <p:sp>
        <p:nvSpPr>
          <p:cNvPr id="13" name="TextBox 12">
            <a:extLst>
              <a:ext uri="{FF2B5EF4-FFF2-40B4-BE49-F238E27FC236}">
                <a16:creationId xmlns:a16="http://schemas.microsoft.com/office/drawing/2014/main" id="{5EEE089D-792C-E533-A085-BA223DB2B950}"/>
              </a:ext>
            </a:extLst>
          </p:cNvPr>
          <p:cNvSpPr txBox="1"/>
          <p:nvPr/>
        </p:nvSpPr>
        <p:spPr>
          <a:xfrm>
            <a:off x="729344" y="3993755"/>
            <a:ext cx="6369365" cy="1856919"/>
          </a:xfrm>
          <a:prstGeom prst="rect">
            <a:avLst/>
          </a:prstGeom>
          <a:noFill/>
        </p:spPr>
        <p:txBody>
          <a:bodyPr wrap="square">
            <a:spAutoFit/>
          </a:bodyPr>
          <a:lstStyle/>
          <a:p>
            <a:pPr indent="0" algn="l">
              <a:spcBef>
                <a:spcPts val="750"/>
              </a:spcBef>
              <a:spcAft>
                <a:spcPts val="750"/>
              </a:spcAft>
              <a:buNone/>
            </a:pPr>
            <a:r>
              <a:rPr lang="en-US" dirty="0">
                <a:solidFill>
                  <a:srgbClr val="141414"/>
                </a:solidFill>
                <a:latin typeface="Segoe WPC"/>
              </a:rPr>
              <a:t>A GCS has three parts:</a:t>
            </a:r>
          </a:p>
          <a:p>
            <a:pPr marL="342900" indent="-342900" algn="l">
              <a:buAutoNum type="arabicPeriod"/>
            </a:pPr>
            <a:r>
              <a:rPr lang="en-US" dirty="0">
                <a:solidFill>
                  <a:srgbClr val="141414"/>
                </a:solidFill>
                <a:latin typeface="Segoe WPC"/>
              </a:rPr>
              <a:t>Datum</a:t>
            </a:r>
          </a:p>
          <a:p>
            <a:pPr marL="342900" indent="-342900">
              <a:buFontTx/>
              <a:buAutoNum type="arabicPeriod"/>
            </a:pPr>
            <a:r>
              <a:rPr lang="en-US" dirty="0">
                <a:solidFill>
                  <a:srgbClr val="141414"/>
                </a:solidFill>
                <a:latin typeface="Segoe WPC"/>
              </a:rPr>
              <a:t>2. Prime meridian; The prime meridian is the line defined as 0° longitude.</a:t>
            </a:r>
          </a:p>
          <a:p>
            <a:pPr marL="342900" indent="-342900" algn="l">
              <a:buAutoNum type="arabicPeriod"/>
            </a:pPr>
            <a:r>
              <a:rPr lang="en-US" dirty="0">
                <a:solidFill>
                  <a:srgbClr val="141414"/>
                </a:solidFill>
                <a:latin typeface="Segoe WPC"/>
              </a:rPr>
              <a:t>3. Angular unit; The unit of a GCS is an angle, usually:</a:t>
            </a:r>
          </a:p>
          <a:p>
            <a:pPr algn="l"/>
            <a:r>
              <a:rPr lang="en-US" dirty="0">
                <a:solidFill>
                  <a:srgbClr val="141414"/>
                </a:solidFill>
                <a:latin typeface="Segoe WPC"/>
              </a:rPr>
              <a:t>	decimal degrees (34.5289°) — most common in GIS</a:t>
            </a:r>
          </a:p>
        </p:txBody>
      </p:sp>
    </p:spTree>
    <p:extLst>
      <p:ext uri="{BB962C8B-B14F-4D97-AF65-F5344CB8AC3E}">
        <p14:creationId xmlns:p14="http://schemas.microsoft.com/office/powerpoint/2010/main" val="244541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C35A80-227F-1F8E-1638-D02499A2371B}"/>
              </a:ext>
            </a:extLst>
          </p:cNvPr>
          <p:cNvSpPr>
            <a:spLocks noGrp="1"/>
          </p:cNvSpPr>
          <p:nvPr>
            <p:ph idx="1"/>
          </p:nvPr>
        </p:nvSpPr>
        <p:spPr>
          <a:xfrm>
            <a:off x="838200" y="1825625"/>
            <a:ext cx="11353800" cy="4351338"/>
          </a:xfrm>
        </p:spPr>
        <p:txBody>
          <a:bodyPr/>
          <a:lstStyle/>
          <a:p>
            <a:r>
              <a:rPr lang="en-US" sz="1800" dirty="0"/>
              <a:t>A </a:t>
            </a:r>
            <a:r>
              <a:rPr lang="en-US" sz="1800" b="1" dirty="0"/>
              <a:t>Projected Coordinate System</a:t>
            </a:r>
            <a:r>
              <a:rPr lang="en-US" sz="1800" dirty="0"/>
              <a:t> is a </a:t>
            </a:r>
            <a:r>
              <a:rPr lang="en-US" sz="1800" b="1" dirty="0"/>
              <a:t>flat, 2D Cartesian grid</a:t>
            </a:r>
            <a:r>
              <a:rPr lang="en-US" sz="1800" dirty="0"/>
              <a:t> created by applying a </a:t>
            </a:r>
            <a:r>
              <a:rPr lang="en-US" sz="1800" b="1" dirty="0"/>
              <a:t>map projection</a:t>
            </a:r>
            <a:r>
              <a:rPr lang="en-US" sz="1800" dirty="0"/>
              <a:t> to a geographic coordinate system.</a:t>
            </a:r>
          </a:p>
          <a:p>
            <a:r>
              <a:rPr lang="en-US" sz="1800" dirty="0"/>
              <a:t>It locates points using </a:t>
            </a:r>
            <a:r>
              <a:rPr lang="en-US" sz="1800" b="1" dirty="0"/>
              <a:t>linear units</a:t>
            </a:r>
            <a:r>
              <a:rPr lang="en-US" sz="1800" dirty="0"/>
              <a:t> (usually meters) from an origin: </a:t>
            </a:r>
            <a:r>
              <a:rPr lang="en-US" sz="1800" b="1" dirty="0"/>
              <a:t>easting (X)</a:t>
            </a:r>
            <a:r>
              <a:rPr lang="en-US" sz="1800" dirty="0"/>
              <a:t> and </a:t>
            </a:r>
            <a:r>
              <a:rPr lang="en-US" sz="1800" b="1" dirty="0"/>
              <a:t>northing (Y)</a:t>
            </a:r>
            <a:r>
              <a:rPr lang="en-US" sz="1800" dirty="0"/>
              <a:t>.</a:t>
            </a:r>
          </a:p>
          <a:p>
            <a:pPr marL="0" indent="0">
              <a:buNone/>
            </a:pPr>
            <a:endParaRPr lang="en-US" dirty="0"/>
          </a:p>
        </p:txBody>
      </p:sp>
      <p:sp>
        <p:nvSpPr>
          <p:cNvPr id="4" name="Title 6">
            <a:extLst>
              <a:ext uri="{FF2B5EF4-FFF2-40B4-BE49-F238E27FC236}">
                <a16:creationId xmlns:a16="http://schemas.microsoft.com/office/drawing/2014/main" id="{7AF861E9-211F-B83E-EBFA-11CF48CDCE8B}"/>
              </a:ext>
            </a:extLst>
          </p:cNvPr>
          <p:cNvSpPr>
            <a:spLocks noGrp="1"/>
          </p:cNvSpPr>
          <p:nvPr>
            <p:ph type="title"/>
          </p:nvPr>
        </p:nvSpPr>
        <p:spPr>
          <a:xfrm>
            <a:off x="838200" y="681037"/>
            <a:ext cx="10515600" cy="1009651"/>
          </a:xfrm>
        </p:spPr>
        <p:txBody>
          <a:bodyPr>
            <a:normAutofit/>
          </a:bodyPr>
          <a:lstStyle/>
          <a:p>
            <a:r>
              <a:rPr lang="en-US" sz="4200" dirty="0"/>
              <a:t>Project Coordinate System</a:t>
            </a:r>
          </a:p>
        </p:txBody>
      </p:sp>
      <p:pic>
        <p:nvPicPr>
          <p:cNvPr id="5" name="Picture 4" descr="Utm Projection Coordinate Reference Systems">
            <a:extLst>
              <a:ext uri="{FF2B5EF4-FFF2-40B4-BE49-F238E27FC236}">
                <a16:creationId xmlns:a16="http://schemas.microsoft.com/office/drawing/2014/main" id="{DBC342EE-9474-9096-9EB6-8DDF2F221BAC}"/>
              </a:ext>
            </a:extLst>
          </p:cNvPr>
          <p:cNvPicPr>
            <a:picLocks noChangeAspect="1"/>
          </p:cNvPicPr>
          <p:nvPr/>
        </p:nvPicPr>
        <p:blipFill>
          <a:blip r:embed="rId2"/>
          <a:stretch>
            <a:fillRect/>
          </a:stretch>
        </p:blipFill>
        <p:spPr>
          <a:xfrm>
            <a:off x="5328160" y="2796540"/>
            <a:ext cx="6881616" cy="3515359"/>
          </a:xfrm>
          <a:prstGeom prst="rect">
            <a:avLst/>
          </a:prstGeom>
        </p:spPr>
      </p:pic>
      <p:sp>
        <p:nvSpPr>
          <p:cNvPr id="7" name="TextBox 6">
            <a:extLst>
              <a:ext uri="{FF2B5EF4-FFF2-40B4-BE49-F238E27FC236}">
                <a16:creationId xmlns:a16="http://schemas.microsoft.com/office/drawing/2014/main" id="{80FBEA2B-11B2-EB4A-FAD0-78E0348F3BD6}"/>
              </a:ext>
            </a:extLst>
          </p:cNvPr>
          <p:cNvSpPr txBox="1"/>
          <p:nvPr/>
        </p:nvSpPr>
        <p:spPr>
          <a:xfrm>
            <a:off x="838200" y="3157772"/>
            <a:ext cx="3233057" cy="3693319"/>
          </a:xfrm>
          <a:prstGeom prst="rect">
            <a:avLst/>
          </a:prstGeom>
          <a:noFill/>
        </p:spPr>
        <p:txBody>
          <a:bodyPr wrap="square">
            <a:spAutoFit/>
          </a:bodyPr>
          <a:lstStyle/>
          <a:p>
            <a:r>
              <a:rPr lang="en-US" dirty="0"/>
              <a:t>What a PCS is made of:</a:t>
            </a:r>
          </a:p>
          <a:p>
            <a:pPr marL="285750" indent="-285750">
              <a:buFont typeface="Arial" panose="020B0604020202020204" pitchFamily="34" charset="0"/>
              <a:buChar char="•"/>
            </a:pPr>
            <a:r>
              <a:rPr lang="en-US" dirty="0"/>
              <a:t>Every PCS </a:t>
            </a:r>
            <a:r>
              <a:rPr lang="en-US" b="1" dirty="0"/>
              <a:t>contains a GCS; </a:t>
            </a:r>
            <a:r>
              <a:rPr lang="en-US" dirty="0"/>
              <a:t>Example: WGS 	84 / UTM zone 	42N contains the 	GCS WGS 84.</a:t>
            </a:r>
          </a:p>
          <a:p>
            <a:pPr marL="285750" indent="-285750">
              <a:buFont typeface="Arial" panose="020B0604020202020204" pitchFamily="34" charset="0"/>
              <a:buChar char="•"/>
            </a:pPr>
            <a:r>
              <a:rPr lang="en-US" dirty="0"/>
              <a:t>A map projection, UTM.</a:t>
            </a:r>
          </a:p>
          <a:p>
            <a:pPr marL="285750" indent="-285750">
              <a:buFont typeface="Arial" panose="020B0604020202020204" pitchFamily="34" charset="0"/>
              <a:buChar char="•"/>
            </a:pPr>
            <a:r>
              <a:rPr lang="en-US" dirty="0"/>
              <a:t>A linear unit, usually meters. Sometimes US survey feet or international feet.</a:t>
            </a:r>
          </a:p>
          <a:p>
            <a:endParaRPr lang="en-US" dirty="0"/>
          </a:p>
          <a:p>
            <a:br>
              <a:rPr lang="en-US" dirty="0"/>
            </a:br>
            <a:endParaRPr lang="en-US" dirty="0"/>
          </a:p>
        </p:txBody>
      </p:sp>
    </p:spTree>
    <p:extLst>
      <p:ext uri="{BB962C8B-B14F-4D97-AF65-F5344CB8AC3E}">
        <p14:creationId xmlns:p14="http://schemas.microsoft.com/office/powerpoint/2010/main" val="2675625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9147E-7DED-E884-D1AD-C418406CC796}"/>
              </a:ext>
            </a:extLst>
          </p:cNvPr>
          <p:cNvSpPr>
            <a:spLocks noGrp="1"/>
          </p:cNvSpPr>
          <p:nvPr>
            <p:ph type="title"/>
          </p:nvPr>
        </p:nvSpPr>
        <p:spPr/>
        <p:txBody>
          <a:bodyPr/>
          <a:lstStyle/>
          <a:p>
            <a:r>
              <a:rPr lang="en-US" dirty="0"/>
              <a:t>Introduction to ARCGIS PRO</a:t>
            </a:r>
          </a:p>
        </p:txBody>
      </p:sp>
      <p:sp>
        <p:nvSpPr>
          <p:cNvPr id="3" name="Content Placeholder 2">
            <a:extLst>
              <a:ext uri="{FF2B5EF4-FFF2-40B4-BE49-F238E27FC236}">
                <a16:creationId xmlns:a16="http://schemas.microsoft.com/office/drawing/2014/main" id="{BFB4E86F-2C08-3082-5111-BB2E0EA9614D}"/>
              </a:ext>
            </a:extLst>
          </p:cNvPr>
          <p:cNvSpPr>
            <a:spLocks noGrp="1"/>
          </p:cNvSpPr>
          <p:nvPr>
            <p:ph idx="1"/>
          </p:nvPr>
        </p:nvSpPr>
        <p:spPr/>
        <p:txBody>
          <a:bodyPr>
            <a:normAutofit lnSpcReduction="10000"/>
          </a:bodyPr>
          <a:lstStyle/>
          <a:p>
            <a:r>
              <a:rPr lang="en-US" dirty="0"/>
              <a:t>ArcGIS Pro is Esri’s professional desktop GIS application. It is the replacement for ArcMap, ArcCatalog, </a:t>
            </a:r>
            <a:r>
              <a:rPr lang="en-US" dirty="0" err="1"/>
              <a:t>ArcScene</a:t>
            </a:r>
            <a:r>
              <a:rPr lang="en-US" dirty="0"/>
              <a:t>, and </a:t>
            </a:r>
            <a:r>
              <a:rPr lang="en-US" dirty="0" err="1"/>
              <a:t>ArcGlobe</a:t>
            </a:r>
            <a:r>
              <a:rPr lang="en-US" dirty="0"/>
              <a:t> — all in one program. It is designed to run on 64-bit computers.</a:t>
            </a:r>
          </a:p>
          <a:p>
            <a:r>
              <a:rPr lang="en-US" dirty="0"/>
              <a:t>With ArcGIS Pro we can do:</a:t>
            </a:r>
          </a:p>
          <a:p>
            <a:pPr marL="0" indent="0">
              <a:buNone/>
            </a:pPr>
            <a:r>
              <a:rPr lang="en-US" dirty="0"/>
              <a:t>	View and edit maps in 2D and 3D	</a:t>
            </a:r>
          </a:p>
          <a:p>
            <a:pPr marL="0" indent="0">
              <a:buNone/>
            </a:pPr>
            <a:r>
              <a:rPr lang="en-US" dirty="0"/>
              <a:t>	Manage GIS data (shapefiles, geodatabases, services)	Analyze spatial data (buffers, overlays, traces)	</a:t>
            </a:r>
          </a:p>
          <a:p>
            <a:pPr marL="0" indent="0">
              <a:buNone/>
            </a:pPr>
            <a:r>
              <a:rPr lang="en-US" dirty="0"/>
              <a:t>	Design print layouts</a:t>
            </a:r>
          </a:p>
          <a:p>
            <a:pPr marL="0" indent="0">
              <a:buNone/>
            </a:pPr>
            <a:r>
              <a:rPr lang="en-US" dirty="0"/>
              <a:t>	Share maps to ArcGIS Online or ArcGIS Enterprise</a:t>
            </a:r>
          </a:p>
          <a:p>
            <a:pPr marL="0" indent="0">
              <a:buNone/>
            </a:pPr>
            <a:r>
              <a:rPr lang="en-US" dirty="0"/>
              <a:t>	Work with modern datasets such as Utility Network.</a:t>
            </a:r>
          </a:p>
        </p:txBody>
      </p:sp>
    </p:spTree>
    <p:extLst>
      <p:ext uri="{BB962C8B-B14F-4D97-AF65-F5344CB8AC3E}">
        <p14:creationId xmlns:p14="http://schemas.microsoft.com/office/powerpoint/2010/main" val="679642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0149-F3F7-FD70-5F1A-863423E36347}"/>
              </a:ext>
            </a:extLst>
          </p:cNvPr>
          <p:cNvSpPr>
            <a:spLocks noGrp="1"/>
          </p:cNvSpPr>
          <p:nvPr>
            <p:ph type="title"/>
          </p:nvPr>
        </p:nvSpPr>
        <p:spPr>
          <a:xfrm>
            <a:off x="446314" y="365125"/>
            <a:ext cx="12725400" cy="1325563"/>
          </a:xfrm>
        </p:spPr>
        <p:txBody>
          <a:bodyPr/>
          <a:lstStyle/>
          <a:p>
            <a:r>
              <a:rPr lang="en-US" dirty="0"/>
              <a:t>Managing Vector Data in ArcGIS Pro</a:t>
            </a:r>
          </a:p>
        </p:txBody>
      </p:sp>
      <p:sp>
        <p:nvSpPr>
          <p:cNvPr id="3" name="Content Placeholder 2">
            <a:extLst>
              <a:ext uri="{FF2B5EF4-FFF2-40B4-BE49-F238E27FC236}">
                <a16:creationId xmlns:a16="http://schemas.microsoft.com/office/drawing/2014/main" id="{10DE6F25-0190-B43D-8B25-82C1F8213CCE}"/>
              </a:ext>
            </a:extLst>
          </p:cNvPr>
          <p:cNvSpPr>
            <a:spLocks noGrp="1"/>
          </p:cNvSpPr>
          <p:nvPr>
            <p:ph idx="1"/>
          </p:nvPr>
        </p:nvSpPr>
        <p:spPr>
          <a:xfrm>
            <a:off x="687038" y="1475849"/>
            <a:ext cx="6487886" cy="4351338"/>
          </a:xfrm>
        </p:spPr>
        <p:txBody>
          <a:bodyPr>
            <a:normAutofit fontScale="92500" lnSpcReduction="10000"/>
          </a:bodyPr>
          <a:lstStyle/>
          <a:p>
            <a:pPr marL="0" indent="0">
              <a:buNone/>
            </a:pPr>
            <a:r>
              <a:rPr lang="en-US" dirty="0"/>
              <a:t>As previously described, The vector data model is designed to handle the storage of discrete objects on the earth’s surface, such as sampling sites, roads, or parcels. Vector data use a series of x-y locations to store information as points, lines, or polygons.</a:t>
            </a:r>
          </a:p>
          <a:p>
            <a:pPr marL="0" indent="0">
              <a:buNone/>
            </a:pPr>
            <a:r>
              <a:rPr lang="en-US" dirty="0"/>
              <a:t>ArcGIS can read a variety of GIS file formats; some are native to ArcGIS, and some originate from other sources. In addition, some may be local, and some may be hosted as online data from</a:t>
            </a:r>
          </a:p>
          <a:p>
            <a:pPr marL="0" indent="0">
              <a:buNone/>
            </a:pPr>
            <a:r>
              <a:rPr lang="en-US" dirty="0"/>
              <a:t>ArcGIS Portal.</a:t>
            </a:r>
          </a:p>
          <a:p>
            <a:endParaRPr lang="en-US" dirty="0"/>
          </a:p>
        </p:txBody>
      </p:sp>
      <p:pic>
        <p:nvPicPr>
          <p:cNvPr id="10" name="Picture 9">
            <a:extLst>
              <a:ext uri="{FF2B5EF4-FFF2-40B4-BE49-F238E27FC236}">
                <a16:creationId xmlns:a16="http://schemas.microsoft.com/office/drawing/2014/main" id="{0B97D981-290A-95D8-E008-FDCAA3101574}"/>
              </a:ext>
            </a:extLst>
          </p:cNvPr>
          <p:cNvPicPr>
            <a:picLocks noChangeAspect="1"/>
          </p:cNvPicPr>
          <p:nvPr/>
        </p:nvPicPr>
        <p:blipFill>
          <a:blip r:embed="rId2"/>
          <a:stretch>
            <a:fillRect/>
          </a:stretch>
        </p:blipFill>
        <p:spPr>
          <a:xfrm>
            <a:off x="7328563" y="1475850"/>
            <a:ext cx="4776352" cy="4351337"/>
          </a:xfrm>
          <a:prstGeom prst="rect">
            <a:avLst/>
          </a:prstGeom>
          <a:ln>
            <a:solidFill>
              <a:srgbClr val="002060"/>
            </a:solidFill>
          </a:ln>
        </p:spPr>
      </p:pic>
    </p:spTree>
    <p:extLst>
      <p:ext uri="{BB962C8B-B14F-4D97-AF65-F5344CB8AC3E}">
        <p14:creationId xmlns:p14="http://schemas.microsoft.com/office/powerpoint/2010/main" val="4204039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9711B-F5D4-6496-2011-F3ADDA90D91E}"/>
              </a:ext>
            </a:extLst>
          </p:cNvPr>
          <p:cNvSpPr>
            <a:spLocks noGrp="1"/>
          </p:cNvSpPr>
          <p:nvPr>
            <p:ph type="title"/>
          </p:nvPr>
        </p:nvSpPr>
        <p:spPr/>
        <p:txBody>
          <a:bodyPr/>
          <a:lstStyle/>
          <a:p>
            <a:r>
              <a:rPr lang="en-US" dirty="0"/>
              <a:t>Geodatabase</a:t>
            </a:r>
          </a:p>
        </p:txBody>
      </p:sp>
      <p:sp>
        <p:nvSpPr>
          <p:cNvPr id="3" name="Content Placeholder 2">
            <a:extLst>
              <a:ext uri="{FF2B5EF4-FFF2-40B4-BE49-F238E27FC236}">
                <a16:creationId xmlns:a16="http://schemas.microsoft.com/office/drawing/2014/main" id="{30453375-F36B-07A4-3889-C56B3ACA51D8}"/>
              </a:ext>
            </a:extLst>
          </p:cNvPr>
          <p:cNvSpPr>
            <a:spLocks noGrp="1"/>
          </p:cNvSpPr>
          <p:nvPr>
            <p:ph idx="1"/>
          </p:nvPr>
        </p:nvSpPr>
        <p:spPr/>
        <p:txBody>
          <a:bodyPr>
            <a:normAutofit/>
          </a:bodyPr>
          <a:lstStyle/>
          <a:p>
            <a:pPr marL="0" indent="0">
              <a:buNone/>
            </a:pPr>
            <a:r>
              <a:rPr lang="en-US" dirty="0"/>
              <a:t>In ArcGIS, the geodatabase is the native container for GIS data, it is Esri’s database for storing, querying, and managing spatial and nonspatial GIS data in one place.</a:t>
            </a:r>
          </a:p>
          <a:p>
            <a:pPr marL="0" indent="0">
              <a:buNone/>
            </a:pPr>
            <a:r>
              <a:rPr lang="en-US" dirty="0"/>
              <a:t>It is more than a folder of shapefiles. It can store:</a:t>
            </a:r>
          </a:p>
          <a:p>
            <a:pPr lvl="1"/>
            <a:r>
              <a:rPr lang="en-US" dirty="0"/>
              <a:t>geometry (points, lines, polygons)</a:t>
            </a:r>
          </a:p>
          <a:p>
            <a:pPr lvl="1"/>
            <a:r>
              <a:rPr lang="en-US" dirty="0"/>
              <a:t>Feature class, feature dataset</a:t>
            </a:r>
          </a:p>
          <a:p>
            <a:pPr lvl="1"/>
            <a:r>
              <a:rPr lang="en-US" dirty="0"/>
              <a:t>attributes</a:t>
            </a:r>
          </a:p>
          <a:p>
            <a:pPr lvl="1"/>
            <a:r>
              <a:rPr lang="en-US" dirty="0"/>
              <a:t>rules (domains, subtypes)</a:t>
            </a:r>
          </a:p>
          <a:p>
            <a:pPr lvl="1"/>
            <a:r>
              <a:rPr lang="en-US" dirty="0"/>
              <a:t>relationships</a:t>
            </a:r>
          </a:p>
          <a:p>
            <a:pPr lvl="1"/>
            <a:r>
              <a:rPr lang="en-US" dirty="0"/>
              <a:t>networks, topology, parcel fabric</a:t>
            </a:r>
          </a:p>
        </p:txBody>
      </p:sp>
    </p:spTree>
    <p:extLst>
      <p:ext uri="{BB962C8B-B14F-4D97-AF65-F5344CB8AC3E}">
        <p14:creationId xmlns:p14="http://schemas.microsoft.com/office/powerpoint/2010/main" val="3709155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2707F-31F9-3F5D-82CC-223344D5877E}"/>
              </a:ext>
            </a:extLst>
          </p:cNvPr>
          <p:cNvSpPr>
            <a:spLocks noGrp="1"/>
          </p:cNvSpPr>
          <p:nvPr>
            <p:ph type="title"/>
          </p:nvPr>
        </p:nvSpPr>
        <p:spPr/>
        <p:txBody>
          <a:bodyPr/>
          <a:lstStyle/>
          <a:p>
            <a:r>
              <a:rPr lang="en-US" dirty="0"/>
              <a:t>Type of Geodatabases</a:t>
            </a:r>
          </a:p>
        </p:txBody>
      </p:sp>
      <p:sp>
        <p:nvSpPr>
          <p:cNvPr id="3" name="Content Placeholder 2">
            <a:extLst>
              <a:ext uri="{FF2B5EF4-FFF2-40B4-BE49-F238E27FC236}">
                <a16:creationId xmlns:a16="http://schemas.microsoft.com/office/drawing/2014/main" id="{FAE77297-FA03-4A18-6657-6505A8CEFE3D}"/>
              </a:ext>
            </a:extLst>
          </p:cNvPr>
          <p:cNvSpPr>
            <a:spLocks noGrp="1"/>
          </p:cNvSpPr>
          <p:nvPr>
            <p:ph idx="1"/>
          </p:nvPr>
        </p:nvSpPr>
        <p:spPr/>
        <p:txBody>
          <a:bodyPr>
            <a:normAutofit fontScale="85000" lnSpcReduction="10000"/>
          </a:bodyPr>
          <a:lstStyle/>
          <a:p>
            <a:r>
              <a:rPr lang="en-US" sz="3600" dirty="0"/>
              <a:t>There are three types of geodatabases used by ArcGIS. </a:t>
            </a:r>
          </a:p>
          <a:p>
            <a:r>
              <a:rPr lang="en-US" b="1" dirty="0"/>
              <a:t>A personal geodatabase </a:t>
            </a:r>
            <a:r>
              <a:rPr lang="en-US" dirty="0"/>
              <a:t>is stored in a single Microsoft Access file. This file is limited to 2 GB in size and works only in the Windows operating system. ArcGIS Pro does not recognize this format, and it must be upgraded to a file geodatabase in ArcCatalog before it can be used with Pro. </a:t>
            </a:r>
          </a:p>
          <a:p>
            <a:r>
              <a:rPr lang="en-US" b="1" dirty="0"/>
              <a:t>A file geodatabase </a:t>
            </a:r>
            <a:r>
              <a:rPr lang="en-US" dirty="0"/>
              <a:t>is stored in a system folder, and each file can be up to 1 TB in size. File geodatabases can be accessed by multiple operating systems, including Linux and Unix. </a:t>
            </a:r>
          </a:p>
          <a:p>
            <a:r>
              <a:rPr lang="en-US" b="1" dirty="0"/>
              <a:t>An enterprise geodatabase </a:t>
            </a:r>
            <a:r>
              <a:rPr lang="en-US" dirty="0"/>
              <a:t>stores GIS data within a commercial relational database management system (RDBMS), such as Oracle® or SQL Server®. Enterprise geodatabases are designed to meet security and management needs for large data sets edited by many simultaneous users.</a:t>
            </a:r>
          </a:p>
        </p:txBody>
      </p:sp>
    </p:spTree>
    <p:extLst>
      <p:ext uri="{BB962C8B-B14F-4D97-AF65-F5344CB8AC3E}">
        <p14:creationId xmlns:p14="http://schemas.microsoft.com/office/powerpoint/2010/main" val="432793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2B1C-6FF2-CDE3-DF59-A465F8FBBAA4}"/>
              </a:ext>
            </a:extLst>
          </p:cNvPr>
          <p:cNvSpPr>
            <a:spLocks noGrp="1"/>
          </p:cNvSpPr>
          <p:nvPr>
            <p:ph type="title"/>
          </p:nvPr>
        </p:nvSpPr>
        <p:spPr/>
        <p:txBody>
          <a:bodyPr/>
          <a:lstStyle/>
          <a:p>
            <a:r>
              <a:rPr lang="en-US" dirty="0"/>
              <a:t>Other GIS data types:</a:t>
            </a:r>
          </a:p>
        </p:txBody>
      </p:sp>
      <p:sp>
        <p:nvSpPr>
          <p:cNvPr id="3" name="Content Placeholder 2">
            <a:extLst>
              <a:ext uri="{FF2B5EF4-FFF2-40B4-BE49-F238E27FC236}">
                <a16:creationId xmlns:a16="http://schemas.microsoft.com/office/drawing/2014/main" id="{59088EAC-8EEA-2D97-CD77-0AD40BC29E7A}"/>
              </a:ext>
            </a:extLst>
          </p:cNvPr>
          <p:cNvSpPr>
            <a:spLocks noGrp="1"/>
          </p:cNvSpPr>
          <p:nvPr>
            <p:ph idx="1"/>
          </p:nvPr>
        </p:nvSpPr>
        <p:spPr>
          <a:xfrm>
            <a:off x="272142" y="1455510"/>
            <a:ext cx="6515101" cy="4694918"/>
          </a:xfrm>
        </p:spPr>
        <p:txBody>
          <a:bodyPr>
            <a:normAutofit fontScale="92500" lnSpcReduction="20000"/>
          </a:bodyPr>
          <a:lstStyle/>
          <a:p>
            <a:r>
              <a:rPr lang="en-US" b="1" dirty="0"/>
              <a:t>Shapefile: </a:t>
            </a:r>
            <a:r>
              <a:rPr lang="en-US" dirty="0"/>
              <a:t>A shapefile is a spaghetti data format containing a feature class composed of points, lines, or polygons. The table attributes are stored in a dBase file. Shapefiles</a:t>
            </a:r>
          </a:p>
          <a:p>
            <a:endParaRPr lang="en-US" dirty="0"/>
          </a:p>
          <a:p>
            <a:r>
              <a:rPr lang="en-US" b="1" dirty="0"/>
              <a:t>Feature class: </a:t>
            </a:r>
            <a:r>
              <a:rPr lang="en-US" dirty="0"/>
              <a:t>A feature class is a collection of geographic features that all have:</a:t>
            </a:r>
          </a:p>
          <a:p>
            <a:pPr lvl="1"/>
            <a:r>
              <a:rPr lang="en-US" dirty="0"/>
              <a:t>the same geometry type (all points, or all lines, or all polygons)</a:t>
            </a:r>
          </a:p>
          <a:p>
            <a:pPr lvl="1"/>
            <a:r>
              <a:rPr lang="en-US" dirty="0"/>
              <a:t>the same attribute fields</a:t>
            </a:r>
          </a:p>
          <a:p>
            <a:pPr lvl="1"/>
            <a:r>
              <a:rPr lang="en-US" dirty="0"/>
              <a:t>the same spatial reference (same datum + coordinate system)</a:t>
            </a:r>
          </a:p>
          <a:p>
            <a:pPr lvl="1"/>
            <a:endParaRPr lang="en-US" dirty="0"/>
          </a:p>
        </p:txBody>
      </p:sp>
      <p:pic>
        <p:nvPicPr>
          <p:cNvPr id="5" name="Picture 4">
            <a:extLst>
              <a:ext uri="{FF2B5EF4-FFF2-40B4-BE49-F238E27FC236}">
                <a16:creationId xmlns:a16="http://schemas.microsoft.com/office/drawing/2014/main" id="{BCED716A-9ED4-846D-E1FD-DF45DA73984B}"/>
              </a:ext>
            </a:extLst>
          </p:cNvPr>
          <p:cNvPicPr>
            <a:picLocks noChangeAspect="1"/>
          </p:cNvPicPr>
          <p:nvPr/>
        </p:nvPicPr>
        <p:blipFill>
          <a:blip r:embed="rId2"/>
          <a:stretch>
            <a:fillRect/>
          </a:stretch>
        </p:blipFill>
        <p:spPr>
          <a:xfrm>
            <a:off x="6689272" y="1799319"/>
            <a:ext cx="5404757" cy="3603171"/>
          </a:xfrm>
          <a:prstGeom prst="rect">
            <a:avLst/>
          </a:prstGeom>
        </p:spPr>
      </p:pic>
    </p:spTree>
    <p:extLst>
      <p:ext uri="{BB962C8B-B14F-4D97-AF65-F5344CB8AC3E}">
        <p14:creationId xmlns:p14="http://schemas.microsoft.com/office/powerpoint/2010/main" val="3418729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D22FA1E-E02A-4FC5-BBA6-577D6DA0C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05D27520-F270-4F3D-A46E-76A337B6E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6315529 w 12192000"/>
              <a:gd name="connsiteY0" fmla="*/ 4323896 h 6858000"/>
              <a:gd name="connsiteX1" fmla="*/ 6295588 w 12192000"/>
              <a:gd name="connsiteY1" fmla="*/ 4367579 h 6858000"/>
              <a:gd name="connsiteX2" fmla="*/ 6219229 w 12192000"/>
              <a:gd name="connsiteY2" fmla="*/ 4436818 h 6858000"/>
              <a:gd name="connsiteX3" fmla="*/ 6065687 w 12192000"/>
              <a:gd name="connsiteY3" fmla="*/ 4637204 h 6858000"/>
              <a:gd name="connsiteX4" fmla="*/ 5727387 w 12192000"/>
              <a:gd name="connsiteY4" fmla="*/ 5460076 h 6858000"/>
              <a:gd name="connsiteX5" fmla="*/ 5620972 w 12192000"/>
              <a:gd name="connsiteY5" fmla="*/ 5725836 h 6858000"/>
              <a:gd name="connsiteX6" fmla="*/ 5707795 w 12192000"/>
              <a:gd name="connsiteY6" fmla="*/ 5790089 h 6858000"/>
              <a:gd name="connsiteX7" fmla="*/ 5554627 w 12192000"/>
              <a:gd name="connsiteY7" fmla="*/ 6078873 h 6858000"/>
              <a:gd name="connsiteX8" fmla="*/ 5373489 w 12192000"/>
              <a:gd name="connsiteY8" fmla="*/ 6402408 h 6858000"/>
              <a:gd name="connsiteX9" fmla="*/ 5099999 w 12192000"/>
              <a:gd name="connsiteY9" fmla="*/ 6827527 h 6858000"/>
              <a:gd name="connsiteX10" fmla="*/ 5078133 w 12192000"/>
              <a:gd name="connsiteY10" fmla="*/ 6857998 h 6858000"/>
              <a:gd name="connsiteX11" fmla="*/ 9179960 w 12192000"/>
              <a:gd name="connsiteY11" fmla="*/ 6857998 h 6858000"/>
              <a:gd name="connsiteX12" fmla="*/ 9179960 w 12192000"/>
              <a:gd name="connsiteY12" fmla="*/ 4323896 h 6858000"/>
              <a:gd name="connsiteX13" fmla="*/ 0 w 12192000"/>
              <a:gd name="connsiteY13" fmla="*/ 0 h 6858000"/>
              <a:gd name="connsiteX14" fmla="*/ 5872711 w 12192000"/>
              <a:gd name="connsiteY14" fmla="*/ 0 h 6858000"/>
              <a:gd name="connsiteX15" fmla="*/ 5885421 w 12192000"/>
              <a:gd name="connsiteY15" fmla="*/ 20207 h 6858000"/>
              <a:gd name="connsiteX16" fmla="*/ 5925300 w 12192000"/>
              <a:gd name="connsiteY16" fmla="*/ 48911 h 6858000"/>
              <a:gd name="connsiteX17" fmla="*/ 5940039 w 12192000"/>
              <a:gd name="connsiteY17" fmla="*/ 101212 h 6858000"/>
              <a:gd name="connsiteX18" fmla="*/ 5969942 w 12192000"/>
              <a:gd name="connsiteY18" fmla="*/ 311282 h 6858000"/>
              <a:gd name="connsiteX19" fmla="*/ 5961238 w 12192000"/>
              <a:gd name="connsiteY19" fmla="*/ 357643 h 6858000"/>
              <a:gd name="connsiteX20" fmla="*/ 5917195 w 12192000"/>
              <a:gd name="connsiteY20" fmla="*/ 420369 h 6858000"/>
              <a:gd name="connsiteX21" fmla="*/ 5882753 w 12192000"/>
              <a:gd name="connsiteY21" fmla="*/ 556832 h 6858000"/>
              <a:gd name="connsiteX22" fmla="*/ 5814490 w 12192000"/>
              <a:gd name="connsiteY22" fmla="*/ 757416 h 6858000"/>
              <a:gd name="connsiteX23" fmla="*/ 5780064 w 12192000"/>
              <a:gd name="connsiteY23" fmla="*/ 817804 h 6858000"/>
              <a:gd name="connsiteX24" fmla="*/ 5808232 w 12192000"/>
              <a:gd name="connsiteY24" fmla="*/ 850533 h 6858000"/>
              <a:gd name="connsiteX25" fmla="*/ 5906473 w 12192000"/>
              <a:gd name="connsiteY25" fmla="*/ 1076571 h 6858000"/>
              <a:gd name="connsiteX26" fmla="*/ 5778623 w 12192000"/>
              <a:gd name="connsiteY26" fmla="*/ 1369280 h 6858000"/>
              <a:gd name="connsiteX27" fmla="*/ 5710841 w 12192000"/>
              <a:gd name="connsiteY27" fmla="*/ 1462628 h 6858000"/>
              <a:gd name="connsiteX28" fmla="*/ 5846774 w 12192000"/>
              <a:gd name="connsiteY28" fmla="*/ 1455933 h 6858000"/>
              <a:gd name="connsiteX29" fmla="*/ 5897329 w 12192000"/>
              <a:gd name="connsiteY29" fmla="*/ 1553073 h 6858000"/>
              <a:gd name="connsiteX30" fmla="*/ 5919735 w 12192000"/>
              <a:gd name="connsiteY30" fmla="*/ 1602736 h 6858000"/>
              <a:gd name="connsiteX31" fmla="*/ 6057874 w 12192000"/>
              <a:gd name="connsiteY31" fmla="*/ 1910648 h 6858000"/>
              <a:gd name="connsiteX32" fmla="*/ 6039719 w 12192000"/>
              <a:gd name="connsiteY32" fmla="*/ 2010547 h 6858000"/>
              <a:gd name="connsiteX33" fmla="*/ 5841713 w 12192000"/>
              <a:gd name="connsiteY33" fmla="*/ 2520599 h 6858000"/>
              <a:gd name="connsiteX34" fmla="*/ 6071734 w 12192000"/>
              <a:gd name="connsiteY34" fmla="*/ 2593468 h 6858000"/>
              <a:gd name="connsiteX35" fmla="*/ 6092050 w 12192000"/>
              <a:gd name="connsiteY35" fmla="*/ 2806646 h 6858000"/>
              <a:gd name="connsiteX36" fmla="*/ 6215122 w 12192000"/>
              <a:gd name="connsiteY36" fmla="*/ 3021197 h 6858000"/>
              <a:gd name="connsiteX37" fmla="*/ 6338100 w 12192000"/>
              <a:gd name="connsiteY37" fmla="*/ 3178087 h 6858000"/>
              <a:gd name="connsiteX38" fmla="*/ 6343927 w 12192000"/>
              <a:gd name="connsiteY38" fmla="*/ 3194685 h 6858000"/>
              <a:gd name="connsiteX39" fmla="*/ 6343850 w 12192000"/>
              <a:gd name="connsiteY39" fmla="*/ 3201174 h 6858000"/>
              <a:gd name="connsiteX40" fmla="*/ 6366375 w 12192000"/>
              <a:gd name="connsiteY40" fmla="*/ 3271251 h 6858000"/>
              <a:gd name="connsiteX41" fmla="*/ 6369430 w 12192000"/>
              <a:gd name="connsiteY41" fmla="*/ 3276240 h 6858000"/>
              <a:gd name="connsiteX42" fmla="*/ 6392405 w 12192000"/>
              <a:gd name="connsiteY42" fmla="*/ 3360437 h 6858000"/>
              <a:gd name="connsiteX43" fmla="*/ 6397993 w 12192000"/>
              <a:gd name="connsiteY43" fmla="*/ 3390203 h 6858000"/>
              <a:gd name="connsiteX44" fmla="*/ 6394652 w 12192000"/>
              <a:gd name="connsiteY44" fmla="*/ 3402205 h 6858000"/>
              <a:gd name="connsiteX45" fmla="*/ 6366662 w 12192000"/>
              <a:gd name="connsiteY45" fmla="*/ 3442044 h 6858000"/>
              <a:gd name="connsiteX46" fmla="*/ 6320915 w 12192000"/>
              <a:gd name="connsiteY46" fmla="*/ 3701547 h 6858000"/>
              <a:gd name="connsiteX47" fmla="*/ 6364618 w 12192000"/>
              <a:gd name="connsiteY47" fmla="*/ 3743844 h 6858000"/>
              <a:gd name="connsiteX48" fmla="*/ 6370409 w 12192000"/>
              <a:gd name="connsiteY48" fmla="*/ 3754454 h 6858000"/>
              <a:gd name="connsiteX49" fmla="*/ 6373773 w 12192000"/>
              <a:gd name="connsiteY49" fmla="*/ 3768237 h 6858000"/>
              <a:gd name="connsiteX50" fmla="*/ 6375298 w 12192000"/>
              <a:gd name="connsiteY50" fmla="*/ 3796540 h 6858000"/>
              <a:gd name="connsiteX51" fmla="*/ 6253487 w 12192000"/>
              <a:gd name="connsiteY51" fmla="*/ 3856948 h 6858000"/>
              <a:gd name="connsiteX52" fmla="*/ 6385416 w 12192000"/>
              <a:gd name="connsiteY52" fmla="*/ 4014409 h 6858000"/>
              <a:gd name="connsiteX53" fmla="*/ 6374795 w 12192000"/>
              <a:gd name="connsiteY53" fmla="*/ 4038554 h 6858000"/>
              <a:gd name="connsiteX54" fmla="*/ 6351015 w 12192000"/>
              <a:gd name="connsiteY54" fmla="*/ 4150489 h 6858000"/>
              <a:gd name="connsiteX55" fmla="*/ 6340821 w 12192000"/>
              <a:gd name="connsiteY55" fmla="*/ 4212706 h 6858000"/>
              <a:gd name="connsiteX56" fmla="*/ 12191999 w 12192000"/>
              <a:gd name="connsiteY56" fmla="*/ 4212706 h 6858000"/>
              <a:gd name="connsiteX57" fmla="*/ 12191999 w 12192000"/>
              <a:gd name="connsiteY57" fmla="*/ 0 h 6858000"/>
              <a:gd name="connsiteX58" fmla="*/ 12192000 w 12192000"/>
              <a:gd name="connsiteY58" fmla="*/ 0 h 6858000"/>
              <a:gd name="connsiteX59" fmla="*/ 12192000 w 12192000"/>
              <a:gd name="connsiteY59" fmla="*/ 6858000 h 6858000"/>
              <a:gd name="connsiteX60" fmla="*/ 12191999 w 12192000"/>
              <a:gd name="connsiteY60" fmla="*/ 6858000 h 6858000"/>
              <a:gd name="connsiteX61" fmla="*/ 12191999 w 12192000"/>
              <a:gd name="connsiteY61" fmla="*/ 4323902 h 6858000"/>
              <a:gd name="connsiteX62" fmla="*/ 9307672 w 12192000"/>
              <a:gd name="connsiteY62" fmla="*/ 4323902 h 6858000"/>
              <a:gd name="connsiteX63" fmla="*/ 9307672 w 12192000"/>
              <a:gd name="connsiteY63" fmla="*/ 6858000 h 6858000"/>
              <a:gd name="connsiteX64" fmla="*/ 0 w 12192000"/>
              <a:gd name="connsiteY6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2000" h="6858000">
                <a:moveTo>
                  <a:pt x="6315529" y="4323896"/>
                </a:moveTo>
                <a:lnTo>
                  <a:pt x="6295588" y="4367579"/>
                </a:lnTo>
                <a:cubicBezTo>
                  <a:pt x="6278024" y="4397022"/>
                  <a:pt x="6253813" y="4421099"/>
                  <a:pt x="6219229" y="4436818"/>
                </a:cubicBezTo>
                <a:cubicBezTo>
                  <a:pt x="6148079" y="4469666"/>
                  <a:pt x="6116436" y="4572066"/>
                  <a:pt x="6065687" y="4637204"/>
                </a:cubicBezTo>
                <a:cubicBezTo>
                  <a:pt x="5888713" y="4862696"/>
                  <a:pt x="5773979" y="5125824"/>
                  <a:pt x="5727387" y="5460076"/>
                </a:cubicBezTo>
                <a:cubicBezTo>
                  <a:pt x="5714326" y="5552523"/>
                  <a:pt x="5656974" y="5638673"/>
                  <a:pt x="5620972" y="5725836"/>
                </a:cubicBezTo>
                <a:cubicBezTo>
                  <a:pt x="5641553" y="5779043"/>
                  <a:pt x="5738619" y="5631221"/>
                  <a:pt x="5707795" y="5790089"/>
                </a:cubicBezTo>
                <a:cubicBezTo>
                  <a:pt x="5684453" y="5909876"/>
                  <a:pt x="5617437" y="5996827"/>
                  <a:pt x="5554627" y="6078873"/>
                </a:cubicBezTo>
                <a:cubicBezTo>
                  <a:pt x="5482491" y="6172498"/>
                  <a:pt x="5402203" y="6253366"/>
                  <a:pt x="5373489" y="6402408"/>
                </a:cubicBezTo>
                <a:cubicBezTo>
                  <a:pt x="5371924" y="6410357"/>
                  <a:pt x="5276557" y="6577417"/>
                  <a:pt x="5099999" y="6827527"/>
                </a:cubicBezTo>
                <a:lnTo>
                  <a:pt x="5078133" y="6857998"/>
                </a:lnTo>
                <a:lnTo>
                  <a:pt x="9179960" y="6857998"/>
                </a:lnTo>
                <a:lnTo>
                  <a:pt x="9179960" y="4323896"/>
                </a:lnTo>
                <a:close/>
                <a:moveTo>
                  <a:pt x="0" y="0"/>
                </a:moveTo>
                <a:lnTo>
                  <a:pt x="5872711" y="0"/>
                </a:lnTo>
                <a:lnTo>
                  <a:pt x="5885421" y="20207"/>
                </a:lnTo>
                <a:cubicBezTo>
                  <a:pt x="5896481" y="32882"/>
                  <a:pt x="5909484" y="42864"/>
                  <a:pt x="5925300" y="48911"/>
                </a:cubicBezTo>
                <a:cubicBezTo>
                  <a:pt x="5940498" y="54526"/>
                  <a:pt x="5945509" y="75042"/>
                  <a:pt x="5940039" y="101212"/>
                </a:cubicBezTo>
                <a:cubicBezTo>
                  <a:pt x="5921950" y="187894"/>
                  <a:pt x="5936667" y="254951"/>
                  <a:pt x="5969942" y="311282"/>
                </a:cubicBezTo>
                <a:cubicBezTo>
                  <a:pt x="5981709" y="330926"/>
                  <a:pt x="5977292" y="344422"/>
                  <a:pt x="5961238" y="357643"/>
                </a:cubicBezTo>
                <a:cubicBezTo>
                  <a:pt x="5942802" y="372223"/>
                  <a:pt x="5928461" y="393565"/>
                  <a:pt x="5917195" y="420369"/>
                </a:cubicBezTo>
                <a:cubicBezTo>
                  <a:pt x="5898701" y="463685"/>
                  <a:pt x="5889992" y="510050"/>
                  <a:pt x="5882753" y="556832"/>
                </a:cubicBezTo>
                <a:cubicBezTo>
                  <a:pt x="5871511" y="630206"/>
                  <a:pt x="5858246" y="700969"/>
                  <a:pt x="5814490" y="757416"/>
                </a:cubicBezTo>
                <a:cubicBezTo>
                  <a:pt x="5801465" y="774559"/>
                  <a:pt x="5791019" y="796511"/>
                  <a:pt x="5780064" y="817804"/>
                </a:cubicBezTo>
                <a:cubicBezTo>
                  <a:pt x="5783558" y="836359"/>
                  <a:pt x="5792196" y="849005"/>
                  <a:pt x="5808232" y="850533"/>
                </a:cubicBezTo>
                <a:cubicBezTo>
                  <a:pt x="5910296" y="860624"/>
                  <a:pt x="5905771" y="962632"/>
                  <a:pt x="5906473" y="1076571"/>
                </a:cubicBezTo>
                <a:cubicBezTo>
                  <a:pt x="5907545" y="1217584"/>
                  <a:pt x="5849973" y="1296799"/>
                  <a:pt x="5778623" y="1369280"/>
                </a:cubicBezTo>
                <a:cubicBezTo>
                  <a:pt x="5754207" y="1393852"/>
                  <a:pt x="5718605" y="1401742"/>
                  <a:pt x="5710841" y="1462628"/>
                </a:cubicBezTo>
                <a:cubicBezTo>
                  <a:pt x="5753463" y="1508141"/>
                  <a:pt x="5802053" y="1451295"/>
                  <a:pt x="5846774" y="1455933"/>
                </a:cubicBezTo>
                <a:cubicBezTo>
                  <a:pt x="5883727" y="1460129"/>
                  <a:pt x="5943609" y="1438568"/>
                  <a:pt x="5897329" y="1553073"/>
                </a:cubicBezTo>
                <a:cubicBezTo>
                  <a:pt x="5883856" y="1586627"/>
                  <a:pt x="5901366" y="1604100"/>
                  <a:pt x="5919735" y="1602736"/>
                </a:cubicBezTo>
                <a:cubicBezTo>
                  <a:pt x="6068526" y="1589022"/>
                  <a:pt x="6006837" y="1813624"/>
                  <a:pt x="6057874" y="1910648"/>
                </a:cubicBezTo>
                <a:cubicBezTo>
                  <a:pt x="6072264" y="1936644"/>
                  <a:pt x="6059978" y="1992417"/>
                  <a:pt x="6039719" y="2010547"/>
                </a:cubicBezTo>
                <a:cubicBezTo>
                  <a:pt x="5911143" y="2127229"/>
                  <a:pt x="5899692" y="2331836"/>
                  <a:pt x="5841713" y="2520599"/>
                </a:cubicBezTo>
                <a:cubicBezTo>
                  <a:pt x="5912636" y="2572423"/>
                  <a:pt x="5995799" y="2566926"/>
                  <a:pt x="6071734" y="2593468"/>
                </a:cubicBezTo>
                <a:cubicBezTo>
                  <a:pt x="6150607" y="2620843"/>
                  <a:pt x="6151703" y="2655507"/>
                  <a:pt x="6092050" y="2806646"/>
                </a:cubicBezTo>
                <a:cubicBezTo>
                  <a:pt x="6259331" y="2795420"/>
                  <a:pt x="6259331" y="2795420"/>
                  <a:pt x="6215122" y="3021197"/>
                </a:cubicBezTo>
                <a:cubicBezTo>
                  <a:pt x="6259035" y="3016573"/>
                  <a:pt x="6302431" y="3085300"/>
                  <a:pt x="6338100" y="3178087"/>
                </a:cubicBezTo>
                <a:lnTo>
                  <a:pt x="6343927" y="3194685"/>
                </a:lnTo>
                <a:lnTo>
                  <a:pt x="6343850" y="3201174"/>
                </a:lnTo>
                <a:cubicBezTo>
                  <a:pt x="6346866" y="3232770"/>
                  <a:pt x="6355995" y="3253323"/>
                  <a:pt x="6366375" y="3271251"/>
                </a:cubicBezTo>
                <a:lnTo>
                  <a:pt x="6369430" y="3276240"/>
                </a:lnTo>
                <a:lnTo>
                  <a:pt x="6392405" y="3360437"/>
                </a:lnTo>
                <a:lnTo>
                  <a:pt x="6397993" y="3390203"/>
                </a:lnTo>
                <a:lnTo>
                  <a:pt x="6394652" y="3402205"/>
                </a:lnTo>
                <a:cubicBezTo>
                  <a:pt x="6388505" y="3414621"/>
                  <a:pt x="6379344" y="3427747"/>
                  <a:pt x="6366662" y="3442044"/>
                </a:cubicBezTo>
                <a:cubicBezTo>
                  <a:pt x="6239481" y="3584662"/>
                  <a:pt x="6224938" y="3605480"/>
                  <a:pt x="6320915" y="3701547"/>
                </a:cubicBezTo>
                <a:lnTo>
                  <a:pt x="6364618" y="3743844"/>
                </a:lnTo>
                <a:lnTo>
                  <a:pt x="6370409" y="3754454"/>
                </a:lnTo>
                <a:lnTo>
                  <a:pt x="6373773" y="3768237"/>
                </a:lnTo>
                <a:cubicBezTo>
                  <a:pt x="6374277" y="3777528"/>
                  <a:pt x="6374207" y="3788146"/>
                  <a:pt x="6375298" y="3796540"/>
                </a:cubicBezTo>
                <a:cubicBezTo>
                  <a:pt x="6339717" y="3831045"/>
                  <a:pt x="6294642" y="3774365"/>
                  <a:pt x="6253487" y="3856948"/>
                </a:cubicBezTo>
                <a:lnTo>
                  <a:pt x="6385416" y="4014409"/>
                </a:lnTo>
                <a:lnTo>
                  <a:pt x="6374795" y="4038554"/>
                </a:lnTo>
                <a:cubicBezTo>
                  <a:pt x="6363579" y="4073249"/>
                  <a:pt x="6356895" y="4111559"/>
                  <a:pt x="6351015" y="4150489"/>
                </a:cubicBezTo>
                <a:lnTo>
                  <a:pt x="6340821" y="4212706"/>
                </a:lnTo>
                <a:lnTo>
                  <a:pt x="12191999" y="4212706"/>
                </a:lnTo>
                <a:lnTo>
                  <a:pt x="12191999" y="0"/>
                </a:lnTo>
                <a:lnTo>
                  <a:pt x="12192000" y="0"/>
                </a:lnTo>
                <a:lnTo>
                  <a:pt x="12192000" y="6858000"/>
                </a:lnTo>
                <a:lnTo>
                  <a:pt x="12191999" y="6858000"/>
                </a:lnTo>
                <a:lnTo>
                  <a:pt x="12191999" y="4323902"/>
                </a:lnTo>
                <a:lnTo>
                  <a:pt x="9307672" y="4323902"/>
                </a:lnTo>
                <a:lnTo>
                  <a:pt x="9307672" y="6858000"/>
                </a:lnTo>
                <a:lnTo>
                  <a:pt x="0" y="6858000"/>
                </a:lnTo>
                <a:close/>
              </a:path>
            </a:pathLst>
          </a:custGeom>
          <a:solidFill>
            <a:schemeClr val="bg2">
              <a:alpha val="50000"/>
            </a:schemeClr>
          </a:solidFill>
          <a:ln w="32707" cap="flat">
            <a:noFill/>
            <a:prstDash val="solid"/>
            <a:miter/>
          </a:ln>
        </p:spPr>
        <p:txBody>
          <a:bodyPr rtlCol="0" anchor="ctr"/>
          <a:lstStyle/>
          <a:p>
            <a:pPr defTabSz="457200"/>
            <a:endParaRPr lang="en-US">
              <a:solidFill>
                <a:schemeClr val="tx1"/>
              </a:solidFill>
            </a:endParaRPr>
          </a:p>
        </p:txBody>
      </p:sp>
      <p:sp>
        <p:nvSpPr>
          <p:cNvPr id="2" name="Title 1">
            <a:extLst>
              <a:ext uri="{FF2B5EF4-FFF2-40B4-BE49-F238E27FC236}">
                <a16:creationId xmlns:a16="http://schemas.microsoft.com/office/drawing/2014/main" id="{C8929D5F-0C1F-B657-5E88-0E08CCC85F15}"/>
              </a:ext>
            </a:extLst>
          </p:cNvPr>
          <p:cNvSpPr>
            <a:spLocks noGrp="1"/>
          </p:cNvSpPr>
          <p:nvPr>
            <p:ph type="title"/>
          </p:nvPr>
        </p:nvSpPr>
        <p:spPr>
          <a:xfrm>
            <a:off x="838200" y="365125"/>
            <a:ext cx="4347949" cy="2137273"/>
          </a:xfrm>
        </p:spPr>
        <p:txBody>
          <a:bodyPr anchor="b">
            <a:normAutofit/>
          </a:bodyPr>
          <a:lstStyle/>
          <a:p>
            <a:r>
              <a:rPr lang="en-US"/>
              <a:t>Continue..</a:t>
            </a:r>
          </a:p>
        </p:txBody>
      </p:sp>
      <p:sp>
        <p:nvSpPr>
          <p:cNvPr id="3" name="Content Placeholder 2">
            <a:extLst>
              <a:ext uri="{FF2B5EF4-FFF2-40B4-BE49-F238E27FC236}">
                <a16:creationId xmlns:a16="http://schemas.microsoft.com/office/drawing/2014/main" id="{EB4FAED4-2EC7-ADB6-0EC8-AEA1D5212C43}"/>
              </a:ext>
            </a:extLst>
          </p:cNvPr>
          <p:cNvSpPr>
            <a:spLocks noGrp="1"/>
          </p:cNvSpPr>
          <p:nvPr>
            <p:ph idx="1"/>
          </p:nvPr>
        </p:nvSpPr>
        <p:spPr>
          <a:xfrm>
            <a:off x="838200" y="2681785"/>
            <a:ext cx="4347948" cy="3495178"/>
          </a:xfrm>
        </p:spPr>
        <p:txBody>
          <a:bodyPr>
            <a:normAutofit/>
          </a:bodyPr>
          <a:lstStyle/>
          <a:p>
            <a:r>
              <a:rPr lang="en-US" sz="2000" b="1"/>
              <a:t>Feature dataset</a:t>
            </a:r>
            <a:r>
              <a:rPr lang="en-US" sz="2000"/>
              <a:t>: A feature dataset is a container inside a geodatabase that holds related feature classes sharing one coordinate system.</a:t>
            </a:r>
          </a:p>
        </p:txBody>
      </p:sp>
      <p:pic>
        <p:nvPicPr>
          <p:cNvPr id="9" name="Picture 8">
            <a:extLst>
              <a:ext uri="{FF2B5EF4-FFF2-40B4-BE49-F238E27FC236}">
                <a16:creationId xmlns:a16="http://schemas.microsoft.com/office/drawing/2014/main" id="{5941953D-4ECE-A07C-9F45-0E7280DA39F1}"/>
              </a:ext>
            </a:extLst>
          </p:cNvPr>
          <p:cNvPicPr>
            <a:picLocks noChangeAspect="1"/>
          </p:cNvPicPr>
          <p:nvPr/>
        </p:nvPicPr>
        <p:blipFill>
          <a:blip r:embed="rId2"/>
          <a:stretch>
            <a:fillRect/>
          </a:stretch>
        </p:blipFill>
        <p:spPr>
          <a:xfrm>
            <a:off x="6777309" y="563626"/>
            <a:ext cx="4797354" cy="3202233"/>
          </a:xfrm>
          <a:prstGeom prst="rect">
            <a:avLst/>
          </a:prstGeom>
        </p:spPr>
      </p:pic>
      <p:pic>
        <p:nvPicPr>
          <p:cNvPr id="7" name="Picture 6">
            <a:extLst>
              <a:ext uri="{FF2B5EF4-FFF2-40B4-BE49-F238E27FC236}">
                <a16:creationId xmlns:a16="http://schemas.microsoft.com/office/drawing/2014/main" id="{EA825D8C-3524-6C0B-EE6A-441076ECBF39}"/>
              </a:ext>
            </a:extLst>
          </p:cNvPr>
          <p:cNvPicPr>
            <a:picLocks noChangeAspect="1"/>
          </p:cNvPicPr>
          <p:nvPr/>
        </p:nvPicPr>
        <p:blipFill>
          <a:blip r:embed="rId3"/>
          <a:stretch>
            <a:fillRect/>
          </a:stretch>
        </p:blipFill>
        <p:spPr>
          <a:xfrm>
            <a:off x="4847885" y="4356273"/>
            <a:ext cx="3858847" cy="2000077"/>
          </a:xfrm>
          <a:prstGeom prst="rect">
            <a:avLst/>
          </a:prstGeom>
        </p:spPr>
      </p:pic>
      <p:pic>
        <p:nvPicPr>
          <p:cNvPr id="5" name="Picture 4">
            <a:extLst>
              <a:ext uri="{FF2B5EF4-FFF2-40B4-BE49-F238E27FC236}">
                <a16:creationId xmlns:a16="http://schemas.microsoft.com/office/drawing/2014/main" id="{EA44E5E4-F89A-E469-DCF2-72349B5CC307}"/>
              </a:ext>
            </a:extLst>
          </p:cNvPr>
          <p:cNvPicPr>
            <a:picLocks noChangeAspect="1"/>
          </p:cNvPicPr>
          <p:nvPr/>
        </p:nvPicPr>
        <p:blipFill>
          <a:blip r:embed="rId4"/>
          <a:stretch>
            <a:fillRect/>
          </a:stretch>
        </p:blipFill>
        <p:spPr>
          <a:xfrm>
            <a:off x="8903783" y="4271610"/>
            <a:ext cx="3088117" cy="2169401"/>
          </a:xfrm>
          <a:prstGeom prst="rect">
            <a:avLst/>
          </a:prstGeom>
        </p:spPr>
      </p:pic>
    </p:spTree>
    <p:extLst>
      <p:ext uri="{BB962C8B-B14F-4D97-AF65-F5344CB8AC3E}">
        <p14:creationId xmlns:p14="http://schemas.microsoft.com/office/powerpoint/2010/main" val="3079148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4DC3-E959-2BD8-6E24-D0DE55BC0BF7}"/>
              </a:ext>
            </a:extLst>
          </p:cNvPr>
          <p:cNvSpPr>
            <a:spLocks noGrp="1"/>
          </p:cNvSpPr>
          <p:nvPr>
            <p:ph type="title"/>
          </p:nvPr>
        </p:nvSpPr>
        <p:spPr/>
        <p:txBody>
          <a:bodyPr/>
          <a:lstStyle/>
          <a:p>
            <a:r>
              <a:rPr lang="en-US" dirty="0"/>
              <a:t>Domains and Subtypes in Geodatabase</a:t>
            </a:r>
          </a:p>
        </p:txBody>
      </p:sp>
      <p:sp>
        <p:nvSpPr>
          <p:cNvPr id="3" name="Content Placeholder 2">
            <a:extLst>
              <a:ext uri="{FF2B5EF4-FFF2-40B4-BE49-F238E27FC236}">
                <a16:creationId xmlns:a16="http://schemas.microsoft.com/office/drawing/2014/main" id="{AA4C74DE-3C81-64FB-5DA8-1CBAF160F41A}"/>
              </a:ext>
            </a:extLst>
          </p:cNvPr>
          <p:cNvSpPr>
            <a:spLocks noGrp="1"/>
          </p:cNvSpPr>
          <p:nvPr>
            <p:ph idx="1"/>
          </p:nvPr>
        </p:nvSpPr>
        <p:spPr/>
        <p:txBody>
          <a:bodyPr>
            <a:normAutofit fontScale="92500" lnSpcReduction="10000"/>
          </a:bodyPr>
          <a:lstStyle/>
          <a:p>
            <a:pPr marL="0" indent="0">
              <a:buNone/>
            </a:pPr>
            <a:r>
              <a:rPr lang="en-US" dirty="0"/>
              <a:t>Both domain and subtypes used to enforce data integrity inside a geodatabase by allowing valid values and denning invalided values.</a:t>
            </a:r>
          </a:p>
          <a:p>
            <a:r>
              <a:rPr lang="en-US" dirty="0"/>
              <a:t>A domain is a geodatabase rule that limits what can be stored in an attribute field. The domain lives in the geodatabase, not inside one shapefile. You create it once, then assign it to fields on one or many feature classes.</a:t>
            </a:r>
          </a:p>
          <a:p>
            <a:pPr marL="0" indent="0">
              <a:buNone/>
            </a:pPr>
            <a:r>
              <a:rPr lang="en-US" dirty="0"/>
              <a:t>There are two types of domains:</a:t>
            </a:r>
          </a:p>
          <a:p>
            <a:r>
              <a:rPr lang="en-US" dirty="0"/>
              <a:t>Coded value domain (a list)</a:t>
            </a:r>
          </a:p>
          <a:p>
            <a:pPr lvl="1">
              <a:buFont typeface="Courier New" panose="02070309020205020404" pitchFamily="49" charset="0"/>
              <a:buChar char="o"/>
            </a:pPr>
            <a:r>
              <a:rPr lang="en-US" dirty="0"/>
              <a:t>A list of codes plus labels. The database stores the code; the map shows the description.</a:t>
            </a:r>
          </a:p>
          <a:p>
            <a:pPr lvl="1">
              <a:buFont typeface="Courier New" panose="02070309020205020404" pitchFamily="49" charset="0"/>
              <a:buChar char="o"/>
            </a:pPr>
            <a:r>
              <a:rPr lang="en-US" dirty="0"/>
              <a:t>Range domain (min and max), A number field must stay between 	a </a:t>
            </a:r>
            <a:r>
              <a:rPr lang="en-US" b="1" dirty="0"/>
              <a:t>minimum</a:t>
            </a:r>
            <a:r>
              <a:rPr lang="en-US" dirty="0"/>
              <a:t> and a </a:t>
            </a:r>
            <a:r>
              <a:rPr lang="en-US" b="1" dirty="0"/>
              <a:t>maximum</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626392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107028-51DF-EE63-6030-991556B4EF43}"/>
              </a:ext>
            </a:extLst>
          </p:cNvPr>
          <p:cNvSpPr>
            <a:spLocks noGrp="1"/>
          </p:cNvSpPr>
          <p:nvPr>
            <p:ph type="title"/>
          </p:nvPr>
        </p:nvSpPr>
        <p:spPr>
          <a:xfrm>
            <a:off x="793662" y="386930"/>
            <a:ext cx="10066122" cy="1298448"/>
          </a:xfrm>
        </p:spPr>
        <p:txBody>
          <a:bodyPr anchor="b">
            <a:normAutofit/>
          </a:bodyPr>
          <a:lstStyle/>
          <a:p>
            <a:r>
              <a:rPr lang="en-US" sz="4800"/>
              <a:t>Continue..</a:t>
            </a:r>
          </a:p>
        </p:txBody>
      </p:sp>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BE0BFD-43B1-73EA-0CDC-43EC2129D85B}"/>
              </a:ext>
            </a:extLst>
          </p:cNvPr>
          <p:cNvSpPr>
            <a:spLocks noGrp="1"/>
          </p:cNvSpPr>
          <p:nvPr>
            <p:ph idx="1"/>
          </p:nvPr>
        </p:nvSpPr>
        <p:spPr>
          <a:xfrm>
            <a:off x="440884" y="2318656"/>
            <a:ext cx="4530898" cy="2912131"/>
          </a:xfrm>
        </p:spPr>
        <p:txBody>
          <a:bodyPr anchor="ctr">
            <a:normAutofit lnSpcReduction="10000"/>
          </a:bodyPr>
          <a:lstStyle/>
          <a:p>
            <a:r>
              <a:rPr lang="en-US" sz="2000" dirty="0"/>
              <a:t> Subtype is a subset of features inside one feature class, defined by an integer field (the subtype field). Its is possible still have one feature class (one table, one geometry type), Subtypes are categories of rows in that table.</a:t>
            </a:r>
          </a:p>
          <a:p>
            <a:r>
              <a:rPr lang="en-US" sz="2000" dirty="0"/>
              <a:t>Subtypes — on the Towers feature class, using a field like TowerType:1 = Macro tower2 = Small cell3 = Rooftop antenna</a:t>
            </a:r>
          </a:p>
        </p:txBody>
      </p:sp>
      <p:sp>
        <p:nvSpPr>
          <p:cNvPr id="29" name="Rectangle 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2C8DB612-E474-4780-2533-C923336FEA79}"/>
              </a:ext>
            </a:extLst>
          </p:cNvPr>
          <p:cNvGraphicFramePr>
            <a:graphicFrameLocks noGrp="1"/>
          </p:cNvGraphicFramePr>
          <p:nvPr>
            <p:extLst>
              <p:ext uri="{D42A27DB-BD31-4B8C-83A1-F6EECF244321}">
                <p14:modId xmlns:p14="http://schemas.microsoft.com/office/powerpoint/2010/main" val="2370870719"/>
              </p:ext>
            </p:extLst>
          </p:nvPr>
        </p:nvGraphicFramePr>
        <p:xfrm>
          <a:off x="5148943" y="2318657"/>
          <a:ext cx="5912867" cy="3809998"/>
        </p:xfrm>
        <a:graphic>
          <a:graphicData uri="http://schemas.openxmlformats.org/drawingml/2006/table">
            <a:tbl>
              <a:tblPr/>
              <a:tblGrid>
                <a:gridCol w="958338">
                  <a:extLst>
                    <a:ext uri="{9D8B030D-6E8A-4147-A177-3AD203B41FA5}">
                      <a16:colId xmlns:a16="http://schemas.microsoft.com/office/drawing/2014/main" val="2557413262"/>
                    </a:ext>
                  </a:extLst>
                </a:gridCol>
                <a:gridCol w="2447764">
                  <a:extLst>
                    <a:ext uri="{9D8B030D-6E8A-4147-A177-3AD203B41FA5}">
                      <a16:colId xmlns:a16="http://schemas.microsoft.com/office/drawing/2014/main" val="1868304498"/>
                    </a:ext>
                  </a:extLst>
                </a:gridCol>
                <a:gridCol w="2506765">
                  <a:extLst>
                    <a:ext uri="{9D8B030D-6E8A-4147-A177-3AD203B41FA5}">
                      <a16:colId xmlns:a16="http://schemas.microsoft.com/office/drawing/2014/main" val="3776375091"/>
                    </a:ext>
                  </a:extLst>
                </a:gridCol>
              </a:tblGrid>
              <a:tr h="294852">
                <a:tc>
                  <a:txBody>
                    <a:bodyPr/>
                    <a:lstStyle/>
                    <a:p>
                      <a:pPr algn="l" fontAlgn="ctr">
                        <a:buNone/>
                      </a:pPr>
                      <a:r>
                        <a:rPr lang="en-US" sz="1200" b="1" i="0" u="none" strike="noStrike">
                          <a:effectLst/>
                          <a:latin typeface="Arial" panose="020B0604020202020204" pitchFamily="34" charset="0"/>
                        </a:rPr>
                        <a:t>Aspect</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200" b="1" i="0" u="none" strike="noStrike">
                          <a:effectLst/>
                          <a:latin typeface="Arial" panose="020B0604020202020204" pitchFamily="34" charset="0"/>
                        </a:rPr>
                        <a:t>Subtypes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200" b="1" i="0" u="none" strike="noStrike">
                          <a:effectLst/>
                          <a:latin typeface="Arial" panose="020B0604020202020204" pitchFamily="34" charset="0"/>
                        </a:rPr>
                        <a:t>Domains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0324703"/>
                  </a:ext>
                </a:extLst>
              </a:tr>
              <a:tr h="649515">
                <a:tc>
                  <a:txBody>
                    <a:bodyPr/>
                    <a:lstStyle/>
                    <a:p>
                      <a:pPr algn="l" fontAlgn="ctr">
                        <a:buNone/>
                      </a:pPr>
                      <a:r>
                        <a:rPr lang="en-US" sz="1000" b="1" i="0" u="none" strike="noStrike">
                          <a:effectLst/>
                          <a:latin typeface="Arial" panose="020B0604020202020204" pitchFamily="34" charset="0"/>
                        </a:rPr>
                        <a:t>What it is</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Splits one feature class into meaningful categories using an integer field</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dirty="0">
                          <a:effectLst/>
                          <a:latin typeface="Arial" panose="020B0604020202020204" pitchFamily="34" charset="0"/>
                        </a:rPr>
                        <a:t>Restricts what values are allowed in a field (a validation rule)</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5228262"/>
                  </a:ext>
                </a:extLst>
              </a:tr>
              <a:tr h="458543">
                <a:tc>
                  <a:txBody>
                    <a:bodyPr/>
                    <a:lstStyle/>
                    <a:p>
                      <a:pPr algn="l" fontAlgn="ctr">
                        <a:buNone/>
                      </a:pPr>
                      <a:r>
                        <a:rPr lang="en-US" sz="1000" b="1" i="0" u="none" strike="noStrike">
                          <a:effectLst/>
                          <a:latin typeface="Arial" panose="020B0604020202020204" pitchFamily="34" charset="0"/>
                        </a:rPr>
                        <a:t>Applies to</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The whole feature class/table (one subtype field per class)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Any individual field, reusable across many feature classes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2319300"/>
                  </a:ext>
                </a:extLst>
              </a:tr>
              <a:tr h="649515">
                <a:tc>
                  <a:txBody>
                    <a:bodyPr/>
                    <a:lstStyle/>
                    <a:p>
                      <a:pPr algn="l" fontAlgn="ctr">
                        <a:buNone/>
                      </a:pPr>
                      <a:r>
                        <a:rPr lang="en-US" sz="1000" b="1" i="0" u="none" strike="noStrike">
                          <a:effectLst/>
                          <a:latin typeface="Arial" panose="020B0604020202020204" pitchFamily="34" charset="0"/>
                        </a:rPr>
                        <a:t>Purpose</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Groups features that behave differently (different rules, defaults, connectivity)</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dirty="0">
                          <a:effectLst/>
                          <a:latin typeface="Arial" panose="020B0604020202020204" pitchFamily="34" charset="0"/>
                        </a:rPr>
                        <a:t>Prevents invalid data entry (typos, out-of-range values)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975817"/>
                  </a:ext>
                </a:extLst>
              </a:tr>
              <a:tr h="458543">
                <a:tc>
                  <a:txBody>
                    <a:bodyPr/>
                    <a:lstStyle/>
                    <a:p>
                      <a:pPr algn="l" fontAlgn="ctr">
                        <a:buNone/>
                      </a:pPr>
                      <a:r>
                        <a:rPr lang="en-US" sz="1000" b="1" i="0" u="none" strike="noStrike">
                          <a:effectLst/>
                          <a:latin typeface="Arial" panose="020B0604020202020204" pitchFamily="34" charset="0"/>
                        </a:rPr>
                        <a:t>Storage</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Stored as an integer code in one designated field</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Can be </a:t>
                      </a:r>
                      <a:r>
                        <a:rPr lang="en-US" sz="1000" b="1" i="0" u="none" strike="noStrike">
                          <a:effectLst/>
                          <a:latin typeface="Arial" panose="020B0604020202020204" pitchFamily="34" charset="0"/>
                        </a:rPr>
                        <a:t>coded value</a:t>
                      </a:r>
                      <a:r>
                        <a:rPr lang="en-US" sz="1000" b="0" i="0" u="none" strike="noStrike">
                          <a:effectLst/>
                          <a:latin typeface="Arial" panose="020B0604020202020204" pitchFamily="34" charset="0"/>
                        </a:rPr>
                        <a:t> (a fixed list) or </a:t>
                      </a:r>
                      <a:r>
                        <a:rPr lang="en-US" sz="1000" b="1" i="0" u="none" strike="noStrike">
                          <a:effectLst/>
                          <a:latin typeface="Arial" panose="020B0604020202020204" pitchFamily="34" charset="0"/>
                        </a:rPr>
                        <a:t>range</a:t>
                      </a:r>
                      <a:r>
                        <a:rPr lang="en-US" sz="1000" b="0" i="0" u="none" strike="noStrike">
                          <a:effectLst/>
                          <a:latin typeface="Arial" panose="020B0604020202020204" pitchFamily="34" charset="0"/>
                        </a:rPr>
                        <a:t> (min/max)</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3009495"/>
                  </a:ext>
                </a:extLst>
              </a:tr>
              <a:tr h="649515">
                <a:tc>
                  <a:txBody>
                    <a:bodyPr/>
                    <a:lstStyle/>
                    <a:p>
                      <a:pPr algn="l" fontAlgn="ctr">
                        <a:buNone/>
                      </a:pPr>
                      <a:r>
                        <a:rPr lang="en-US" sz="1000" b="1" i="0" u="none" strike="noStrike">
                          <a:effectLst/>
                          <a:latin typeface="Arial" panose="020B0604020202020204" pitchFamily="34" charset="0"/>
                        </a:rPr>
                        <a:t>Reusability</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Defined once per feature class, not shared elsewhere</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Defined once in the geodatabase, can be attached to many fields/feature classes</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8335612"/>
                  </a:ext>
                </a:extLst>
              </a:tr>
              <a:tr h="649515">
                <a:tc>
                  <a:txBody>
                    <a:bodyPr/>
                    <a:lstStyle/>
                    <a:p>
                      <a:pPr algn="l" fontAlgn="ctr">
                        <a:buNone/>
                      </a:pPr>
                      <a:r>
                        <a:rPr lang="en-US" sz="1000" b="1" i="0" u="none" strike="noStrike">
                          <a:effectLst/>
                          <a:latin typeface="Arial" panose="020B0604020202020204" pitchFamily="34" charset="0"/>
                        </a:rPr>
                        <a:t>Behavior control</a:t>
                      </a:r>
                      <a:endParaRPr lang="en-US" sz="1000" b="0" i="0" u="none" strike="noStrike">
                        <a:effectLst/>
                        <a:latin typeface="Arial" panose="020B0604020202020204" pitchFamily="34" charset="0"/>
                      </a:endParaRP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a:effectLst/>
                          <a:latin typeface="Arial" panose="020B0604020202020204" pitchFamily="34" charset="0"/>
                        </a:rPr>
                        <a:t>Can have its own default values, unique field defaults, and connectivity rules per subtype</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000" b="0" i="0" u="none" strike="noStrike" dirty="0">
                          <a:effectLst/>
                          <a:latin typeface="Arial" panose="020B0604020202020204" pitchFamily="34" charset="0"/>
                        </a:rPr>
                        <a:t>Only validates — doesn't change other field behavior</a:t>
                      </a:r>
                    </a:p>
                  </a:txBody>
                  <a:tcPr marL="35250" marR="35250" marT="17625" marB="1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3592329"/>
                  </a:ext>
                </a:extLst>
              </a:tr>
            </a:tbl>
          </a:graphicData>
        </a:graphic>
      </p:graphicFrame>
    </p:spTree>
    <p:extLst>
      <p:ext uri="{BB962C8B-B14F-4D97-AF65-F5344CB8AC3E}">
        <p14:creationId xmlns:p14="http://schemas.microsoft.com/office/powerpoint/2010/main" val="4245964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100753-D103-31B0-E8F3-24F79CE93469}"/>
              </a:ext>
            </a:extLst>
          </p:cNvPr>
          <p:cNvPicPr>
            <a:picLocks noGrp="1" noChangeAspect="1"/>
          </p:cNvPicPr>
          <p:nvPr>
            <p:ph idx="1"/>
          </p:nvPr>
        </p:nvPicPr>
        <p:blipFill>
          <a:blip r:embed="rId2"/>
          <a:stretch>
            <a:fillRect/>
          </a:stretch>
        </p:blipFill>
        <p:spPr>
          <a:xfrm>
            <a:off x="643467" y="1662907"/>
            <a:ext cx="5291666" cy="3532186"/>
          </a:xfrm>
          <a:prstGeom prst="rect">
            <a:avLst/>
          </a:prstGeom>
        </p:spPr>
      </p:pic>
      <p:pic>
        <p:nvPicPr>
          <p:cNvPr id="7" name="Picture 6">
            <a:extLst>
              <a:ext uri="{FF2B5EF4-FFF2-40B4-BE49-F238E27FC236}">
                <a16:creationId xmlns:a16="http://schemas.microsoft.com/office/drawing/2014/main" id="{B18120AC-E6C4-9CBA-4343-DDEA90794748}"/>
              </a:ext>
            </a:extLst>
          </p:cNvPr>
          <p:cNvPicPr>
            <a:picLocks noChangeAspect="1"/>
          </p:cNvPicPr>
          <p:nvPr/>
        </p:nvPicPr>
        <p:blipFill>
          <a:blip r:embed="rId3"/>
          <a:stretch>
            <a:fillRect/>
          </a:stretch>
        </p:blipFill>
        <p:spPr>
          <a:xfrm>
            <a:off x="6256865" y="1662906"/>
            <a:ext cx="5291667" cy="3532187"/>
          </a:xfrm>
          <a:prstGeom prst="rect">
            <a:avLst/>
          </a:prstGeom>
        </p:spPr>
      </p:pic>
    </p:spTree>
    <p:extLst>
      <p:ext uri="{BB962C8B-B14F-4D97-AF65-F5344CB8AC3E}">
        <p14:creationId xmlns:p14="http://schemas.microsoft.com/office/powerpoint/2010/main" val="3231798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5AF2D-55EF-14D4-15FC-B5C93F662B4A}"/>
              </a:ext>
            </a:extLst>
          </p:cNvPr>
          <p:cNvSpPr>
            <a:spLocks noGrp="1"/>
          </p:cNvSpPr>
          <p:nvPr>
            <p:ph type="title"/>
          </p:nvPr>
        </p:nvSpPr>
        <p:spPr/>
        <p:txBody>
          <a:bodyPr/>
          <a:lstStyle/>
          <a:p>
            <a:r>
              <a:rPr lang="en-US" dirty="0"/>
              <a:t>Relationship Classes</a:t>
            </a:r>
          </a:p>
        </p:txBody>
      </p:sp>
      <p:sp>
        <p:nvSpPr>
          <p:cNvPr id="3" name="Content Placeholder 2">
            <a:extLst>
              <a:ext uri="{FF2B5EF4-FFF2-40B4-BE49-F238E27FC236}">
                <a16:creationId xmlns:a16="http://schemas.microsoft.com/office/drawing/2014/main" id="{5868E2AE-E1FB-EE4C-A496-065C1C6C1FF8}"/>
              </a:ext>
            </a:extLst>
          </p:cNvPr>
          <p:cNvSpPr>
            <a:spLocks noGrp="1"/>
          </p:cNvSpPr>
          <p:nvPr>
            <p:ph idx="1"/>
          </p:nvPr>
        </p:nvSpPr>
        <p:spPr/>
        <p:txBody>
          <a:bodyPr>
            <a:normAutofit fontScale="85000" lnSpcReduction="10000"/>
          </a:bodyPr>
          <a:lstStyle/>
          <a:p>
            <a:r>
              <a:rPr lang="en-US" dirty="0"/>
              <a:t>A Relational Database is a standardized and organized way of storing and managing data using tables that are logically linked together through common fields (keys).</a:t>
            </a:r>
          </a:p>
          <a:p>
            <a:r>
              <a:rPr lang="en-US" dirty="0"/>
              <a:t>In ArcGIS Geodatabase, the relational database model is extended to efficiently manage both spatial data (geometry: points, lines, polygons) and attribute data (descriptive information) in a single integrated system.</a:t>
            </a:r>
          </a:p>
          <a:p>
            <a:r>
              <a:rPr lang="en-US" dirty="0"/>
              <a:t>A relationship class defines how two tables or feature classes are connected to each other — like a foreign key relationship in a normal database but built into the geodatabase itself.</a:t>
            </a:r>
          </a:p>
          <a:p>
            <a:r>
              <a:rPr lang="en-US" dirty="0"/>
              <a:t>Core Purpose: Instead of manually joining tables every time, a relationship class lets you permanently link related records — so when you select a feature, you can instantly see (or edit) its related records in another table</a:t>
            </a:r>
          </a:p>
          <a:p>
            <a:endParaRPr lang="en-US" dirty="0"/>
          </a:p>
        </p:txBody>
      </p:sp>
    </p:spTree>
    <p:extLst>
      <p:ext uri="{BB962C8B-B14F-4D97-AF65-F5344CB8AC3E}">
        <p14:creationId xmlns:p14="http://schemas.microsoft.com/office/powerpoint/2010/main" val="2431363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A5E4E-2678-724B-E75F-F4B9EADE8709}"/>
              </a:ext>
            </a:extLst>
          </p:cNvPr>
          <p:cNvSpPr>
            <a:spLocks noGrp="1"/>
          </p:cNvSpPr>
          <p:nvPr>
            <p:ph type="title"/>
          </p:nvPr>
        </p:nvSpPr>
        <p:spPr/>
        <p:txBody>
          <a:bodyPr/>
          <a:lstStyle/>
          <a:p>
            <a:r>
              <a:rPr lang="en-US" dirty="0"/>
              <a:t>Example of ERD</a:t>
            </a:r>
          </a:p>
        </p:txBody>
      </p:sp>
      <p:pic>
        <p:nvPicPr>
          <p:cNvPr id="4" name="Content Placeholder 3">
            <a:extLst>
              <a:ext uri="{FF2B5EF4-FFF2-40B4-BE49-F238E27FC236}">
                <a16:creationId xmlns:a16="http://schemas.microsoft.com/office/drawing/2014/main" id="{4EFC3DCC-C973-DDD8-2F95-DB383A4739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33358" y="365125"/>
            <a:ext cx="5128015" cy="5990902"/>
          </a:xfrm>
          <a:prstGeom prst="rect">
            <a:avLst/>
          </a:prstGeom>
          <a:ln>
            <a:solidFill>
              <a:schemeClr val="accent1"/>
            </a:solidFill>
          </a:ln>
        </p:spPr>
      </p:pic>
      <p:sp>
        <p:nvSpPr>
          <p:cNvPr id="6" name="Content Placeholder 2">
            <a:extLst>
              <a:ext uri="{FF2B5EF4-FFF2-40B4-BE49-F238E27FC236}">
                <a16:creationId xmlns:a16="http://schemas.microsoft.com/office/drawing/2014/main" id="{81A5F2DB-EEB1-6755-6461-0D72F6B97873}"/>
              </a:ext>
            </a:extLst>
          </p:cNvPr>
          <p:cNvSpPr txBox="1">
            <a:spLocks/>
          </p:cNvSpPr>
          <p:nvPr/>
        </p:nvSpPr>
        <p:spPr>
          <a:xfrm>
            <a:off x="0" y="2141537"/>
            <a:ext cx="693335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Entity Relationship Diagram (ERD) is a type of structural diagram used in database design to visualize the relationships between different entities within a system. ERDs are particularly useful for understanding the logical structure of databases, including entities, their attributes, and relationships between them</a:t>
            </a:r>
          </a:p>
          <a:p>
            <a:pPr marL="0" indent="0">
              <a:buNone/>
            </a:pPr>
            <a:endParaRPr lang="en-US" dirty="0"/>
          </a:p>
        </p:txBody>
      </p:sp>
    </p:spTree>
    <p:extLst>
      <p:ext uri="{BB962C8B-B14F-4D97-AF65-F5344CB8AC3E}">
        <p14:creationId xmlns:p14="http://schemas.microsoft.com/office/powerpoint/2010/main" val="1604816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203C-8976-9257-2C8B-2D43A707284D}"/>
              </a:ext>
            </a:extLst>
          </p:cNvPr>
          <p:cNvSpPr>
            <a:spLocks noGrp="1"/>
          </p:cNvSpPr>
          <p:nvPr>
            <p:ph type="title"/>
          </p:nvPr>
        </p:nvSpPr>
        <p:spPr/>
        <p:txBody>
          <a:bodyPr/>
          <a:lstStyle/>
          <a:p>
            <a:r>
              <a:rPr lang="en-US" dirty="0"/>
              <a:t>Cardinality in Geodatabase</a:t>
            </a:r>
          </a:p>
        </p:txBody>
      </p:sp>
      <p:pic>
        <p:nvPicPr>
          <p:cNvPr id="20" name="Picture 19">
            <a:extLst>
              <a:ext uri="{FF2B5EF4-FFF2-40B4-BE49-F238E27FC236}">
                <a16:creationId xmlns:a16="http://schemas.microsoft.com/office/drawing/2014/main" id="{C33750FE-72C7-4749-5B0D-E668EE1255B9}"/>
              </a:ext>
            </a:extLst>
          </p:cNvPr>
          <p:cNvPicPr>
            <a:picLocks noChangeAspect="1"/>
          </p:cNvPicPr>
          <p:nvPr/>
        </p:nvPicPr>
        <p:blipFill>
          <a:blip r:embed="rId2">
            <a:extLst>
              <a:ext uri="{28A0092B-C50C-407E-A947-70E740481C1C}">
                <a14:useLocalDpi xmlns:a14="http://schemas.microsoft.com/office/drawing/2010/main" val="0"/>
              </a:ext>
            </a:extLst>
          </a:blip>
          <a:srcRect r="8447"/>
          <a:stretch>
            <a:fillRect/>
          </a:stretch>
        </p:blipFill>
        <p:spPr>
          <a:xfrm>
            <a:off x="7682054" y="72775"/>
            <a:ext cx="4324888" cy="3356225"/>
          </a:xfrm>
          <a:prstGeom prst="rect">
            <a:avLst/>
          </a:prstGeom>
        </p:spPr>
      </p:pic>
      <p:sp>
        <p:nvSpPr>
          <p:cNvPr id="22" name="TextBox 21">
            <a:extLst>
              <a:ext uri="{FF2B5EF4-FFF2-40B4-BE49-F238E27FC236}">
                <a16:creationId xmlns:a16="http://schemas.microsoft.com/office/drawing/2014/main" id="{256EED0F-6C4C-6CC9-B4ED-29C65A80F988}"/>
              </a:ext>
            </a:extLst>
          </p:cNvPr>
          <p:cNvSpPr txBox="1"/>
          <p:nvPr/>
        </p:nvSpPr>
        <p:spPr>
          <a:xfrm>
            <a:off x="413658" y="1690688"/>
            <a:ext cx="5100050" cy="1200329"/>
          </a:xfrm>
          <a:prstGeom prst="rect">
            <a:avLst/>
          </a:prstGeom>
          <a:noFill/>
        </p:spPr>
        <p:txBody>
          <a:bodyPr wrap="square">
            <a:spAutoFit/>
          </a:bodyPr>
          <a:lstStyle/>
          <a:p>
            <a:r>
              <a:rPr lang="en-US" b="1" dirty="0"/>
              <a:t>Cardinality</a:t>
            </a:r>
            <a:r>
              <a:rPr lang="en-US" dirty="0"/>
              <a:t> describes </a:t>
            </a:r>
            <a:r>
              <a:rPr lang="en-US" i="1" dirty="0"/>
              <a:t>how many</a:t>
            </a:r>
            <a:r>
              <a:rPr lang="en-US" dirty="0"/>
              <a:t> records in one table/feature class can relate to </a:t>
            </a:r>
            <a:r>
              <a:rPr lang="en-US" i="1" dirty="0"/>
              <a:t>how many</a:t>
            </a:r>
            <a:r>
              <a:rPr lang="en-US" dirty="0"/>
              <a:t> records in another table/feature class, within a relationship class.</a:t>
            </a:r>
          </a:p>
        </p:txBody>
      </p:sp>
      <p:pic>
        <p:nvPicPr>
          <p:cNvPr id="27" name="Picture 26">
            <a:extLst>
              <a:ext uri="{FF2B5EF4-FFF2-40B4-BE49-F238E27FC236}">
                <a16:creationId xmlns:a16="http://schemas.microsoft.com/office/drawing/2014/main" id="{41EE0739-64B8-494E-38B0-717238123B4B}"/>
              </a:ext>
            </a:extLst>
          </p:cNvPr>
          <p:cNvPicPr>
            <a:picLocks noChangeAspect="1"/>
          </p:cNvPicPr>
          <p:nvPr/>
        </p:nvPicPr>
        <p:blipFill>
          <a:blip r:embed="rId3"/>
          <a:stretch>
            <a:fillRect/>
          </a:stretch>
        </p:blipFill>
        <p:spPr>
          <a:xfrm>
            <a:off x="3955040" y="3755978"/>
            <a:ext cx="2140960" cy="2736897"/>
          </a:xfrm>
          <a:prstGeom prst="rect">
            <a:avLst/>
          </a:prstGeom>
        </p:spPr>
      </p:pic>
      <p:pic>
        <p:nvPicPr>
          <p:cNvPr id="29" name="Picture 28">
            <a:extLst>
              <a:ext uri="{FF2B5EF4-FFF2-40B4-BE49-F238E27FC236}">
                <a16:creationId xmlns:a16="http://schemas.microsoft.com/office/drawing/2014/main" id="{4EE1E155-CDC6-B5E9-9496-A64BD0A7FABE}"/>
              </a:ext>
            </a:extLst>
          </p:cNvPr>
          <p:cNvPicPr>
            <a:picLocks noChangeAspect="1"/>
          </p:cNvPicPr>
          <p:nvPr/>
        </p:nvPicPr>
        <p:blipFill>
          <a:blip r:embed="rId4"/>
          <a:stretch>
            <a:fillRect/>
          </a:stretch>
        </p:blipFill>
        <p:spPr>
          <a:xfrm>
            <a:off x="6641216" y="3755978"/>
            <a:ext cx="2331649" cy="2736897"/>
          </a:xfrm>
          <a:prstGeom prst="rect">
            <a:avLst/>
          </a:prstGeom>
        </p:spPr>
      </p:pic>
      <p:pic>
        <p:nvPicPr>
          <p:cNvPr id="31" name="Picture 30">
            <a:extLst>
              <a:ext uri="{FF2B5EF4-FFF2-40B4-BE49-F238E27FC236}">
                <a16:creationId xmlns:a16="http://schemas.microsoft.com/office/drawing/2014/main" id="{17956BE6-A6CC-AA55-F919-AB3D2ECF395A}"/>
              </a:ext>
            </a:extLst>
          </p:cNvPr>
          <p:cNvPicPr>
            <a:picLocks noChangeAspect="1"/>
          </p:cNvPicPr>
          <p:nvPr/>
        </p:nvPicPr>
        <p:blipFill>
          <a:blip r:embed="rId5"/>
          <a:stretch>
            <a:fillRect/>
          </a:stretch>
        </p:blipFill>
        <p:spPr>
          <a:xfrm>
            <a:off x="9518081" y="3755978"/>
            <a:ext cx="2261277" cy="2736897"/>
          </a:xfrm>
          <a:prstGeom prst="rect">
            <a:avLst/>
          </a:prstGeom>
        </p:spPr>
      </p:pic>
      <p:sp>
        <p:nvSpPr>
          <p:cNvPr id="33" name="TextBox 32">
            <a:extLst>
              <a:ext uri="{FF2B5EF4-FFF2-40B4-BE49-F238E27FC236}">
                <a16:creationId xmlns:a16="http://schemas.microsoft.com/office/drawing/2014/main" id="{4E94D834-7803-1268-7654-6767CE3DC426}"/>
              </a:ext>
            </a:extLst>
          </p:cNvPr>
          <p:cNvSpPr txBox="1"/>
          <p:nvPr/>
        </p:nvSpPr>
        <p:spPr>
          <a:xfrm>
            <a:off x="412642" y="3966984"/>
            <a:ext cx="3690257" cy="1304203"/>
          </a:xfrm>
          <a:prstGeom prst="rect">
            <a:avLst/>
          </a:prstGeom>
          <a:noFill/>
        </p:spPr>
        <p:txBody>
          <a:bodyPr wrap="square">
            <a:spAutoFit/>
          </a:bodyPr>
          <a:lstStyle/>
          <a:p>
            <a:r>
              <a:rPr lang="en-US" sz="1125" b="0" i="0" dirty="0">
                <a:effectLst/>
                <a:latin typeface="Segoe WPC"/>
              </a:rPr>
              <a:t>A relationship class is the geodatabase’s </a:t>
            </a:r>
            <a:r>
              <a:rPr lang="en-US" sz="1125" b="1" i="0" dirty="0">
                <a:effectLst/>
                <a:latin typeface="Segoe WPC"/>
              </a:rPr>
              <a:t>foreign key</a:t>
            </a:r>
            <a:r>
              <a:rPr lang="en-US" sz="1125" b="0" i="0" dirty="0">
                <a:effectLst/>
                <a:latin typeface="Segoe WPC"/>
              </a:rPr>
              <a:t>.</a:t>
            </a:r>
            <a:br>
              <a:rPr lang="en-US" dirty="0"/>
            </a:br>
            <a:r>
              <a:rPr lang="en-US" sz="1125" b="1" i="0" dirty="0">
                <a:effectLst/>
                <a:latin typeface="Segoe WPC"/>
              </a:rPr>
              <a:t>Origin</a:t>
            </a:r>
            <a:r>
              <a:rPr lang="en-US" sz="1125" b="0" i="0" dirty="0">
                <a:effectLst/>
                <a:latin typeface="Segoe WPC"/>
              </a:rPr>
              <a:t> holds the primary key. </a:t>
            </a:r>
            <a:r>
              <a:rPr lang="en-US" sz="1125" b="1" i="0" dirty="0">
                <a:effectLst/>
                <a:latin typeface="Segoe WPC"/>
              </a:rPr>
              <a:t>Destination</a:t>
            </a:r>
            <a:r>
              <a:rPr lang="en-US" sz="1125" b="0" i="0" dirty="0">
                <a:effectLst/>
                <a:latin typeface="Segoe WPC"/>
              </a:rPr>
              <a:t> holds the matching key.</a:t>
            </a:r>
            <a:br>
              <a:rPr lang="en-US" dirty="0"/>
            </a:br>
            <a:r>
              <a:rPr lang="en-US" sz="1125" b="1" i="0" dirty="0">
                <a:effectLst/>
                <a:latin typeface="Segoe WPC"/>
              </a:rPr>
              <a:t>1-M</a:t>
            </a:r>
            <a:r>
              <a:rPr lang="en-US" sz="1125" b="0" i="0" dirty="0">
                <a:effectLst/>
                <a:latin typeface="Segoe WPC"/>
              </a:rPr>
              <a:t> is the usual telecom pattern (one cabinet, many ports).</a:t>
            </a:r>
            <a:br>
              <a:rPr lang="en-US" dirty="0"/>
            </a:br>
            <a:r>
              <a:rPr lang="en-US" sz="1125" b="1" i="0" dirty="0">
                <a:effectLst/>
                <a:latin typeface="Segoe WPC"/>
              </a:rPr>
              <a:t>Composite</a:t>
            </a:r>
            <a:r>
              <a:rPr lang="en-US" sz="1125" b="0" i="0" dirty="0">
                <a:effectLst/>
                <a:latin typeface="Segoe WPC"/>
              </a:rPr>
              <a:t> means children belong to the parent and are deleted with it.</a:t>
            </a:r>
            <a:endParaRPr lang="en-US" dirty="0"/>
          </a:p>
        </p:txBody>
      </p:sp>
    </p:spTree>
    <p:extLst>
      <p:ext uri="{BB962C8B-B14F-4D97-AF65-F5344CB8AC3E}">
        <p14:creationId xmlns:p14="http://schemas.microsoft.com/office/powerpoint/2010/main" val="1242102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hape 19">
            <a:extLst>
              <a:ext uri="{FF2B5EF4-FFF2-40B4-BE49-F238E27FC236}">
                <a16:creationId xmlns:a16="http://schemas.microsoft.com/office/drawing/2014/main" id="{8239A450-ACB5-7A0D-2091-91A17B25BE0F}"/>
              </a:ext>
            </a:extLst>
          </p:cNvPr>
          <p:cNvSpPr/>
          <p:nvPr/>
        </p:nvSpPr>
        <p:spPr>
          <a:xfrm>
            <a:off x="4363962" y="1143000"/>
            <a:ext cx="7193280" cy="1341120"/>
          </a:xfrm>
          <a:prstGeom prst="roundRect">
            <a:avLst>
              <a:gd name="adj" fmla="val 9091"/>
            </a:avLst>
          </a:prstGeom>
          <a:solidFill>
            <a:schemeClr val="accent5">
              <a:lumMod val="20000"/>
              <a:lumOff val="80000"/>
            </a:schemeClr>
          </a:solidFill>
          <a:ln w="6350">
            <a:solidFill>
              <a:srgbClr val="0F6E56"/>
            </a:solidFill>
            <a:prstDash val="solid"/>
          </a:ln>
          <a:effectLst>
            <a:outerShdw blurRad="76200" dist="25400" dir="2700000" algn="bl" rotWithShape="0">
              <a:srgbClr val="000000">
                <a:alpha val="12000"/>
              </a:srgbClr>
            </a:outerShdw>
          </a:effectLst>
        </p:spPr>
        <p:txBody>
          <a:bodyPr/>
          <a:lstStyle/>
          <a:p>
            <a:endParaRPr lang="en-US"/>
          </a:p>
        </p:txBody>
      </p:sp>
      <p:sp>
        <p:nvSpPr>
          <p:cNvPr id="2" name="Text 0"/>
          <p:cNvSpPr/>
          <p:nvPr/>
        </p:nvSpPr>
        <p:spPr>
          <a:xfrm>
            <a:off x="670560" y="207860"/>
            <a:ext cx="10728960" cy="670560"/>
          </a:xfrm>
          <a:prstGeom prst="rect">
            <a:avLst/>
          </a:prstGeom>
          <a:noFill/>
          <a:ln/>
        </p:spPr>
        <p:txBody>
          <a:bodyPr wrap="square" rtlCol="0" anchor="ctr"/>
          <a:lstStyle/>
          <a:p>
            <a:r>
              <a:rPr lang="en-US" sz="2900" b="1" dirty="0">
                <a:solidFill>
                  <a:srgbClr val="1A2E25"/>
                </a:solidFill>
                <a:latin typeface="Cambria" pitchFamily="34" charset="0"/>
                <a:ea typeface="Cambria" pitchFamily="34" charset="-122"/>
                <a:cs typeface="Cambria" pitchFamily="34" charset="-120"/>
              </a:rPr>
              <a:t>Irrigation Example:</a:t>
            </a:r>
          </a:p>
          <a:p>
            <a:r>
              <a:rPr lang="en-US" sz="2900" b="1" dirty="0">
                <a:solidFill>
                  <a:srgbClr val="1A2E25"/>
                </a:solidFill>
                <a:latin typeface="Cambria" pitchFamily="34" charset="0"/>
                <a:ea typeface="Cambria" pitchFamily="34" charset="-122"/>
                <a:cs typeface="Cambria" pitchFamily="34" charset="-120"/>
              </a:rPr>
              <a:t>Hierarchical Relationships</a:t>
            </a:r>
            <a:endParaRPr lang="en-US" sz="2900" dirty="0"/>
          </a:p>
        </p:txBody>
      </p:sp>
      <p:sp>
        <p:nvSpPr>
          <p:cNvPr id="3" name="Shape 1"/>
          <p:cNvSpPr/>
          <p:nvPr/>
        </p:nvSpPr>
        <p:spPr>
          <a:xfrm>
            <a:off x="634758" y="2612569"/>
            <a:ext cx="3413760" cy="670560"/>
          </a:xfrm>
          <a:prstGeom prst="roundRect">
            <a:avLst>
              <a:gd name="adj" fmla="val 10909"/>
            </a:avLst>
          </a:prstGeom>
          <a:solidFill>
            <a:srgbClr val="065A82"/>
          </a:solidFill>
          <a:ln w="12700">
            <a:solidFill>
              <a:srgbClr val="065A82"/>
            </a:solidFill>
            <a:prstDash val="solid"/>
          </a:ln>
          <a:effectLst>
            <a:outerShdw blurRad="76200" dist="25400" dir="2700000" algn="bl" rotWithShape="0">
              <a:srgbClr val="000000">
                <a:alpha val="12000"/>
              </a:srgbClr>
            </a:outerShdw>
          </a:effectLst>
        </p:spPr>
        <p:txBody>
          <a:bodyPr/>
          <a:lstStyle/>
          <a:p>
            <a:endParaRPr lang="en-US"/>
          </a:p>
        </p:txBody>
      </p:sp>
      <p:sp>
        <p:nvSpPr>
          <p:cNvPr id="4" name="Text 2"/>
          <p:cNvSpPr/>
          <p:nvPr/>
        </p:nvSpPr>
        <p:spPr>
          <a:xfrm>
            <a:off x="573194" y="2676603"/>
            <a:ext cx="3413760" cy="548640"/>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Canal</a:t>
            </a:r>
            <a:endParaRPr lang="en-US" sz="2400" dirty="0"/>
          </a:p>
        </p:txBody>
      </p:sp>
      <p:sp>
        <p:nvSpPr>
          <p:cNvPr id="6" name="Shape 4"/>
          <p:cNvSpPr/>
          <p:nvPr/>
        </p:nvSpPr>
        <p:spPr>
          <a:xfrm>
            <a:off x="634758" y="4055387"/>
            <a:ext cx="3413760" cy="692356"/>
          </a:xfrm>
          <a:prstGeom prst="roundRect">
            <a:avLst>
              <a:gd name="adj" fmla="val 10909"/>
            </a:avLst>
          </a:prstGeom>
          <a:solidFill>
            <a:srgbClr val="0F6E56"/>
          </a:solidFill>
          <a:ln w="12700">
            <a:solidFill>
              <a:srgbClr val="0F6E56"/>
            </a:solidFill>
            <a:prstDash val="solid"/>
          </a:ln>
          <a:effectLst>
            <a:outerShdw blurRad="76200" dist="25400" dir="2700000" algn="bl" rotWithShape="0">
              <a:srgbClr val="000000">
                <a:alpha val="12000"/>
              </a:srgbClr>
            </a:outerShdw>
          </a:effectLst>
        </p:spPr>
        <p:txBody>
          <a:bodyPr/>
          <a:lstStyle/>
          <a:p>
            <a:endParaRPr lang="en-US"/>
          </a:p>
        </p:txBody>
      </p:sp>
      <p:sp>
        <p:nvSpPr>
          <p:cNvPr id="7" name="Text 5"/>
          <p:cNvSpPr/>
          <p:nvPr/>
        </p:nvSpPr>
        <p:spPr>
          <a:xfrm>
            <a:off x="573194" y="4154859"/>
            <a:ext cx="3413760" cy="548640"/>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Command Area</a:t>
            </a:r>
            <a:endParaRPr lang="en-US" sz="2400" dirty="0"/>
          </a:p>
        </p:txBody>
      </p:sp>
      <p:sp>
        <p:nvSpPr>
          <p:cNvPr id="9" name="Shape 7"/>
          <p:cNvSpPr/>
          <p:nvPr/>
        </p:nvSpPr>
        <p:spPr>
          <a:xfrm>
            <a:off x="634758" y="5513566"/>
            <a:ext cx="3413760" cy="768096"/>
          </a:xfrm>
          <a:prstGeom prst="roundRect">
            <a:avLst>
              <a:gd name="adj" fmla="val 10909"/>
            </a:avLst>
          </a:prstGeom>
          <a:solidFill>
            <a:srgbClr val="854F0B"/>
          </a:solidFill>
          <a:ln w="12700">
            <a:solidFill>
              <a:srgbClr val="854F0B"/>
            </a:solidFill>
            <a:prstDash val="solid"/>
          </a:ln>
          <a:effectLst>
            <a:outerShdw blurRad="76200" dist="25400" dir="2700000" algn="bl" rotWithShape="0">
              <a:srgbClr val="000000">
                <a:alpha val="12000"/>
              </a:srgbClr>
            </a:outerShdw>
          </a:effectLst>
        </p:spPr>
        <p:txBody>
          <a:bodyPr/>
          <a:lstStyle/>
          <a:p>
            <a:endParaRPr lang="en-US" dirty="0"/>
          </a:p>
        </p:txBody>
      </p:sp>
      <p:sp>
        <p:nvSpPr>
          <p:cNvPr id="10" name="Text 8"/>
          <p:cNvSpPr/>
          <p:nvPr/>
        </p:nvSpPr>
        <p:spPr>
          <a:xfrm>
            <a:off x="609600" y="5592645"/>
            <a:ext cx="3413760" cy="548640"/>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Structures</a:t>
            </a:r>
            <a:endParaRPr lang="en-US" sz="2400" dirty="0"/>
          </a:p>
        </p:txBody>
      </p:sp>
      <p:sp>
        <p:nvSpPr>
          <p:cNvPr id="12" name="Shape 10"/>
          <p:cNvSpPr/>
          <p:nvPr/>
        </p:nvSpPr>
        <p:spPr>
          <a:xfrm flipH="1">
            <a:off x="2316478" y="3289565"/>
            <a:ext cx="0" cy="765822"/>
          </a:xfrm>
          <a:prstGeom prst="line">
            <a:avLst/>
          </a:prstGeom>
          <a:noFill/>
          <a:ln w="25400">
            <a:solidFill>
              <a:srgbClr val="1D9E75"/>
            </a:solidFill>
            <a:prstDash val="solid"/>
          </a:ln>
        </p:spPr>
        <p:txBody>
          <a:bodyPr/>
          <a:lstStyle/>
          <a:p>
            <a:endParaRPr lang="en-US"/>
          </a:p>
        </p:txBody>
      </p:sp>
      <p:sp>
        <p:nvSpPr>
          <p:cNvPr id="13" name="Shape 11"/>
          <p:cNvSpPr/>
          <p:nvPr/>
        </p:nvSpPr>
        <p:spPr>
          <a:xfrm>
            <a:off x="1024467" y="3479304"/>
            <a:ext cx="2560320" cy="341376"/>
          </a:xfrm>
          <a:prstGeom prst="roundRect">
            <a:avLst>
              <a:gd name="adj" fmla="val 17857"/>
            </a:avLst>
          </a:prstGeom>
          <a:solidFill>
            <a:srgbClr val="E1F5EE"/>
          </a:solidFill>
          <a:ln w="6350">
            <a:solidFill>
              <a:srgbClr val="1D9E75"/>
            </a:solidFill>
            <a:prstDash val="solid"/>
          </a:ln>
        </p:spPr>
        <p:txBody>
          <a:bodyPr/>
          <a:lstStyle/>
          <a:p>
            <a:endParaRPr lang="en-US"/>
          </a:p>
        </p:txBody>
      </p:sp>
      <p:sp>
        <p:nvSpPr>
          <p:cNvPr id="14" name="Text 12"/>
          <p:cNvSpPr/>
          <p:nvPr/>
        </p:nvSpPr>
        <p:spPr>
          <a:xfrm>
            <a:off x="1061478" y="3515093"/>
            <a:ext cx="2560320" cy="341376"/>
          </a:xfrm>
          <a:prstGeom prst="rect">
            <a:avLst/>
          </a:prstGeom>
          <a:noFill/>
          <a:ln/>
        </p:spPr>
        <p:txBody>
          <a:bodyPr wrap="square" lIns="0" tIns="0" rIns="0" bIns="0" rtlCol="0" anchor="ctr"/>
          <a:lstStyle/>
          <a:p>
            <a:pPr algn="ctr"/>
            <a:r>
              <a:rPr lang="en-US" sz="1333" b="1" dirty="0">
                <a:solidFill>
                  <a:srgbClr val="0F6E56"/>
                </a:solidFill>
              </a:rPr>
              <a:t>1 : Many</a:t>
            </a:r>
            <a:endParaRPr lang="en-US" sz="1333" dirty="0"/>
          </a:p>
        </p:txBody>
      </p:sp>
      <p:sp>
        <p:nvSpPr>
          <p:cNvPr id="15" name="Shape 13"/>
          <p:cNvSpPr/>
          <p:nvPr/>
        </p:nvSpPr>
        <p:spPr>
          <a:xfrm>
            <a:off x="2316480" y="4767943"/>
            <a:ext cx="0" cy="725423"/>
          </a:xfrm>
          <a:prstGeom prst="line">
            <a:avLst/>
          </a:prstGeom>
          <a:noFill/>
          <a:ln w="25400">
            <a:solidFill>
              <a:srgbClr val="854F0B"/>
            </a:solidFill>
            <a:prstDash val="solid"/>
          </a:ln>
        </p:spPr>
        <p:txBody>
          <a:bodyPr/>
          <a:lstStyle/>
          <a:p>
            <a:endParaRPr lang="en-US"/>
          </a:p>
        </p:txBody>
      </p:sp>
      <p:sp>
        <p:nvSpPr>
          <p:cNvPr id="16" name="Shape 14"/>
          <p:cNvSpPr/>
          <p:nvPr/>
        </p:nvSpPr>
        <p:spPr>
          <a:xfrm>
            <a:off x="1036320" y="4977819"/>
            <a:ext cx="2560320" cy="341376"/>
          </a:xfrm>
          <a:prstGeom prst="roundRect">
            <a:avLst>
              <a:gd name="adj" fmla="val 17857"/>
            </a:avLst>
          </a:prstGeom>
          <a:solidFill>
            <a:srgbClr val="FAEEDA"/>
          </a:solidFill>
          <a:ln w="6350">
            <a:solidFill>
              <a:srgbClr val="854F0B"/>
            </a:solidFill>
            <a:prstDash val="solid"/>
          </a:ln>
        </p:spPr>
        <p:txBody>
          <a:bodyPr/>
          <a:lstStyle/>
          <a:p>
            <a:endParaRPr lang="en-US"/>
          </a:p>
        </p:txBody>
      </p:sp>
      <p:sp>
        <p:nvSpPr>
          <p:cNvPr id="17" name="Text 15"/>
          <p:cNvSpPr/>
          <p:nvPr/>
        </p:nvSpPr>
        <p:spPr>
          <a:xfrm>
            <a:off x="966470" y="5008880"/>
            <a:ext cx="2560320" cy="341376"/>
          </a:xfrm>
          <a:prstGeom prst="rect">
            <a:avLst/>
          </a:prstGeom>
          <a:noFill/>
          <a:ln/>
        </p:spPr>
        <p:txBody>
          <a:bodyPr wrap="square" lIns="0" tIns="0" rIns="0" bIns="0" rtlCol="0" anchor="ctr"/>
          <a:lstStyle/>
          <a:p>
            <a:pPr algn="ctr"/>
            <a:r>
              <a:rPr lang="en-US" sz="1333" b="1" dirty="0">
                <a:solidFill>
                  <a:srgbClr val="854F0B"/>
                </a:solidFill>
              </a:rPr>
              <a:t>1 : Many</a:t>
            </a:r>
            <a:endParaRPr lang="en-US" sz="1333" dirty="0"/>
          </a:p>
        </p:txBody>
      </p:sp>
      <p:sp>
        <p:nvSpPr>
          <p:cNvPr id="18" name="Shape 16"/>
          <p:cNvSpPr/>
          <p:nvPr/>
        </p:nvSpPr>
        <p:spPr>
          <a:xfrm>
            <a:off x="4363962" y="2584776"/>
            <a:ext cx="7193280" cy="1341120"/>
          </a:xfrm>
          <a:prstGeom prst="roundRect">
            <a:avLst>
              <a:gd name="adj" fmla="val 9091"/>
            </a:avLst>
          </a:prstGeom>
          <a:solidFill>
            <a:srgbClr val="E6F1FB"/>
          </a:solidFill>
          <a:ln w="6350">
            <a:solidFill>
              <a:srgbClr val="065A82"/>
            </a:solidFill>
            <a:prstDash val="solid"/>
          </a:ln>
          <a:effectLst>
            <a:outerShdw blurRad="76200" dist="25400" dir="2700000" algn="bl" rotWithShape="0">
              <a:srgbClr val="000000">
                <a:alpha val="12000"/>
              </a:srgbClr>
            </a:outerShdw>
          </a:effectLst>
        </p:spPr>
        <p:txBody>
          <a:bodyPr/>
          <a:lstStyle/>
          <a:p>
            <a:endParaRPr lang="en-US"/>
          </a:p>
        </p:txBody>
      </p:sp>
      <p:sp>
        <p:nvSpPr>
          <p:cNvPr id="19" name="Text 17"/>
          <p:cNvSpPr/>
          <p:nvPr/>
        </p:nvSpPr>
        <p:spPr>
          <a:xfrm>
            <a:off x="4572000" y="1197936"/>
            <a:ext cx="6827520" cy="365760"/>
          </a:xfrm>
          <a:prstGeom prst="rect">
            <a:avLst/>
          </a:prstGeom>
          <a:noFill/>
          <a:ln/>
        </p:spPr>
        <p:txBody>
          <a:bodyPr wrap="square" rtlCol="0" anchor="ctr"/>
          <a:lstStyle/>
          <a:p>
            <a:r>
              <a:rPr lang="en-US" sz="1600" b="1" dirty="0">
                <a:solidFill>
                  <a:srgbClr val="065A82"/>
                </a:solidFill>
              </a:rPr>
              <a:t>Scheme (Parent)</a:t>
            </a:r>
            <a:endParaRPr lang="en-US" sz="1600" dirty="0"/>
          </a:p>
        </p:txBody>
      </p:sp>
      <p:sp>
        <p:nvSpPr>
          <p:cNvPr id="20" name="Text 18"/>
          <p:cNvSpPr/>
          <p:nvPr/>
        </p:nvSpPr>
        <p:spPr>
          <a:xfrm>
            <a:off x="4572000" y="3032760"/>
            <a:ext cx="6827520" cy="792480"/>
          </a:xfrm>
          <a:prstGeom prst="rect">
            <a:avLst/>
          </a:prstGeom>
          <a:noFill/>
          <a:ln/>
        </p:spPr>
        <p:txBody>
          <a:bodyPr wrap="square" rtlCol="0" anchor="ctr"/>
          <a:lstStyle/>
          <a:p>
            <a:pPr marL="457189" indent="-457189">
              <a:buSzPct val="100000"/>
              <a:buChar char="•"/>
            </a:pPr>
            <a:r>
              <a:rPr lang="en-US" sz="1467" dirty="0">
                <a:solidFill>
                  <a:srgbClr val="1A2E25"/>
                </a:solidFill>
              </a:rPr>
              <a:t>Second top of the hierarchy</a:t>
            </a:r>
            <a:endParaRPr lang="en-US" sz="1467" dirty="0"/>
          </a:p>
          <a:p>
            <a:pPr marL="457189" indent="-457189">
              <a:buSzPct val="100000"/>
              <a:buChar char="•"/>
            </a:pPr>
            <a:r>
              <a:rPr lang="en-US" sz="1467" dirty="0">
                <a:solidFill>
                  <a:srgbClr val="1A2E25"/>
                </a:solidFill>
              </a:rPr>
              <a:t>Each canal can supply multiple irrigated area</a:t>
            </a:r>
            <a:endParaRPr lang="en-US" sz="1467" dirty="0"/>
          </a:p>
          <a:p>
            <a:pPr marL="457189" indent="-457189">
              <a:buSzPct val="100000"/>
              <a:buChar char="•"/>
            </a:pPr>
            <a:r>
              <a:rPr lang="en-US" sz="1467" dirty="0">
                <a:solidFill>
                  <a:srgbClr val="1A2E25"/>
                </a:solidFill>
              </a:rPr>
              <a:t>Identified by canal_id (Primary Key)</a:t>
            </a:r>
            <a:endParaRPr lang="en-US" sz="1467" dirty="0"/>
          </a:p>
          <a:p>
            <a:pPr marL="457189" indent="-457189">
              <a:buSzPct val="100000"/>
              <a:buChar char="•"/>
            </a:pPr>
            <a:r>
              <a:rPr lang="en-US" sz="1467" dirty="0">
                <a:solidFill>
                  <a:srgbClr val="1A2E25"/>
                </a:solidFill>
              </a:rPr>
              <a:t>Geometry: Polyline</a:t>
            </a:r>
            <a:endParaRPr lang="en-US" sz="1467" dirty="0"/>
          </a:p>
        </p:txBody>
      </p:sp>
      <p:sp>
        <p:nvSpPr>
          <p:cNvPr id="21" name="Shape 19"/>
          <p:cNvSpPr/>
          <p:nvPr/>
        </p:nvSpPr>
        <p:spPr>
          <a:xfrm>
            <a:off x="4363962" y="4012548"/>
            <a:ext cx="7193280" cy="1341120"/>
          </a:xfrm>
          <a:prstGeom prst="roundRect">
            <a:avLst>
              <a:gd name="adj" fmla="val 9091"/>
            </a:avLst>
          </a:prstGeom>
          <a:solidFill>
            <a:srgbClr val="E1F5EE"/>
          </a:solidFill>
          <a:ln w="6350">
            <a:solidFill>
              <a:srgbClr val="0F6E56"/>
            </a:solidFill>
            <a:prstDash val="solid"/>
          </a:ln>
          <a:effectLst>
            <a:outerShdw blurRad="76200" dist="25400" dir="2700000" algn="bl" rotWithShape="0">
              <a:srgbClr val="000000">
                <a:alpha val="12000"/>
              </a:srgbClr>
            </a:outerShdw>
          </a:effectLst>
        </p:spPr>
        <p:txBody>
          <a:bodyPr/>
          <a:lstStyle/>
          <a:p>
            <a:endParaRPr lang="en-US"/>
          </a:p>
        </p:txBody>
      </p:sp>
      <p:sp>
        <p:nvSpPr>
          <p:cNvPr id="22" name="Text 20"/>
          <p:cNvSpPr/>
          <p:nvPr/>
        </p:nvSpPr>
        <p:spPr>
          <a:xfrm>
            <a:off x="4638282" y="3971979"/>
            <a:ext cx="6827520" cy="365760"/>
          </a:xfrm>
          <a:prstGeom prst="rect">
            <a:avLst/>
          </a:prstGeom>
          <a:noFill/>
          <a:ln/>
        </p:spPr>
        <p:txBody>
          <a:bodyPr wrap="square" rtlCol="0" anchor="ctr"/>
          <a:lstStyle/>
          <a:p>
            <a:r>
              <a:rPr lang="en-US" sz="1600" b="1" dirty="0">
                <a:solidFill>
                  <a:srgbClr val="0F6E56"/>
                </a:solidFill>
              </a:rPr>
              <a:t>Command Area (Child / Parent)</a:t>
            </a:r>
            <a:endParaRPr lang="en-US" sz="1600" dirty="0"/>
          </a:p>
        </p:txBody>
      </p:sp>
      <p:sp>
        <p:nvSpPr>
          <p:cNvPr id="23" name="Text 21"/>
          <p:cNvSpPr/>
          <p:nvPr/>
        </p:nvSpPr>
        <p:spPr>
          <a:xfrm>
            <a:off x="4546842" y="4321774"/>
            <a:ext cx="6827520" cy="792480"/>
          </a:xfrm>
          <a:prstGeom prst="rect">
            <a:avLst/>
          </a:prstGeom>
          <a:noFill/>
          <a:ln/>
        </p:spPr>
        <p:txBody>
          <a:bodyPr wrap="square" rtlCol="0" anchor="ctr"/>
          <a:lstStyle/>
          <a:p>
            <a:pPr marL="457189" indent="-457189">
              <a:buSzPct val="100000"/>
              <a:buChar char="•"/>
            </a:pPr>
            <a:r>
              <a:rPr lang="en-US" sz="1467" dirty="0">
                <a:solidFill>
                  <a:srgbClr val="1A2E25"/>
                </a:solidFill>
              </a:rPr>
              <a:t>Child of Canal via canal_id (FK)</a:t>
            </a:r>
            <a:endParaRPr lang="en-US" sz="1467" dirty="0"/>
          </a:p>
          <a:p>
            <a:pPr marL="457189" indent="-457189">
              <a:buSzPct val="100000"/>
              <a:buChar char="•"/>
            </a:pPr>
            <a:r>
              <a:rPr lang="en-US" sz="1467" dirty="0">
                <a:solidFill>
                  <a:srgbClr val="1A2E25"/>
                </a:solidFill>
              </a:rPr>
              <a:t>Parent of Structures</a:t>
            </a:r>
            <a:endParaRPr lang="en-US" sz="1467" dirty="0"/>
          </a:p>
          <a:p>
            <a:pPr marL="457189" indent="-457189">
              <a:buSzPct val="100000"/>
              <a:buChar char="•"/>
            </a:pPr>
            <a:r>
              <a:rPr lang="en-US" sz="1467" dirty="0">
                <a:solidFill>
                  <a:srgbClr val="1A2E25"/>
                </a:solidFill>
              </a:rPr>
              <a:t>Defines the irrigated coverage area</a:t>
            </a:r>
            <a:endParaRPr lang="en-US" sz="1467" dirty="0"/>
          </a:p>
          <a:p>
            <a:pPr marL="457189" indent="-457189">
              <a:buSzPct val="100000"/>
              <a:buChar char="•"/>
            </a:pPr>
            <a:r>
              <a:rPr lang="en-US" sz="1467" dirty="0">
                <a:solidFill>
                  <a:srgbClr val="1A2E25"/>
                </a:solidFill>
              </a:rPr>
              <a:t>Geometry: Polygon</a:t>
            </a:r>
            <a:endParaRPr lang="en-US" sz="1467" dirty="0"/>
          </a:p>
        </p:txBody>
      </p:sp>
      <p:sp>
        <p:nvSpPr>
          <p:cNvPr id="24" name="Shape 22"/>
          <p:cNvSpPr/>
          <p:nvPr/>
        </p:nvSpPr>
        <p:spPr>
          <a:xfrm>
            <a:off x="4363962" y="5434584"/>
            <a:ext cx="7193280" cy="1341120"/>
          </a:xfrm>
          <a:prstGeom prst="roundRect">
            <a:avLst>
              <a:gd name="adj" fmla="val 9091"/>
            </a:avLst>
          </a:prstGeom>
          <a:solidFill>
            <a:srgbClr val="FAEEDA"/>
          </a:solidFill>
          <a:ln w="6350">
            <a:solidFill>
              <a:srgbClr val="854F0B"/>
            </a:solidFill>
            <a:prstDash val="solid"/>
          </a:ln>
          <a:effectLst>
            <a:outerShdw blurRad="76200" dist="25400" dir="2700000" algn="bl" rotWithShape="0">
              <a:srgbClr val="000000">
                <a:alpha val="12000"/>
              </a:srgbClr>
            </a:outerShdw>
          </a:effectLst>
        </p:spPr>
        <p:txBody>
          <a:bodyPr/>
          <a:lstStyle/>
          <a:p>
            <a:endParaRPr lang="en-US"/>
          </a:p>
        </p:txBody>
      </p:sp>
      <p:sp>
        <p:nvSpPr>
          <p:cNvPr id="25" name="Text 23"/>
          <p:cNvSpPr/>
          <p:nvPr/>
        </p:nvSpPr>
        <p:spPr>
          <a:xfrm>
            <a:off x="4546842" y="5493366"/>
            <a:ext cx="6827520" cy="365760"/>
          </a:xfrm>
          <a:prstGeom prst="rect">
            <a:avLst/>
          </a:prstGeom>
          <a:noFill/>
          <a:ln/>
        </p:spPr>
        <p:txBody>
          <a:bodyPr wrap="square" rtlCol="0" anchor="ctr"/>
          <a:lstStyle/>
          <a:p>
            <a:r>
              <a:rPr lang="en-US" sz="1600" b="1" dirty="0">
                <a:solidFill>
                  <a:srgbClr val="854F0B"/>
                </a:solidFill>
              </a:rPr>
              <a:t>Structures (Child)</a:t>
            </a:r>
            <a:endParaRPr lang="en-US" sz="1600" dirty="0"/>
          </a:p>
        </p:txBody>
      </p:sp>
      <p:sp>
        <p:nvSpPr>
          <p:cNvPr id="26" name="Text 24"/>
          <p:cNvSpPr/>
          <p:nvPr/>
        </p:nvSpPr>
        <p:spPr>
          <a:xfrm>
            <a:off x="4546842" y="5885422"/>
            <a:ext cx="6827520" cy="792480"/>
          </a:xfrm>
          <a:prstGeom prst="rect">
            <a:avLst/>
          </a:prstGeom>
          <a:noFill/>
          <a:ln/>
        </p:spPr>
        <p:txBody>
          <a:bodyPr wrap="square" rtlCol="0" anchor="ctr"/>
          <a:lstStyle/>
          <a:p>
            <a:pPr marL="457189" indent="-457189">
              <a:buSzPct val="100000"/>
              <a:buChar char="•"/>
            </a:pPr>
            <a:r>
              <a:rPr lang="en-US" sz="1467" dirty="0">
                <a:solidFill>
                  <a:srgbClr val="1A2E25"/>
                </a:solidFill>
              </a:rPr>
              <a:t>Child of Command Area via area_id (FK)</a:t>
            </a:r>
            <a:endParaRPr lang="en-US" sz="1467" dirty="0"/>
          </a:p>
          <a:p>
            <a:pPr marL="457189" indent="-457189">
              <a:buSzPct val="100000"/>
              <a:buChar char="•"/>
            </a:pPr>
            <a:r>
              <a:rPr lang="en-US" sz="1467" dirty="0">
                <a:solidFill>
                  <a:srgbClr val="1A2E25"/>
                </a:solidFill>
              </a:rPr>
              <a:t>Represents physical infrastructure</a:t>
            </a:r>
            <a:endParaRPr lang="en-US" sz="1467" dirty="0"/>
          </a:p>
          <a:p>
            <a:pPr marL="457189" indent="-457189">
              <a:buSzPct val="100000"/>
              <a:buChar char="•"/>
            </a:pPr>
            <a:r>
              <a:rPr lang="en-US" sz="1467" dirty="0">
                <a:solidFill>
                  <a:srgbClr val="1A2E25"/>
                </a:solidFill>
              </a:rPr>
              <a:t>Types: intake, supper passage, Weir</a:t>
            </a:r>
            <a:endParaRPr lang="en-US" sz="1467" dirty="0"/>
          </a:p>
          <a:p>
            <a:pPr marL="457189" indent="-457189">
              <a:buSzPct val="100000"/>
              <a:buChar char="•"/>
            </a:pPr>
            <a:r>
              <a:rPr lang="en-US" sz="1467" dirty="0">
                <a:solidFill>
                  <a:srgbClr val="1A2E25"/>
                </a:solidFill>
              </a:rPr>
              <a:t>Geometry: Point</a:t>
            </a:r>
            <a:endParaRPr lang="en-US" sz="1467" dirty="0"/>
          </a:p>
        </p:txBody>
      </p:sp>
      <p:sp>
        <p:nvSpPr>
          <p:cNvPr id="27" name="Shape 4">
            <a:extLst>
              <a:ext uri="{FF2B5EF4-FFF2-40B4-BE49-F238E27FC236}">
                <a16:creationId xmlns:a16="http://schemas.microsoft.com/office/drawing/2014/main" id="{50D8330D-B604-2A2B-66A5-7128F30349F5}"/>
              </a:ext>
            </a:extLst>
          </p:cNvPr>
          <p:cNvSpPr/>
          <p:nvPr/>
        </p:nvSpPr>
        <p:spPr>
          <a:xfrm>
            <a:off x="634758" y="1178627"/>
            <a:ext cx="3413760" cy="692356"/>
          </a:xfrm>
          <a:prstGeom prst="roundRect">
            <a:avLst>
              <a:gd name="adj" fmla="val 10909"/>
            </a:avLst>
          </a:prstGeom>
          <a:solidFill>
            <a:schemeClr val="accent5">
              <a:lumMod val="20000"/>
              <a:lumOff val="80000"/>
              <a:alpha val="98000"/>
            </a:schemeClr>
          </a:solidFill>
          <a:ln w="12700">
            <a:solidFill>
              <a:srgbClr val="0F6E56"/>
            </a:solidFill>
            <a:prstDash val="solid"/>
          </a:ln>
          <a:effectLst>
            <a:outerShdw blurRad="76200" dist="25400" dir="2700000" algn="bl" rotWithShape="0">
              <a:srgbClr val="000000">
                <a:alpha val="12000"/>
              </a:srgbClr>
            </a:outerShdw>
          </a:effectLst>
        </p:spPr>
        <p:txBody>
          <a:bodyPr/>
          <a:lstStyle/>
          <a:p>
            <a:endParaRPr lang="en-US" dirty="0"/>
          </a:p>
        </p:txBody>
      </p:sp>
      <p:sp>
        <p:nvSpPr>
          <p:cNvPr id="28" name="Text 2">
            <a:extLst>
              <a:ext uri="{FF2B5EF4-FFF2-40B4-BE49-F238E27FC236}">
                <a16:creationId xmlns:a16="http://schemas.microsoft.com/office/drawing/2014/main" id="{B5E0AF43-4564-FD59-1344-9283C4FE43B5}"/>
              </a:ext>
            </a:extLst>
          </p:cNvPr>
          <p:cNvSpPr/>
          <p:nvPr/>
        </p:nvSpPr>
        <p:spPr>
          <a:xfrm>
            <a:off x="609600" y="1214533"/>
            <a:ext cx="3413760" cy="548640"/>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Scheme</a:t>
            </a:r>
            <a:endParaRPr lang="en-US" sz="2400" dirty="0"/>
          </a:p>
        </p:txBody>
      </p:sp>
      <p:sp>
        <p:nvSpPr>
          <p:cNvPr id="29" name="Shape 10">
            <a:extLst>
              <a:ext uri="{FF2B5EF4-FFF2-40B4-BE49-F238E27FC236}">
                <a16:creationId xmlns:a16="http://schemas.microsoft.com/office/drawing/2014/main" id="{E9DFC2B7-F72C-61D3-CC98-328111E3717A}"/>
              </a:ext>
            </a:extLst>
          </p:cNvPr>
          <p:cNvSpPr/>
          <p:nvPr/>
        </p:nvSpPr>
        <p:spPr>
          <a:xfrm>
            <a:off x="2254310" y="1887416"/>
            <a:ext cx="62169" cy="718718"/>
          </a:xfrm>
          <a:prstGeom prst="line">
            <a:avLst/>
          </a:prstGeom>
          <a:noFill/>
          <a:ln w="25400">
            <a:solidFill>
              <a:srgbClr val="1D9E75"/>
            </a:solidFill>
            <a:prstDash val="solid"/>
          </a:ln>
        </p:spPr>
        <p:txBody>
          <a:bodyPr/>
          <a:lstStyle/>
          <a:p>
            <a:endParaRPr lang="en-US"/>
          </a:p>
        </p:txBody>
      </p:sp>
      <p:sp>
        <p:nvSpPr>
          <p:cNvPr id="30" name="Shape 11">
            <a:extLst>
              <a:ext uri="{FF2B5EF4-FFF2-40B4-BE49-F238E27FC236}">
                <a16:creationId xmlns:a16="http://schemas.microsoft.com/office/drawing/2014/main" id="{54054AE7-EC04-7A9A-EC38-023C4643B6C4}"/>
              </a:ext>
            </a:extLst>
          </p:cNvPr>
          <p:cNvSpPr/>
          <p:nvPr/>
        </p:nvSpPr>
        <p:spPr>
          <a:xfrm>
            <a:off x="1036320" y="1998353"/>
            <a:ext cx="2560320" cy="341376"/>
          </a:xfrm>
          <a:prstGeom prst="roundRect">
            <a:avLst>
              <a:gd name="adj" fmla="val 17857"/>
            </a:avLst>
          </a:prstGeom>
          <a:solidFill>
            <a:schemeClr val="accent2">
              <a:lumMod val="20000"/>
              <a:lumOff val="80000"/>
            </a:schemeClr>
          </a:solidFill>
          <a:ln w="6350">
            <a:solidFill>
              <a:srgbClr val="1D9E75"/>
            </a:solidFill>
            <a:prstDash val="solid"/>
          </a:ln>
        </p:spPr>
        <p:txBody>
          <a:bodyPr/>
          <a:lstStyle/>
          <a:p>
            <a:pPr algn="ctr"/>
            <a:r>
              <a:rPr lang="en-US" sz="1400" b="1" dirty="0">
                <a:solidFill>
                  <a:srgbClr val="0F6E56"/>
                </a:solidFill>
              </a:rPr>
              <a:t>1 : Many</a:t>
            </a:r>
            <a:endParaRPr lang="en-US" sz="1400" dirty="0"/>
          </a:p>
        </p:txBody>
      </p:sp>
      <p:sp>
        <p:nvSpPr>
          <p:cNvPr id="32" name="Text 20">
            <a:extLst>
              <a:ext uri="{FF2B5EF4-FFF2-40B4-BE49-F238E27FC236}">
                <a16:creationId xmlns:a16="http://schemas.microsoft.com/office/drawing/2014/main" id="{A884F4C7-6013-D5E5-C40C-5235F2FDBB3C}"/>
              </a:ext>
            </a:extLst>
          </p:cNvPr>
          <p:cNvSpPr/>
          <p:nvPr/>
        </p:nvSpPr>
        <p:spPr>
          <a:xfrm>
            <a:off x="4546842" y="2643959"/>
            <a:ext cx="6827520" cy="365760"/>
          </a:xfrm>
          <a:prstGeom prst="rect">
            <a:avLst/>
          </a:prstGeom>
          <a:noFill/>
          <a:ln/>
        </p:spPr>
        <p:txBody>
          <a:bodyPr wrap="square" rtlCol="0" anchor="ctr"/>
          <a:lstStyle/>
          <a:p>
            <a:r>
              <a:rPr lang="en-US" sz="1600" b="1" dirty="0">
                <a:solidFill>
                  <a:srgbClr val="0F6E56"/>
                </a:solidFill>
              </a:rPr>
              <a:t>Canal (Child / Parent)</a:t>
            </a:r>
            <a:endParaRPr lang="en-US" sz="1600" dirty="0"/>
          </a:p>
        </p:txBody>
      </p:sp>
      <p:sp>
        <p:nvSpPr>
          <p:cNvPr id="33" name="Text 18">
            <a:extLst>
              <a:ext uri="{FF2B5EF4-FFF2-40B4-BE49-F238E27FC236}">
                <a16:creationId xmlns:a16="http://schemas.microsoft.com/office/drawing/2014/main" id="{FC87CBE1-1FA0-DE2A-F9AA-E299AF6878B6}"/>
              </a:ext>
            </a:extLst>
          </p:cNvPr>
          <p:cNvSpPr/>
          <p:nvPr/>
        </p:nvSpPr>
        <p:spPr>
          <a:xfrm>
            <a:off x="4546842" y="1555714"/>
            <a:ext cx="6827520" cy="792480"/>
          </a:xfrm>
          <a:prstGeom prst="rect">
            <a:avLst/>
          </a:prstGeom>
          <a:noFill/>
          <a:ln/>
        </p:spPr>
        <p:txBody>
          <a:bodyPr wrap="square" rtlCol="0" anchor="ctr"/>
          <a:lstStyle/>
          <a:p>
            <a:pPr marL="457189" indent="-457189">
              <a:buSzPct val="100000"/>
              <a:buChar char="•"/>
            </a:pPr>
            <a:r>
              <a:rPr lang="en-US" sz="1467" dirty="0">
                <a:solidFill>
                  <a:srgbClr val="1A2E25"/>
                </a:solidFill>
              </a:rPr>
              <a:t>Top of the hierarchy</a:t>
            </a:r>
            <a:endParaRPr lang="en-US" sz="1467" dirty="0"/>
          </a:p>
          <a:p>
            <a:pPr marL="457189" indent="-457189">
              <a:buSzPct val="100000"/>
              <a:buChar char="•"/>
            </a:pPr>
            <a:r>
              <a:rPr lang="en-US" sz="1467" dirty="0">
                <a:solidFill>
                  <a:srgbClr val="1A2E25"/>
                </a:solidFill>
              </a:rPr>
              <a:t>Each Scheme has at least one subproject (Irrigation rehabilitation, RBP)</a:t>
            </a:r>
            <a:endParaRPr lang="en-US" sz="1467" dirty="0"/>
          </a:p>
          <a:p>
            <a:pPr marL="457189" indent="-457189">
              <a:buSzPct val="100000"/>
              <a:buChar char="•"/>
            </a:pPr>
            <a:r>
              <a:rPr lang="en-US" sz="1467" dirty="0">
                <a:solidFill>
                  <a:srgbClr val="1A2E25"/>
                </a:solidFill>
              </a:rPr>
              <a:t>Identified by </a:t>
            </a:r>
            <a:r>
              <a:rPr lang="en-US" sz="1467" dirty="0" err="1">
                <a:solidFill>
                  <a:srgbClr val="1A2E25"/>
                </a:solidFill>
              </a:rPr>
              <a:t>scheme_id</a:t>
            </a:r>
            <a:r>
              <a:rPr lang="en-US" sz="1467" dirty="0">
                <a:solidFill>
                  <a:srgbClr val="1A2E25"/>
                </a:solidFill>
              </a:rPr>
              <a:t> (Primary Key)</a:t>
            </a:r>
            <a:endParaRPr lang="en-US" sz="1467" dirty="0"/>
          </a:p>
          <a:p>
            <a:pPr marL="457189" indent="-457189">
              <a:buSzPct val="100000"/>
              <a:buChar char="•"/>
            </a:pPr>
            <a:r>
              <a:rPr lang="en-US" sz="1467" dirty="0">
                <a:solidFill>
                  <a:srgbClr val="1A2E25"/>
                </a:solidFill>
              </a:rPr>
              <a:t>Geometry: Point</a:t>
            </a:r>
            <a:endParaRPr lang="en-US" sz="1467" dirty="0"/>
          </a:p>
        </p:txBody>
      </p:sp>
      <p:sp>
        <p:nvSpPr>
          <p:cNvPr id="34" name="TextBox 33">
            <a:extLst>
              <a:ext uri="{FF2B5EF4-FFF2-40B4-BE49-F238E27FC236}">
                <a16:creationId xmlns:a16="http://schemas.microsoft.com/office/drawing/2014/main" id="{2457A153-EB05-DB38-EA1B-D948CD7CB230}"/>
              </a:ext>
            </a:extLst>
          </p:cNvPr>
          <p:cNvSpPr txBox="1"/>
          <p:nvPr/>
        </p:nvSpPr>
        <p:spPr>
          <a:xfrm>
            <a:off x="457200" y="973683"/>
            <a:ext cx="11430000" cy="1554912"/>
          </a:xfrm>
          <a:prstGeom prst="rect">
            <a:avLst/>
          </a:prstGeom>
          <a:noFill/>
          <a:ln w="28575">
            <a:solidFill>
              <a:schemeClr val="tx2">
                <a:lumMod val="75000"/>
                <a:lumOff val="25000"/>
              </a:schemeClr>
            </a:solidFill>
          </a:ln>
        </p:spPr>
        <p:txBody>
          <a:bodyPr wrap="square" rtlCol="0">
            <a:spAutoFit/>
          </a:bodyPr>
          <a:lstStyle/>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C2461-D4AA-BAD3-7A46-F457C889CAAA}"/>
              </a:ext>
            </a:extLst>
          </p:cNvPr>
          <p:cNvSpPr>
            <a:spLocks noGrp="1"/>
          </p:cNvSpPr>
          <p:nvPr>
            <p:ph type="title"/>
          </p:nvPr>
        </p:nvSpPr>
        <p:spPr>
          <a:xfrm>
            <a:off x="391885" y="0"/>
            <a:ext cx="11070771" cy="1325563"/>
          </a:xfrm>
        </p:spPr>
        <p:txBody>
          <a:bodyPr>
            <a:normAutofit/>
          </a:bodyPr>
          <a:lstStyle/>
          <a:p>
            <a:r>
              <a:rPr lang="en-US" sz="3600" dirty="0"/>
              <a:t>Geodatabase design of one Irrigation project</a:t>
            </a:r>
          </a:p>
        </p:txBody>
      </p:sp>
      <p:pic>
        <p:nvPicPr>
          <p:cNvPr id="5" name="Picture 4">
            <a:extLst>
              <a:ext uri="{FF2B5EF4-FFF2-40B4-BE49-F238E27FC236}">
                <a16:creationId xmlns:a16="http://schemas.microsoft.com/office/drawing/2014/main" id="{6F9D9198-CFE2-56B6-37D2-CA83766C759A}"/>
              </a:ext>
            </a:extLst>
          </p:cNvPr>
          <p:cNvPicPr>
            <a:picLocks noChangeAspect="1"/>
          </p:cNvPicPr>
          <p:nvPr/>
        </p:nvPicPr>
        <p:blipFill>
          <a:blip r:embed="rId2"/>
          <a:stretch>
            <a:fillRect/>
          </a:stretch>
        </p:blipFill>
        <p:spPr>
          <a:xfrm>
            <a:off x="261257" y="973745"/>
            <a:ext cx="6693244" cy="2863997"/>
          </a:xfrm>
          <a:prstGeom prst="rect">
            <a:avLst/>
          </a:prstGeom>
          <a:ln>
            <a:solidFill>
              <a:schemeClr val="accent1"/>
            </a:solidFill>
          </a:ln>
        </p:spPr>
      </p:pic>
      <p:pic>
        <p:nvPicPr>
          <p:cNvPr id="7" name="Picture 6">
            <a:extLst>
              <a:ext uri="{FF2B5EF4-FFF2-40B4-BE49-F238E27FC236}">
                <a16:creationId xmlns:a16="http://schemas.microsoft.com/office/drawing/2014/main" id="{CDCB0FA0-FFD5-FFF5-CE2F-39761F24B10B}"/>
              </a:ext>
            </a:extLst>
          </p:cNvPr>
          <p:cNvPicPr>
            <a:picLocks noChangeAspect="1"/>
          </p:cNvPicPr>
          <p:nvPr/>
        </p:nvPicPr>
        <p:blipFill>
          <a:blip r:embed="rId3"/>
          <a:srcRect r="5762"/>
          <a:stretch>
            <a:fillRect/>
          </a:stretch>
        </p:blipFill>
        <p:spPr>
          <a:xfrm>
            <a:off x="5545045" y="2874648"/>
            <a:ext cx="6102670" cy="3537038"/>
          </a:xfrm>
          <a:prstGeom prst="rect">
            <a:avLst/>
          </a:prstGeom>
          <a:ln>
            <a:solidFill>
              <a:schemeClr val="accent1"/>
            </a:solidFill>
          </a:ln>
        </p:spPr>
      </p:pic>
      <p:pic>
        <p:nvPicPr>
          <p:cNvPr id="9" name="Picture 8">
            <a:extLst>
              <a:ext uri="{FF2B5EF4-FFF2-40B4-BE49-F238E27FC236}">
                <a16:creationId xmlns:a16="http://schemas.microsoft.com/office/drawing/2014/main" id="{F4D8E3B4-D7BF-F5D0-3AD1-4A0468623D18}"/>
              </a:ext>
            </a:extLst>
          </p:cNvPr>
          <p:cNvPicPr>
            <a:picLocks noChangeAspect="1"/>
          </p:cNvPicPr>
          <p:nvPr/>
        </p:nvPicPr>
        <p:blipFill>
          <a:blip r:embed="rId4"/>
          <a:srcRect t="5921" b="-1"/>
          <a:stretch>
            <a:fillRect/>
          </a:stretch>
        </p:blipFill>
        <p:spPr>
          <a:xfrm>
            <a:off x="6157855" y="908834"/>
            <a:ext cx="2438525" cy="1672818"/>
          </a:xfrm>
          <a:prstGeom prst="rect">
            <a:avLst/>
          </a:prstGeom>
          <a:ln>
            <a:solidFill>
              <a:schemeClr val="accent1"/>
            </a:solidFill>
          </a:ln>
        </p:spPr>
      </p:pic>
    </p:spTree>
    <p:extLst>
      <p:ext uri="{BB962C8B-B14F-4D97-AF65-F5344CB8AC3E}">
        <p14:creationId xmlns:p14="http://schemas.microsoft.com/office/powerpoint/2010/main" val="40075176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DA4460-8585-36E0-A6FC-1A592C76BE1D}"/>
              </a:ext>
            </a:extLst>
          </p:cNvPr>
          <p:cNvPicPr>
            <a:picLocks noChangeAspect="1"/>
          </p:cNvPicPr>
          <p:nvPr/>
        </p:nvPicPr>
        <p:blipFill>
          <a:blip r:embed="rId3"/>
          <a:stretch>
            <a:fillRect/>
          </a:stretch>
        </p:blipFill>
        <p:spPr>
          <a:xfrm>
            <a:off x="221140" y="301531"/>
            <a:ext cx="7874405" cy="3664138"/>
          </a:xfrm>
          <a:prstGeom prst="rect">
            <a:avLst/>
          </a:prstGeom>
          <a:ln>
            <a:solidFill>
              <a:schemeClr val="accent1"/>
            </a:solidFill>
          </a:ln>
        </p:spPr>
      </p:pic>
      <p:pic>
        <p:nvPicPr>
          <p:cNvPr id="7" name="Picture 6">
            <a:extLst>
              <a:ext uri="{FF2B5EF4-FFF2-40B4-BE49-F238E27FC236}">
                <a16:creationId xmlns:a16="http://schemas.microsoft.com/office/drawing/2014/main" id="{93FF3856-F1CB-8137-BFAC-906B3369E720}"/>
              </a:ext>
            </a:extLst>
          </p:cNvPr>
          <p:cNvPicPr>
            <a:picLocks noChangeAspect="1"/>
          </p:cNvPicPr>
          <p:nvPr/>
        </p:nvPicPr>
        <p:blipFill>
          <a:blip r:embed="rId4"/>
          <a:stretch>
            <a:fillRect/>
          </a:stretch>
        </p:blipFill>
        <p:spPr>
          <a:xfrm>
            <a:off x="8271190" y="1313092"/>
            <a:ext cx="2956584" cy="4136304"/>
          </a:xfrm>
          <a:prstGeom prst="rect">
            <a:avLst/>
          </a:prstGeom>
          <a:ln>
            <a:solidFill>
              <a:schemeClr val="accent1"/>
            </a:solidFill>
          </a:ln>
        </p:spPr>
      </p:pic>
    </p:spTree>
    <p:extLst>
      <p:ext uri="{BB962C8B-B14F-4D97-AF65-F5344CB8AC3E}">
        <p14:creationId xmlns:p14="http://schemas.microsoft.com/office/powerpoint/2010/main" val="3104466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5FF6BF-9D0B-AE4D-D433-09D3D9E1297C}"/>
              </a:ext>
            </a:extLst>
          </p:cNvPr>
          <p:cNvPicPr>
            <a:picLocks noChangeAspect="1"/>
          </p:cNvPicPr>
          <p:nvPr/>
        </p:nvPicPr>
        <p:blipFill>
          <a:blip r:embed="rId2"/>
          <a:srcRect/>
          <a:stretch>
            <a:fillRect/>
          </a:stretch>
        </p:blipFill>
        <p:spPr>
          <a:xfrm>
            <a:off x="83757" y="80201"/>
            <a:ext cx="6187371" cy="3229056"/>
          </a:xfrm>
          <a:prstGeom prst="rect">
            <a:avLst/>
          </a:prstGeom>
          <a:ln>
            <a:solidFill>
              <a:schemeClr val="accent1"/>
            </a:solidFill>
          </a:ln>
        </p:spPr>
      </p:pic>
      <p:pic>
        <p:nvPicPr>
          <p:cNvPr id="7" name="Picture 6">
            <a:extLst>
              <a:ext uri="{FF2B5EF4-FFF2-40B4-BE49-F238E27FC236}">
                <a16:creationId xmlns:a16="http://schemas.microsoft.com/office/drawing/2014/main" id="{03833B63-6017-A54B-2EE4-C176A4F401D4}"/>
              </a:ext>
            </a:extLst>
          </p:cNvPr>
          <p:cNvPicPr>
            <a:picLocks noChangeAspect="1"/>
          </p:cNvPicPr>
          <p:nvPr/>
        </p:nvPicPr>
        <p:blipFill>
          <a:blip r:embed="rId3"/>
          <a:stretch>
            <a:fillRect/>
          </a:stretch>
        </p:blipFill>
        <p:spPr>
          <a:xfrm>
            <a:off x="5109328" y="2622740"/>
            <a:ext cx="6736110" cy="3229056"/>
          </a:xfrm>
          <a:prstGeom prst="rect">
            <a:avLst/>
          </a:prstGeom>
          <a:ln>
            <a:solidFill>
              <a:schemeClr val="accent1"/>
            </a:solidFill>
          </a:ln>
        </p:spPr>
      </p:pic>
    </p:spTree>
    <p:extLst>
      <p:ext uri="{BB962C8B-B14F-4D97-AF65-F5344CB8AC3E}">
        <p14:creationId xmlns:p14="http://schemas.microsoft.com/office/powerpoint/2010/main" val="3830183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B76FE-A849-B454-7862-D9A9E95DB631}"/>
              </a:ext>
            </a:extLst>
          </p:cNvPr>
          <p:cNvSpPr>
            <a:spLocks noGrp="1"/>
          </p:cNvSpPr>
          <p:nvPr>
            <p:ph type="title"/>
          </p:nvPr>
        </p:nvSpPr>
        <p:spPr/>
        <p:txBody>
          <a:bodyPr/>
          <a:lstStyle/>
          <a:p>
            <a:r>
              <a:rPr lang="en-US" dirty="0"/>
              <a:t>Raster Analysis in ArcGIS Pro</a:t>
            </a:r>
          </a:p>
        </p:txBody>
      </p:sp>
      <p:sp>
        <p:nvSpPr>
          <p:cNvPr id="3" name="Content Placeholder 2">
            <a:extLst>
              <a:ext uri="{FF2B5EF4-FFF2-40B4-BE49-F238E27FC236}">
                <a16:creationId xmlns:a16="http://schemas.microsoft.com/office/drawing/2014/main" id="{7C91EA87-1908-993F-8650-630A5B94EE03}"/>
              </a:ext>
            </a:extLst>
          </p:cNvPr>
          <p:cNvSpPr>
            <a:spLocks noGrp="1"/>
          </p:cNvSpPr>
          <p:nvPr>
            <p:ph idx="1"/>
          </p:nvPr>
        </p:nvSpPr>
        <p:spPr>
          <a:xfrm>
            <a:off x="838199" y="1825625"/>
            <a:ext cx="10863943" cy="4351338"/>
          </a:xfrm>
        </p:spPr>
        <p:txBody>
          <a:bodyPr>
            <a:normAutofit fontScale="92500" lnSpcReduction="10000"/>
          </a:bodyPr>
          <a:lstStyle/>
          <a:p>
            <a:pPr marL="0" indent="0">
              <a:buNone/>
            </a:pPr>
            <a:r>
              <a:rPr lang="en-US" dirty="0"/>
              <a:t>Discrete data models deal with spatial objects as points, lines, or polygons, but other approaches are needed to store and model continuous surfaces that are based on measured quantities, such as elevation, that vary from place to place on the earth.</a:t>
            </a:r>
          </a:p>
          <a:p>
            <a:pPr marL="0" indent="0">
              <a:buNone/>
            </a:pPr>
            <a:r>
              <a:rPr lang="en-US" dirty="0"/>
              <a:t>Raster excel at storing continuous data, which are quantities or variables that change over the earth’s surface. A digital elevation model (DEM) stores elevation values. Cells are unlikely to have the same elevation as their neighbors, and the values range smoothly into one another, forming a continuous surface (or continuous field). Therefore, they are commonly called continuous raster. Precipitation, population density, temperature, and cloud cover are other examples of variables that can be measured over space and stored in raster format as continuous data.</a:t>
            </a:r>
          </a:p>
        </p:txBody>
      </p:sp>
    </p:spTree>
    <p:extLst>
      <p:ext uri="{BB962C8B-B14F-4D97-AF65-F5344CB8AC3E}">
        <p14:creationId xmlns:p14="http://schemas.microsoft.com/office/powerpoint/2010/main" val="3978404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E426-7A02-23F4-2947-A345187DEB42}"/>
              </a:ext>
            </a:extLst>
          </p:cNvPr>
          <p:cNvSpPr>
            <a:spLocks noGrp="1"/>
          </p:cNvSpPr>
          <p:nvPr>
            <p:ph type="title"/>
          </p:nvPr>
        </p:nvSpPr>
        <p:spPr/>
        <p:txBody>
          <a:bodyPr/>
          <a:lstStyle/>
          <a:p>
            <a:r>
              <a:rPr lang="en-US" dirty="0"/>
              <a:t>Different Raster Analysis</a:t>
            </a:r>
          </a:p>
        </p:txBody>
      </p:sp>
      <p:sp>
        <p:nvSpPr>
          <p:cNvPr id="3" name="Content Placeholder 2">
            <a:extLst>
              <a:ext uri="{FF2B5EF4-FFF2-40B4-BE49-F238E27FC236}">
                <a16:creationId xmlns:a16="http://schemas.microsoft.com/office/drawing/2014/main" id="{419052AE-A027-5B19-1FC5-B6DBF5C2A330}"/>
              </a:ext>
            </a:extLst>
          </p:cNvPr>
          <p:cNvSpPr>
            <a:spLocks noGrp="1"/>
          </p:cNvSpPr>
          <p:nvPr>
            <p:ph idx="1"/>
          </p:nvPr>
        </p:nvSpPr>
        <p:spPr/>
        <p:txBody>
          <a:bodyPr>
            <a:normAutofit fontScale="92500" lnSpcReduction="20000"/>
          </a:bodyPr>
          <a:lstStyle/>
          <a:p>
            <a:pPr marL="0" indent="0">
              <a:buNone/>
            </a:pPr>
            <a:r>
              <a:rPr lang="en-US" dirty="0"/>
              <a:t>Raster analysis means creating a new grid from one or more raster by applying a rule to each cell. Below are some types of common raster analysis in ArcGIS pro:</a:t>
            </a:r>
          </a:p>
          <a:p>
            <a:r>
              <a:rPr lang="en-US" b="1" dirty="0"/>
              <a:t>Reclassify:</a:t>
            </a:r>
            <a:r>
              <a:rPr lang="en-US" dirty="0"/>
              <a:t> Reassigns cell values into new categories (e.g. elevation → low/medium/high</a:t>
            </a:r>
          </a:p>
          <a:p>
            <a:r>
              <a:rPr lang="en-US" b="1" dirty="0"/>
              <a:t>Zonal Operations: </a:t>
            </a:r>
            <a:r>
              <a:rPr lang="en-US" dirty="0"/>
              <a:t>Summarize raster values within defined zones (often using a separate zone raster or polygon).</a:t>
            </a:r>
          </a:p>
          <a:p>
            <a:r>
              <a:rPr lang="en-US" b="1" dirty="0"/>
              <a:t>Euclidean Distance: </a:t>
            </a:r>
            <a:r>
              <a:rPr lang="en-US" dirty="0"/>
              <a:t>Straight-line distance from each cell to the nearest source feature</a:t>
            </a:r>
          </a:p>
          <a:p>
            <a:r>
              <a:rPr lang="en-US" b="1" dirty="0"/>
              <a:t>Raster Calculator / Map Algebra: </a:t>
            </a:r>
            <a:r>
              <a:rPr lang="en-US" dirty="0"/>
              <a:t>Apply math expressions directly to raster values (e.g. NDVI = (NIR - Red) / (NIR + Red)).</a:t>
            </a:r>
          </a:p>
          <a:p>
            <a:r>
              <a:rPr lang="en-US" b="1" dirty="0"/>
              <a:t>Viewshed: </a:t>
            </a:r>
            <a:r>
              <a:rPr lang="en-US" dirty="0"/>
              <a:t>Determines what's visible from a given observation point</a:t>
            </a:r>
          </a:p>
          <a:p>
            <a:endParaRPr lang="en-US" dirty="0"/>
          </a:p>
        </p:txBody>
      </p:sp>
    </p:spTree>
    <p:extLst>
      <p:ext uri="{BB962C8B-B14F-4D97-AF65-F5344CB8AC3E}">
        <p14:creationId xmlns:p14="http://schemas.microsoft.com/office/powerpoint/2010/main" val="1297732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5B7AA-851C-5FDE-D20A-E5EB3B211FC2}"/>
              </a:ext>
            </a:extLst>
          </p:cNvPr>
          <p:cNvSpPr>
            <a:spLocks noGrp="1"/>
          </p:cNvSpPr>
          <p:nvPr>
            <p:ph type="title"/>
          </p:nvPr>
        </p:nvSpPr>
        <p:spPr/>
        <p:txBody>
          <a:bodyPr/>
          <a:lstStyle/>
          <a:p>
            <a:r>
              <a:rPr lang="en-US" dirty="0"/>
              <a:t>What is Weighted Overlay</a:t>
            </a:r>
          </a:p>
        </p:txBody>
      </p:sp>
      <p:sp>
        <p:nvSpPr>
          <p:cNvPr id="3" name="Content Placeholder 2">
            <a:extLst>
              <a:ext uri="{FF2B5EF4-FFF2-40B4-BE49-F238E27FC236}">
                <a16:creationId xmlns:a16="http://schemas.microsoft.com/office/drawing/2014/main" id="{D1332137-805C-B46A-28BB-56A7954BC6EC}"/>
              </a:ext>
            </a:extLst>
          </p:cNvPr>
          <p:cNvSpPr>
            <a:spLocks noGrp="1"/>
          </p:cNvSpPr>
          <p:nvPr>
            <p:ph idx="1"/>
          </p:nvPr>
        </p:nvSpPr>
        <p:spPr>
          <a:xfrm>
            <a:off x="370114" y="1825625"/>
            <a:ext cx="4620986" cy="4351338"/>
          </a:xfrm>
        </p:spPr>
        <p:txBody>
          <a:bodyPr>
            <a:normAutofit fontScale="85000" lnSpcReduction="20000"/>
          </a:bodyPr>
          <a:lstStyle/>
          <a:p>
            <a:pPr marL="0" indent="0">
              <a:buNone/>
            </a:pPr>
            <a:r>
              <a:rPr lang="en-US" dirty="0"/>
              <a:t>Weighted Overlay is a raster analysis method that combines several layers into one suitability map, by:</a:t>
            </a:r>
          </a:p>
          <a:p>
            <a:r>
              <a:rPr lang="en-US" dirty="0"/>
              <a:t>Putting every layer on the same score scale (for example 1 = good, 5 = bad)</a:t>
            </a:r>
          </a:p>
          <a:p>
            <a:r>
              <a:rPr lang="en-US" dirty="0"/>
              <a:t>Giving each layer an importance weight (percent)</a:t>
            </a:r>
          </a:p>
          <a:p>
            <a:r>
              <a:rPr lang="en-US" dirty="0"/>
              <a:t>Adding them together</a:t>
            </a:r>
          </a:p>
          <a:p>
            <a:r>
              <a:rPr lang="en-US" dirty="0"/>
              <a:t>The result is one raster: where is the best place (or corridor) according to your rules.</a:t>
            </a:r>
          </a:p>
        </p:txBody>
      </p:sp>
      <p:pic>
        <p:nvPicPr>
          <p:cNvPr id="5" name="Picture 4">
            <a:extLst>
              <a:ext uri="{FF2B5EF4-FFF2-40B4-BE49-F238E27FC236}">
                <a16:creationId xmlns:a16="http://schemas.microsoft.com/office/drawing/2014/main" id="{D65F29DB-EB49-6158-AAE0-0075A3A2C659}"/>
              </a:ext>
            </a:extLst>
          </p:cNvPr>
          <p:cNvPicPr>
            <a:picLocks noChangeAspect="1"/>
          </p:cNvPicPr>
          <p:nvPr/>
        </p:nvPicPr>
        <p:blipFill>
          <a:blip r:embed="rId2"/>
          <a:stretch>
            <a:fillRect/>
          </a:stretch>
        </p:blipFill>
        <p:spPr>
          <a:xfrm>
            <a:off x="4991100" y="1531031"/>
            <a:ext cx="6700157" cy="4466771"/>
          </a:xfrm>
          <a:prstGeom prst="rect">
            <a:avLst/>
          </a:prstGeom>
        </p:spPr>
      </p:pic>
    </p:spTree>
    <p:extLst>
      <p:ext uri="{BB962C8B-B14F-4D97-AF65-F5344CB8AC3E}">
        <p14:creationId xmlns:p14="http://schemas.microsoft.com/office/powerpoint/2010/main" val="1137368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06F0-2601-83EE-402C-21799420E09C}"/>
              </a:ext>
            </a:extLst>
          </p:cNvPr>
          <p:cNvSpPr>
            <a:spLocks noGrp="1"/>
          </p:cNvSpPr>
          <p:nvPr>
            <p:ph type="title"/>
          </p:nvPr>
        </p:nvSpPr>
        <p:spPr/>
        <p:txBody>
          <a:bodyPr/>
          <a:lstStyle/>
          <a:p>
            <a:r>
              <a:rPr lang="en-US" dirty="0"/>
              <a:t>Raster Resolution</a:t>
            </a:r>
          </a:p>
        </p:txBody>
      </p:sp>
      <p:sp>
        <p:nvSpPr>
          <p:cNvPr id="3" name="Content Placeholder 2">
            <a:extLst>
              <a:ext uri="{FF2B5EF4-FFF2-40B4-BE49-F238E27FC236}">
                <a16:creationId xmlns:a16="http://schemas.microsoft.com/office/drawing/2014/main" id="{6CAAE5DA-38B4-2459-401F-ABA2CDA1729A}"/>
              </a:ext>
            </a:extLst>
          </p:cNvPr>
          <p:cNvSpPr>
            <a:spLocks noGrp="1"/>
          </p:cNvSpPr>
          <p:nvPr>
            <p:ph idx="1"/>
          </p:nvPr>
        </p:nvSpPr>
        <p:spPr/>
        <p:txBody>
          <a:bodyPr/>
          <a:lstStyle/>
          <a:p>
            <a:r>
              <a:rPr lang="en-US"/>
              <a:t>The x and y dimensions of each pixel define the resolution of the raster data. The higher the resolution, the more precisely the data can be represented.</a:t>
            </a:r>
            <a:endParaRPr lang="en-US" dirty="0"/>
          </a:p>
        </p:txBody>
      </p:sp>
      <p:pic>
        <p:nvPicPr>
          <p:cNvPr id="4" name="Picture 3" descr="Comparação entre modelos SRTM 90m, SRTM 30m e TanDEM-X 12m. Fonte: DLR ...">
            <a:extLst>
              <a:ext uri="{FF2B5EF4-FFF2-40B4-BE49-F238E27FC236}">
                <a16:creationId xmlns:a16="http://schemas.microsoft.com/office/drawing/2014/main" id="{89A36C00-E87F-BF9F-CF7A-5A2C4F01DBA9}"/>
              </a:ext>
            </a:extLst>
          </p:cNvPr>
          <p:cNvPicPr>
            <a:picLocks noChangeAspect="1"/>
          </p:cNvPicPr>
          <p:nvPr/>
        </p:nvPicPr>
        <p:blipFill>
          <a:blip r:embed="rId2"/>
          <a:stretch>
            <a:fillRect/>
          </a:stretch>
        </p:blipFill>
        <p:spPr>
          <a:xfrm>
            <a:off x="5967656" y="2723583"/>
            <a:ext cx="5921875" cy="2926103"/>
          </a:xfrm>
          <a:prstGeom prst="rect">
            <a:avLst/>
          </a:prstGeom>
        </p:spPr>
      </p:pic>
      <p:pic>
        <p:nvPicPr>
          <p:cNvPr id="6" name="Picture 5">
            <a:extLst>
              <a:ext uri="{FF2B5EF4-FFF2-40B4-BE49-F238E27FC236}">
                <a16:creationId xmlns:a16="http://schemas.microsoft.com/office/drawing/2014/main" id="{03C15DBB-B2E7-7613-2F5B-23330D219D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199" y="3429000"/>
            <a:ext cx="5290457" cy="2645229"/>
          </a:xfrm>
          <a:prstGeom prst="rect">
            <a:avLst/>
          </a:prstGeom>
        </p:spPr>
      </p:pic>
    </p:spTree>
    <p:extLst>
      <p:ext uri="{BB962C8B-B14F-4D97-AF65-F5344CB8AC3E}">
        <p14:creationId xmlns:p14="http://schemas.microsoft.com/office/powerpoint/2010/main" val="1440582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2622-B3F1-DB59-E477-34E4B80EF16E}"/>
              </a:ext>
            </a:extLst>
          </p:cNvPr>
          <p:cNvSpPr>
            <a:spLocks noGrp="1"/>
          </p:cNvSpPr>
          <p:nvPr>
            <p:ph type="title"/>
          </p:nvPr>
        </p:nvSpPr>
        <p:spPr/>
        <p:txBody>
          <a:bodyPr/>
          <a:lstStyle/>
          <a:p>
            <a:r>
              <a:rPr lang="en-US" dirty="0"/>
              <a:t>What is a Digital Elevation Model (DEM)?</a:t>
            </a:r>
          </a:p>
        </p:txBody>
      </p:sp>
      <p:sp>
        <p:nvSpPr>
          <p:cNvPr id="3" name="Content Placeholder 2">
            <a:extLst>
              <a:ext uri="{FF2B5EF4-FFF2-40B4-BE49-F238E27FC236}">
                <a16:creationId xmlns:a16="http://schemas.microsoft.com/office/drawing/2014/main" id="{1A8147CA-768D-38A0-46B7-E677182FB6E7}"/>
              </a:ext>
            </a:extLst>
          </p:cNvPr>
          <p:cNvSpPr>
            <a:spLocks noGrp="1"/>
          </p:cNvSpPr>
          <p:nvPr>
            <p:ph idx="1"/>
          </p:nvPr>
        </p:nvSpPr>
        <p:spPr>
          <a:xfrm>
            <a:off x="70757" y="1690688"/>
            <a:ext cx="4746171" cy="4351338"/>
          </a:xfrm>
        </p:spPr>
        <p:txBody>
          <a:bodyPr>
            <a:normAutofit/>
          </a:bodyPr>
          <a:lstStyle/>
          <a:p>
            <a:pPr marL="0" indent="0">
              <a:buNone/>
            </a:pPr>
            <a:r>
              <a:rPr lang="en-US" sz="2200" dirty="0"/>
              <a:t>A Digital Elevation Model (DEM) is a digital map of the height of the ground. The land is stored as a raster (a grid of squares). Each pixel has one number: elevation as mean sea level.</a:t>
            </a:r>
          </a:p>
          <a:p>
            <a:pPr marL="0" indent="0">
              <a:buNone/>
            </a:pPr>
            <a:r>
              <a:rPr lang="en-US" sz="2200" dirty="0"/>
              <a:t>If the DEM is </a:t>
            </a:r>
            <a:r>
              <a:rPr lang="en-US" sz="2200" b="1" dirty="0"/>
              <a:t>30 m resolution</a:t>
            </a:r>
            <a:r>
              <a:rPr lang="en-US" sz="2200" dirty="0"/>
              <a:t>, one elevation number represents </a:t>
            </a:r>
            <a:r>
              <a:rPr lang="en-US" sz="2200" b="1" dirty="0"/>
              <a:t>all the ground in that 30 × 30 m square</a:t>
            </a:r>
            <a:r>
              <a:rPr lang="en-US" sz="2200" dirty="0"/>
              <a:t>. Hills smaller than a pixel are averaged or missed</a:t>
            </a:r>
          </a:p>
        </p:txBody>
      </p:sp>
      <p:pic>
        <p:nvPicPr>
          <p:cNvPr id="5" name="Picture 4">
            <a:extLst>
              <a:ext uri="{FF2B5EF4-FFF2-40B4-BE49-F238E27FC236}">
                <a16:creationId xmlns:a16="http://schemas.microsoft.com/office/drawing/2014/main" id="{72AAE402-1CB8-7BB8-B84A-3C8FB38BCE18}"/>
              </a:ext>
            </a:extLst>
          </p:cNvPr>
          <p:cNvPicPr>
            <a:picLocks noChangeAspect="1"/>
          </p:cNvPicPr>
          <p:nvPr/>
        </p:nvPicPr>
        <p:blipFill>
          <a:blip r:embed="rId2"/>
          <a:stretch>
            <a:fillRect/>
          </a:stretch>
        </p:blipFill>
        <p:spPr>
          <a:xfrm>
            <a:off x="4740729" y="1322161"/>
            <a:ext cx="7079798" cy="4719865"/>
          </a:xfrm>
          <a:prstGeom prst="rect">
            <a:avLst/>
          </a:prstGeom>
        </p:spPr>
      </p:pic>
    </p:spTree>
    <p:extLst>
      <p:ext uri="{BB962C8B-B14F-4D97-AF65-F5344CB8AC3E}">
        <p14:creationId xmlns:p14="http://schemas.microsoft.com/office/powerpoint/2010/main" val="9958876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26C5A-9CF2-B1AB-6706-3389C973622C}"/>
              </a:ext>
            </a:extLst>
          </p:cNvPr>
          <p:cNvSpPr>
            <a:spLocks noGrp="1"/>
          </p:cNvSpPr>
          <p:nvPr>
            <p:ph type="title"/>
          </p:nvPr>
        </p:nvSpPr>
        <p:spPr/>
        <p:txBody>
          <a:bodyPr/>
          <a:lstStyle/>
          <a:p>
            <a:r>
              <a:rPr lang="en-US" dirty="0"/>
              <a:t>DEM Different Sources</a:t>
            </a:r>
          </a:p>
        </p:txBody>
      </p:sp>
      <p:sp>
        <p:nvSpPr>
          <p:cNvPr id="3" name="Content Placeholder 2">
            <a:extLst>
              <a:ext uri="{FF2B5EF4-FFF2-40B4-BE49-F238E27FC236}">
                <a16:creationId xmlns:a16="http://schemas.microsoft.com/office/drawing/2014/main" id="{1AB862E7-DF47-DE6D-D401-53F687ABFA64}"/>
              </a:ext>
            </a:extLst>
          </p:cNvPr>
          <p:cNvSpPr>
            <a:spLocks noGrp="1"/>
          </p:cNvSpPr>
          <p:nvPr>
            <p:ph idx="1"/>
          </p:nvPr>
        </p:nvSpPr>
        <p:spPr/>
        <p:txBody>
          <a:bodyPr/>
          <a:lstStyle/>
          <a:p>
            <a:r>
              <a:rPr lang="en-US" dirty="0"/>
              <a:t>Below are some source of DEM:</a:t>
            </a:r>
          </a:p>
        </p:txBody>
      </p:sp>
      <p:pic>
        <p:nvPicPr>
          <p:cNvPr id="5" name="Picture 4">
            <a:extLst>
              <a:ext uri="{FF2B5EF4-FFF2-40B4-BE49-F238E27FC236}">
                <a16:creationId xmlns:a16="http://schemas.microsoft.com/office/drawing/2014/main" id="{C4A0DF57-7483-9BA4-1B06-DAB36E51F074}"/>
              </a:ext>
            </a:extLst>
          </p:cNvPr>
          <p:cNvPicPr>
            <a:picLocks noChangeAspect="1"/>
          </p:cNvPicPr>
          <p:nvPr/>
        </p:nvPicPr>
        <p:blipFill>
          <a:blip r:embed="rId2"/>
          <a:stretch>
            <a:fillRect/>
          </a:stretch>
        </p:blipFill>
        <p:spPr>
          <a:xfrm>
            <a:off x="1001811" y="2614702"/>
            <a:ext cx="9932527" cy="2773184"/>
          </a:xfrm>
          <a:prstGeom prst="rect">
            <a:avLst/>
          </a:prstGeom>
        </p:spPr>
      </p:pic>
    </p:spTree>
    <p:extLst>
      <p:ext uri="{BB962C8B-B14F-4D97-AF65-F5344CB8AC3E}">
        <p14:creationId xmlns:p14="http://schemas.microsoft.com/office/powerpoint/2010/main" val="32115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3E0FC-9CA0-37B6-960B-8846C25B6D1E}"/>
              </a:ext>
            </a:extLst>
          </p:cNvPr>
          <p:cNvSpPr>
            <a:spLocks noGrp="1"/>
          </p:cNvSpPr>
          <p:nvPr>
            <p:ph type="title"/>
          </p:nvPr>
        </p:nvSpPr>
        <p:spPr>
          <a:xfrm>
            <a:off x="838200" y="288925"/>
            <a:ext cx="10515600" cy="1325563"/>
          </a:xfrm>
        </p:spPr>
        <p:txBody>
          <a:bodyPr/>
          <a:lstStyle/>
          <a:p>
            <a:r>
              <a:rPr lang="en-US" dirty="0"/>
              <a:t>What Can be Extracted from DEM</a:t>
            </a:r>
          </a:p>
        </p:txBody>
      </p:sp>
      <p:pic>
        <p:nvPicPr>
          <p:cNvPr id="5" name="Content Placeholder 4">
            <a:extLst>
              <a:ext uri="{FF2B5EF4-FFF2-40B4-BE49-F238E27FC236}">
                <a16:creationId xmlns:a16="http://schemas.microsoft.com/office/drawing/2014/main" id="{31DE02D5-EE53-680F-8BE4-FE1102E9F2E5}"/>
              </a:ext>
            </a:extLst>
          </p:cNvPr>
          <p:cNvPicPr>
            <a:picLocks noGrp="1" noChangeAspect="1"/>
          </p:cNvPicPr>
          <p:nvPr>
            <p:ph idx="1"/>
          </p:nvPr>
        </p:nvPicPr>
        <p:blipFill>
          <a:blip r:embed="rId2"/>
          <a:stretch>
            <a:fillRect/>
          </a:stretch>
        </p:blipFill>
        <p:spPr>
          <a:xfrm>
            <a:off x="1170945" y="1436914"/>
            <a:ext cx="9239185" cy="4782435"/>
          </a:xfrm>
          <a:prstGeom prst="rect">
            <a:avLst/>
          </a:prstGeom>
        </p:spPr>
      </p:pic>
    </p:spTree>
    <p:extLst>
      <p:ext uri="{BB962C8B-B14F-4D97-AF65-F5344CB8AC3E}">
        <p14:creationId xmlns:p14="http://schemas.microsoft.com/office/powerpoint/2010/main" val="3182784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EBE717-F1DB-FF05-4B46-6FC920D5B90C}"/>
              </a:ext>
            </a:extLst>
          </p:cNvPr>
          <p:cNvSpPr>
            <a:spLocks noGrp="1"/>
          </p:cNvSpPr>
          <p:nvPr>
            <p:ph idx="1"/>
          </p:nvPr>
        </p:nvSpPr>
        <p:spPr>
          <a:xfrm>
            <a:off x="838200" y="3338741"/>
            <a:ext cx="10515600" cy="1059089"/>
          </a:xfrm>
        </p:spPr>
        <p:txBody>
          <a:bodyPr>
            <a:normAutofit/>
          </a:bodyPr>
          <a:lstStyle/>
          <a:p>
            <a:pPr marL="0" indent="0" algn="ctr">
              <a:buNone/>
            </a:pPr>
            <a:r>
              <a:rPr lang="en-US" sz="5000" dirty="0"/>
              <a:t>Let’s Explore it in ArcGIS Pro</a:t>
            </a:r>
          </a:p>
        </p:txBody>
      </p:sp>
    </p:spTree>
    <p:extLst>
      <p:ext uri="{BB962C8B-B14F-4D97-AF65-F5344CB8AC3E}">
        <p14:creationId xmlns:p14="http://schemas.microsoft.com/office/powerpoint/2010/main" val="2006110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2335</TotalTime>
  <Words>3678</Words>
  <Application>Microsoft Office PowerPoint</Application>
  <PresentationFormat>Widescreen</PresentationFormat>
  <Paragraphs>285</Paragraphs>
  <Slides>44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Aptos</vt:lpstr>
      <vt:lpstr>Aptos Display</vt:lpstr>
      <vt:lpstr>Arial</vt:lpstr>
      <vt:lpstr>Calibri</vt:lpstr>
      <vt:lpstr>Cambria</vt:lpstr>
      <vt:lpstr>Courier New</vt:lpstr>
      <vt:lpstr>Segoe WPC</vt:lpstr>
      <vt:lpstr>Office Theme</vt:lpstr>
      <vt:lpstr>PowerPoint Presentation</vt:lpstr>
      <vt:lpstr>GIS Applications in Telecommunications </vt:lpstr>
      <vt:lpstr>Overall Agenda of Five Days Trainig</vt:lpstr>
      <vt:lpstr>Day 1</vt:lpstr>
      <vt:lpstr>What is GIS</vt:lpstr>
      <vt:lpstr>PowerPoint Presentation</vt:lpstr>
      <vt:lpstr>PowerPoint Presentation</vt:lpstr>
      <vt:lpstr>PowerPoint Presentation</vt:lpstr>
      <vt:lpstr>PowerPoint Presentation</vt:lpstr>
      <vt:lpstr>Other Key Data Types in GIS</vt:lpstr>
      <vt:lpstr>Raster data format </vt:lpstr>
      <vt:lpstr>Advantage and Disadvantages of Raster</vt:lpstr>
      <vt:lpstr>Vector data format</vt:lpstr>
      <vt:lpstr>PowerPoint Presentation</vt:lpstr>
      <vt:lpstr>PowerPoint Presentation</vt:lpstr>
      <vt:lpstr>What is a datum? 🌍</vt:lpstr>
      <vt:lpstr>What is WGS84? 🛰️ </vt:lpstr>
      <vt:lpstr>Types of Coordinates Systems</vt:lpstr>
      <vt:lpstr>Geographic Coordinate System</vt:lpstr>
      <vt:lpstr>Project Coordinate System</vt:lpstr>
      <vt:lpstr>Introduction to ARCGIS PRO</vt:lpstr>
      <vt:lpstr>Managing Vector Data in ArcGIS Pro</vt:lpstr>
      <vt:lpstr>Geodatabase</vt:lpstr>
      <vt:lpstr>Type of Geodatabases</vt:lpstr>
      <vt:lpstr>Other GIS data types:</vt:lpstr>
      <vt:lpstr>Continue..</vt:lpstr>
      <vt:lpstr>Domains and Subtypes in Geodatabase</vt:lpstr>
      <vt:lpstr>Continue..</vt:lpstr>
      <vt:lpstr>PowerPoint Presentation</vt:lpstr>
      <vt:lpstr>Relationship Classes</vt:lpstr>
      <vt:lpstr>Example of ERD</vt:lpstr>
      <vt:lpstr>Cardinality in Geodatabase</vt:lpstr>
      <vt:lpstr>PowerPoint Presentation</vt:lpstr>
      <vt:lpstr>Geodatabase design of one Irrigation project</vt:lpstr>
      <vt:lpstr>PowerPoint Presentation</vt:lpstr>
      <vt:lpstr>PowerPoint Presentation</vt:lpstr>
      <vt:lpstr>Raster Analysis in ArcGIS Pro</vt:lpstr>
      <vt:lpstr>Different Raster Analysis</vt:lpstr>
      <vt:lpstr>What is Weighted Overlay</vt:lpstr>
      <vt:lpstr>Raster Resolution</vt:lpstr>
      <vt:lpstr>What is a Digital Elevation Model (DEM)?</vt:lpstr>
      <vt:lpstr>DEM Different Sources</vt:lpstr>
      <vt:lpstr>What Can be Extracted from DEM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Karimi, Maziar (FAOAF)</dc:creator>
  <cp:lastModifiedBy>Karimi, Maziar (FAOAF)</cp:lastModifiedBy>
  <cp:revision>175</cp:revision>
  <dcterms:created xsi:type="dcterms:W3CDTF">2026-08-13T09:36:34Z</dcterms:created>
  <dcterms:modified xsi:type="dcterms:W3CDTF">2026-08-15T12:16:52Z</dcterms:modified>
</cp:coreProperties>
</file>