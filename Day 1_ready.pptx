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300" r:id="rId2"/>
    <p:sldId id="298" r:id="rId3"/>
    <p:sldId id="299" r:id="rId4"/>
    <p:sldId id="301" r:id="rId5"/>
    <p:sldId id="305" r:id="rId54"/>
    <p:sldId id="306" r:id="rId55"/>
    <p:sldId id="307" r:id="rId56"/>
    <p:sldId id="258" r:id="rId6"/>
    <p:sldId id="259" r:id="rId7"/>
    <p:sldId id="260" r:id="rId8"/>
    <p:sldId id="261" r:id="rId9"/>
    <p:sldId id="262" r:id="rId10"/>
    <p:sldId id="263" r:id="rId11"/>
    <p:sldId id="266" r:id="rId14"/>
    <p:sldId id="267" r:id="rId12"/>
    <p:sldId id="264" r:id="rId13"/>
    <p:sldId id="304" r:id="rId53"/>
    <p:sldId id="268" r:id="rId15"/>
    <p:sldId id="265" r:id="rId16"/>
    <p:sldId id="269" r:id="rId17"/>
    <p:sldId id="271" r:id="rId18"/>
    <p:sldId id="270" r:id="rId19"/>
    <p:sldId id="272" r:id="rId20"/>
    <p:sldId id="273" r:id="rId21"/>
    <p:sldId id="303" r:id="rId52"/>
    <p:sldId id="274" r:id="rId22"/>
    <p:sldId id="275" r:id="rId23"/>
    <p:sldId id="276" r:id="rId24"/>
    <p:sldId id="277" r:id="rId25"/>
    <p:sldId id="278" r:id="rId26"/>
    <p:sldId id="279" r:id="rId27"/>
    <p:sldId id="280" r:id="rId28"/>
    <p:sldId id="281" r:id="rId29"/>
    <p:sldId id="283" r:id="rId30"/>
    <p:sldId id="282" r:id="rId31"/>
    <p:sldId id="284" r:id="rId32"/>
    <p:sldId id="287" r:id="rId33"/>
    <p:sldId id="286" r:id="rId34"/>
    <p:sldId id="289" r:id="rId35"/>
    <p:sldId id="290" r:id="rId36"/>
    <p:sldId id="291" r:id="rId37"/>
    <p:sldId id="302" r:id="rId51"/>
    <p:sldId id="288" r:id="rId38"/>
    <p:sldId id="285" r:id="rId39"/>
    <p:sldId id="297" r:id="rId40"/>
    <p:sldId id="292" r:id="rId41"/>
    <p:sldId id="293" r:id="rId42"/>
    <p:sldId id="294" r:id="rId43"/>
    <p:sldId id="295" r:id="rId44"/>
    <p:sldId id="296" r:id="rId45"/>
    <p:sldId id="308"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6535FE-1886-4876-91B7-9F4364446D24}" type="datetimeFigureOut">
              <a:rPr lang="en-US" smtClean="0"/>
              <a:t>8/15/2026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83F27A-14FF-4A2D-AB82-1C5D77C5FFE2}" type="slidenum">
              <a:rPr lang="en-US" smtClean="0"/>
              <a:t>‹#›</a:t>
            </a:fld>
            <a:endParaRPr lang="en-US"/>
          </a:p>
        </p:txBody>
      </p:sp>
    </p:spTree>
    <p:extLst>
      <p:ext uri="{BB962C8B-B14F-4D97-AF65-F5344CB8AC3E}">
        <p14:creationId xmlns:p14="http://schemas.microsoft.com/office/powerpoint/2010/main" val="964591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5A270A-90A1-45B0-B02E-7B8FB045261D}" type="slidenum">
              <a:rPr lang="en-US" smtClean="0"/>
              <a:t>35</a:t>
            </a:fld>
            <a:endParaRPr lang="en-US"/>
          </a:p>
        </p:txBody>
      </p:sp>
    </p:spTree>
    <p:extLst>
      <p:ext uri="{BB962C8B-B14F-4D97-AF65-F5344CB8AC3E}">
        <p14:creationId xmlns:p14="http://schemas.microsoft.com/office/powerpoint/2010/main" val="330850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16243-DC75-27E7-6FAB-AEDF119180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C34E30-36FC-29A3-A3B8-6A6EF866D0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792618-0AEB-BACC-E6E7-12C97266FAAB}"/>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5" name="Footer Placeholder 4">
            <a:extLst>
              <a:ext uri="{FF2B5EF4-FFF2-40B4-BE49-F238E27FC236}">
                <a16:creationId xmlns:a16="http://schemas.microsoft.com/office/drawing/2014/main" id="{2B92BA6D-4DE8-1EFF-093B-F54C805AD7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B1A00F-293A-CC33-B230-8B86362B7633}"/>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1740493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37C12-1656-3431-24FE-09E678DC12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ADEA0C-FDA9-EDFC-569D-BF0C06963B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906F60-EAE4-2E64-A01B-5B8D6D9C1612}"/>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5" name="Footer Placeholder 4">
            <a:extLst>
              <a:ext uri="{FF2B5EF4-FFF2-40B4-BE49-F238E27FC236}">
                <a16:creationId xmlns:a16="http://schemas.microsoft.com/office/drawing/2014/main" id="{020D70E5-3324-A739-A284-FADF5F8E73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8B87C-6B45-4493-0EAA-443E160698F7}"/>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286566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9203D-F498-D852-01A1-37CDAE5645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598D7F-93BC-C0B4-FEC5-C38B99C1CE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10F046-B83C-D5BF-E4EB-6C9862500499}"/>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5" name="Footer Placeholder 4">
            <a:extLst>
              <a:ext uri="{FF2B5EF4-FFF2-40B4-BE49-F238E27FC236}">
                <a16:creationId xmlns:a16="http://schemas.microsoft.com/office/drawing/2014/main" id="{D71D44D2-0EB3-DAE8-B3AD-2E9BBCFE66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AB379F-74B3-FE11-3E74-1F6E33AC9E1C}"/>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3431930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CA989-AE26-6B39-76A8-412C4F6175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BE5F1-C3EF-7519-7BA5-6C6F8CC109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394385-1124-0CE4-77B8-9B22743363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120473-0974-6ADA-E8A6-3C0908156ED8}"/>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6" name="Footer Placeholder 5">
            <a:extLst>
              <a:ext uri="{FF2B5EF4-FFF2-40B4-BE49-F238E27FC236}">
                <a16:creationId xmlns:a16="http://schemas.microsoft.com/office/drawing/2014/main" id="{BCAB0AE7-9C2D-36A0-8DD1-D990317C76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17CDF2-CBAB-C95C-AEB8-9E8C874E8256}"/>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3313282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DD363-50DD-ADF5-7346-FAF3A7D933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C9D5EC-9FDD-CEDD-ACD3-A21F6EDC5B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595B9-E8B6-784A-E036-E759C2D90D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69D558-8C78-1C23-5446-775579CF22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574C44-C42F-C9C7-D43D-716727E918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87C40B-64DD-2ADB-DD64-B4289616C16B}"/>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8" name="Footer Placeholder 7">
            <a:extLst>
              <a:ext uri="{FF2B5EF4-FFF2-40B4-BE49-F238E27FC236}">
                <a16:creationId xmlns:a16="http://schemas.microsoft.com/office/drawing/2014/main" id="{91E0CD9F-5C08-53F3-E9CC-C6F2533B5F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01DA41-54B5-965B-D86D-4B493D64D0EF}"/>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1737495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5697F-8DBA-1617-4EDE-6D80574568E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04DE01-0E77-BDF1-FE90-D09F670B4981}"/>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4" name="Footer Placeholder 3">
            <a:extLst>
              <a:ext uri="{FF2B5EF4-FFF2-40B4-BE49-F238E27FC236}">
                <a16:creationId xmlns:a16="http://schemas.microsoft.com/office/drawing/2014/main" id="{AFD9B860-1505-2F5C-E824-3A68327D18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063CAC4-A7EA-9FD0-3A36-0BB9F1C7412A}"/>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3992537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EDB1BC-6777-28AB-62B4-FFF600DA9A0D}"/>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3" name="Footer Placeholder 2">
            <a:extLst>
              <a:ext uri="{FF2B5EF4-FFF2-40B4-BE49-F238E27FC236}">
                <a16:creationId xmlns:a16="http://schemas.microsoft.com/office/drawing/2014/main" id="{AC9E1534-D8B4-8E70-A1E0-B155DE7B22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44C4F7-AFF5-F2A0-DD51-33C8312C0707}"/>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3456023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BA317-0B96-2601-AD41-F94C61F738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A87383-89E4-E0C7-137D-307817D581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D12EF8-0416-4646-3BA6-4552543F9E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26965C-E727-EC39-31BF-DD109C79D0E3}"/>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6" name="Footer Placeholder 5">
            <a:extLst>
              <a:ext uri="{FF2B5EF4-FFF2-40B4-BE49-F238E27FC236}">
                <a16:creationId xmlns:a16="http://schemas.microsoft.com/office/drawing/2014/main" id="{44643EF0-966E-8A50-1890-2335037D20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9ADC7C-726B-C4F3-2F94-68721250C141}"/>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3576608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2E81B-3116-C552-F5AB-335ABD0EB9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3D3C2E-6099-A840-D87C-7A47AEA308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98D400-58B4-120A-CA60-64C238E9DF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C54CAC-FFA1-8489-641B-BB0110B197F4}"/>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6" name="Footer Placeholder 5">
            <a:extLst>
              <a:ext uri="{FF2B5EF4-FFF2-40B4-BE49-F238E27FC236}">
                <a16:creationId xmlns:a16="http://schemas.microsoft.com/office/drawing/2014/main" id="{E1AF0D2E-E71F-97D0-D9B1-C995179BB8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123275-68FE-990F-A28D-A4C92F443D00}"/>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380063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BEEE8-F4D2-6721-3B91-3055B9914F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AA0BC4-8D28-04C5-E349-AABE5470DB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56B87A-37F8-7CB3-4D34-E10E652A7610}"/>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5" name="Footer Placeholder 4">
            <a:extLst>
              <a:ext uri="{FF2B5EF4-FFF2-40B4-BE49-F238E27FC236}">
                <a16:creationId xmlns:a16="http://schemas.microsoft.com/office/drawing/2014/main" id="{608287FD-4717-DF11-7763-73AB83253E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6C1179-0578-E6C0-05E6-1DF531624322}"/>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4052334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9114DE-1397-2FD5-6ECA-5FADBA968C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AE7684D-2219-9980-A718-627D2134B4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BAC61F-011A-9CE8-2292-5337C8566152}"/>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5" name="Footer Placeholder 4">
            <a:extLst>
              <a:ext uri="{FF2B5EF4-FFF2-40B4-BE49-F238E27FC236}">
                <a16:creationId xmlns:a16="http://schemas.microsoft.com/office/drawing/2014/main" id="{0EBA5E0F-D1D6-8AD9-98CD-DAE038F92A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E829DC-17C9-259A-D9A8-D159B95E8B38}"/>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3761685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92512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E2998C-AEA6-2701-A407-4666998B5A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0B08BA-D584-776A-2731-4D0B6F8127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0811CE-19B4-60E8-2EBE-D4CC3BCEE8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FFDCE7-951C-4C70-AED8-C0640992E5E9}" type="datetimeFigureOut">
              <a:rPr lang="en-US" smtClean="0"/>
              <a:t>8/15/2026</a:t>
            </a:fld>
            <a:endParaRPr lang="en-US"/>
          </a:p>
        </p:txBody>
      </p:sp>
      <p:sp>
        <p:nvSpPr>
          <p:cNvPr id="5" name="Footer Placeholder 4">
            <a:extLst>
              <a:ext uri="{FF2B5EF4-FFF2-40B4-BE49-F238E27FC236}">
                <a16:creationId xmlns:a16="http://schemas.microsoft.com/office/drawing/2014/main" id="{B7EC72BA-861D-6E42-B255-758BED0C1D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C2EF59B-98E5-34BC-AB9F-97D01FD385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A09204-5F08-43EC-8C7E-E12E9D7ADCB5}" type="slidenum">
              <a:rPr lang="en-US" smtClean="0"/>
              <a:t>‹#›</a:t>
            </a:fld>
            <a:endParaRPr lang="en-US"/>
          </a:p>
        </p:txBody>
      </p:sp>
    </p:spTree>
    <p:extLst>
      <p:ext uri="{BB962C8B-B14F-4D97-AF65-F5344CB8AC3E}">
        <p14:creationId xmlns:p14="http://schemas.microsoft.com/office/powerpoint/2010/main" val="2976574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jpeg"/><Relationship Id="rId4" Type="http://schemas.openxmlformats.org/officeDocument/2006/relationships/image" Target="../media/image10.png"/><Relationship Id="rId5"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eg"/><Relationship Id="rId3" Type="http://schemas.openxmlformats.org/officeDocument/2006/relationships/image" Target="../media/image1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0.png"/><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Rectangle 9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52E8D228-DC40-42B5-5470-21D6C236E647}"/>
              </a:ext>
            </a:extLst>
          </p:cNvPr>
          <p:cNvPicPr>
            <a:picLocks noChangeAspect="1"/>
          </p:cNvPicPr>
          <p:nvPr/>
        </p:nvPicPr>
        <p:blipFill>
          <a:blip r:embed="rId2"/>
          <a:srcRect t="5758" b="9988"/>
          <a:stretch>
            <a:fillRect/>
          </a:stretch>
        </p:blipFill>
        <p:spPr>
          <a:xfrm>
            <a:off x="20" y="1282"/>
            <a:ext cx="12191980" cy="6856718"/>
          </a:xfrm>
          <a:prstGeom prst="rect">
            <a:avLst/>
          </a:prstGeom>
        </p:spPr>
      </p:pic>
    </p:spTree>
    <p:extLst>
      <p:ext uri="{BB962C8B-B14F-4D97-AF65-F5344CB8AC3E}">
        <p14:creationId xmlns:p14="http://schemas.microsoft.com/office/powerpoint/2010/main" val="940025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0EF1E-1249-C1A3-8D27-382FAEF2B43D}"/>
              </a:ext>
            </a:extLst>
          </p:cNvPr>
          <p:cNvSpPr>
            <a:spLocks noGrp="1"/>
          </p:cNvSpPr>
          <p:nvPr>
            <p:ph type="title"/>
          </p:nvPr>
        </p:nvSpPr>
        <p:spPr>
          <a:xfrm>
            <a:off x="1077685" y="1410153"/>
            <a:ext cx="9753599" cy="1333046"/>
          </a:xfrm>
        </p:spPr>
        <p:txBody>
          <a:bodyPr/>
          <a:lstStyle/>
          <a:p>
            <a:r>
              <a:rPr lang="en-US" b="1" dirty="0" sz="3200">
                <a:latin typeface="Calibri"/>
                <a:ea typeface="Calibri"/>
                <a:cs typeface="Calibri"/>
                <a:highlight>
                  <a:srgbClr val="FFFF00"/>
                </a:highlight>
              </a:rPr>
              <a:t xml:space="preserve">GIS Application in Telecom</a:t>
            </a:r>
            <a:br>
              <a:rPr lang="en-US" dirty="0"/>
            </a:br>
            <a:endParaRPr lang="en-US" dirty="0"/>
          </a:p>
        </p:txBody>
      </p:sp>
      <p:sp>
        <p:nvSpPr>
          <p:cNvPr id="4" name="TextBox 3">
            <a:extLst>
              <a:ext uri="{FF2B5EF4-FFF2-40B4-BE49-F238E27FC236}">
                <a16:creationId xmlns:a16="http://schemas.microsoft.com/office/drawing/2014/main" id="{08E70717-5402-0B7A-FC6E-8D112A80EE7D}"/>
              </a:ext>
            </a:extLst>
          </p:cNvPr>
          <p:cNvSpPr txBox="1"/>
          <p:nvPr/>
        </p:nvSpPr>
        <p:spPr>
          <a:xfrm>
            <a:off x="2743200" y="2371597"/>
            <a:ext cx="6096000" cy="523220"/>
          </a:xfrm>
          <a:prstGeom prst="rect">
            <a:avLst/>
          </a:prstGeom>
          <a:noFill/>
        </p:spPr>
        <p:txBody>
          <a:bodyPr wrap="square">
            <a:spAutoFit/>
          </a:bodyPr>
          <a:lstStyle/>
          <a:p>
            <a:pPr marL="0" marR="0" algn="ctr">
              <a:spcBef>
                <a:spcPts val="3000"/>
              </a:spcBef>
              <a:spcAft>
                <a:spcPts val="300"/>
              </a:spcAft>
              <a:buNone/>
            </a:pPr>
            <a:r>
              <a:rPr lang="en-US" sz="1800" b="1" dirty="0">
                <a:solidFill>
                  <a:srgbClr val="2E5C8A"/>
                </a:solidFill>
                <a:effectLst/>
                <a:latin typeface="Calibri" panose="020F0502020204030204" pitchFamily="34" charset="0"/>
                <a:ea typeface="Calibri" panose="020F0502020204030204" pitchFamily="34" charset="0"/>
                <a:cs typeface="Calibri"/>
              </a:rPr>
              <a:t>A 5-Day Intensive Training Program</a:t>
            </a:r>
            <a:endParaRPr lang="en-US" sz="2800" dirty="0">
              <a:effectLst/>
              <a:latin typeface="Calibri" panose="020F0502020204030204" pitchFamily="34" charset="0"/>
              <a:ea typeface="Calibri" panose="020F0502020204030204" pitchFamily="34" charset="0"/>
            </a:endParaRPr>
          </a:p>
        </p:txBody>
      </p:sp>
      <p:sp>
        <p:nvSpPr>
          <p:cNvPr id="9" name="TextBox 8">
            <a:extLst>
              <a:ext uri="{FF2B5EF4-FFF2-40B4-BE49-F238E27FC236}">
                <a16:creationId xmlns:a16="http://schemas.microsoft.com/office/drawing/2014/main" id="{99EC697E-77DC-8FC3-A720-F10AA8B3ABB8}"/>
              </a:ext>
            </a:extLst>
          </p:cNvPr>
          <p:cNvSpPr txBox="1"/>
          <p:nvPr/>
        </p:nvSpPr>
        <p:spPr>
          <a:xfrm>
            <a:off x="1627414" y="3856261"/>
            <a:ext cx="7805057" cy="2085186"/>
          </a:xfrm>
          <a:prstGeom prst="rect">
            <a:avLst/>
          </a:prstGeom>
          <a:noFill/>
        </p:spPr>
        <p:txBody>
          <a:bodyPr wrap="square" rtlCol="0">
            <a:spAutoFit/>
          </a:bodyPr>
          <a:lstStyle/>
          <a:p>
            <a:pPr algn="ctr">
              <a:spcBef>
                <a:spcPts val="3000"/>
              </a:spcBef>
              <a:spcAft>
                <a:spcPts val="300"/>
              </a:spcAft>
            </a:pPr>
            <a:r>
              <a:rPr lang="en-US" b="1" dirty="0" sz="1800">
                <a:solidFill>
                  <a:srgbClr val="2E5C8A"/>
                </a:solidFill>
                <a:latin typeface="Calibri" panose="020F0502020204030204" pitchFamily="34" charset="0"/>
                <a:ea typeface="Calibri" panose="020F0502020204030204" pitchFamily="34" charset="0"/>
                <a:cs typeface="Calibri"/>
              </a:rPr>
              <a:t>Duration: 5 Days (9:00 AM – 3:00 PM)</a:t>
            </a:r>
          </a:p>
          <a:p>
            <a:pPr algn="ctr">
              <a:spcBef>
                <a:spcPts val="3000"/>
              </a:spcBef>
              <a:spcAft>
                <a:spcPts val="300"/>
              </a:spcAft>
            </a:pPr>
            <a:r>
              <a:rPr lang="en-US" b="1" dirty="0" sz="1800">
                <a:solidFill>
                  <a:srgbClr val="2E5C8A"/>
                </a:solidFill>
                <a:latin typeface="Calibri" panose="020F0502020204030204" pitchFamily="34" charset="0"/>
                <a:ea typeface="Calibri" panose="020F0502020204030204" pitchFamily="34" charset="0"/>
                <a:cs typeface="Calibri"/>
              </a:rPr>
              <a:t>Format: Instructor-led · Theory + Hands-on Labs</a:t>
            </a:r>
          </a:p>
          <a:p>
            <a:pPr algn="ctr">
              <a:spcBef>
                <a:spcPts val="3000"/>
              </a:spcBef>
              <a:spcAft>
                <a:spcPts val="300"/>
              </a:spcAft>
            </a:pPr>
            <a:r>
              <a:rPr lang="en-US" b="1" dirty="0" sz="1800">
                <a:solidFill>
                  <a:srgbClr val="2E5C8A"/>
                </a:solidFill>
                <a:latin typeface="Calibri" panose="020F0502020204030204" pitchFamily="34" charset="0"/>
                <a:ea typeface="Calibri" panose="020F0502020204030204" pitchFamily="34" charset="0"/>
                <a:cs typeface="Calibri"/>
              </a:rPr>
              <a:t>GIS Platform: ArcGIS Pro / ArcMap</a:t>
            </a:r>
          </a:p>
          <a:p>
            <a:endParaRPr lang="en-US" dirty="0"/>
          </a:p>
        </p:txBody>
      </p:sp>
      <p:sp>
        <p:nvSpPr>
          <p:cNvPr id="10" name="TextBox 9">
            <a:extLst>
              <a:ext uri="{FF2B5EF4-FFF2-40B4-BE49-F238E27FC236}">
                <a16:creationId xmlns:a16="http://schemas.microsoft.com/office/drawing/2014/main" id="{48C0DCD3-8FF9-6737-6838-EFF7D341FE88}"/>
              </a:ext>
            </a:extLst>
          </p:cNvPr>
          <p:cNvSpPr txBox="1"/>
          <p:nvPr/>
        </p:nvSpPr>
        <p:spPr>
          <a:xfrm>
            <a:off x="4572000" y="6183087"/>
            <a:ext cx="2438400" cy="369332"/>
          </a:xfrm>
          <a:prstGeom prst="rect">
            <a:avLst/>
          </a:prstGeom>
          <a:noFill/>
        </p:spPr>
        <p:txBody>
          <a:bodyPr wrap="square" rtlCol="0">
            <a:spAutoFit/>
          </a:bodyPr>
          <a:lstStyle/>
          <a:p>
            <a:r>
              <a:rPr lang="en-US" b="1" dirty="0">
                <a:solidFill>
                  <a:srgbClr val="2E5C8A"/>
                </a:solidFill>
                <a:latin typeface="Calibri" panose="020F0502020204030204" pitchFamily="34" charset="0"/>
                <a:ea typeface="Calibri" panose="020F0502020204030204" pitchFamily="34" charset="0"/>
                <a:cs typeface="Calibri"/>
              </a:rPr>
              <a:t>August</a:t>
            </a:r>
            <a:r>
              <a:rPr lang="en-US" dirty="0">
                <a:latin typeface="Calibri"/>
                <a:ea typeface="Calibri"/>
                <a:cs typeface="Calibri"/>
              </a:rPr>
              <a:t> </a:t>
            </a:r>
            <a:r>
              <a:rPr lang="en-US" b="1" dirty="0">
                <a:solidFill>
                  <a:srgbClr val="2E5C8A"/>
                </a:solidFill>
                <a:latin typeface="Calibri" panose="020F0502020204030204" pitchFamily="34" charset="0"/>
                <a:ea typeface="Calibri" panose="020F0502020204030204" pitchFamily="34" charset="0"/>
                <a:cs typeface="Calibri"/>
              </a:rPr>
              <a:t>2026</a:t>
            </a:r>
          </a:p>
        </p:txBody>
      </p:sp>
      <p:sp>
        <p:nvSpPr>
          <p:cNvPr id="11" name="TextBox 10"/>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2  /  51</a:t>
            </a:r>
          </a:p>
        </p:txBody>
      </p:sp>
    </p:spTree>
    <p:extLst>
      <p:ext uri="{BB962C8B-B14F-4D97-AF65-F5344CB8AC3E}">
        <p14:creationId xmlns:p14="http://schemas.microsoft.com/office/powerpoint/2010/main" val="1786831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2F463-2200-A735-5492-C780764F25ED}"/>
              </a:ext>
            </a:extLst>
          </p:cNvPr>
          <p:cNvSpPr>
            <a:spLocks noGrp="1"/>
          </p:cNvSpPr>
          <p:nvPr>
            <p:ph type="title"/>
          </p:nvPr>
        </p:nvSpPr>
        <p:spPr/>
        <p:txBody>
          <a:bodyPr/>
          <a:lstStyle/>
          <a:p>
            <a:r>
              <a:rPr lang="en-US" dirty="0" sz="3200" b="1">
                <a:latin typeface="Calibri"/>
                <a:ea typeface="Calibri"/>
                <a:cs typeface="Calibri"/>
                <a:highlight>
                  <a:srgbClr val="FFFF00"/>
                </a:highlight>
              </a:rPr>
              <a:t xml:space="preserve">Overall Agenda of Five Days Training</a:t>
            </a:r>
            <a:endParaRPr lang="en-US" dirty="0"/>
          </a:p>
        </p:txBody>
      </p:sp>
      <p:graphicFrame>
        <p:nvGraphicFramePr>
          <p:cNvPr id="4" name="Content Placeholder 3">
            <a:extLst>
              <a:ext uri="{FF2B5EF4-FFF2-40B4-BE49-F238E27FC236}">
                <a16:creationId xmlns:a16="http://schemas.microsoft.com/office/drawing/2014/main" id="{BE74545D-6656-A562-A854-42BBAA642E26}"/>
              </a:ext>
            </a:extLst>
          </p:cNvPr>
          <p:cNvGraphicFramePr>
            <a:graphicFrameLocks noGrp="1"/>
          </p:cNvGraphicFramePr>
          <p:nvPr>
            <p:ph idx="1"/>
            <p:extLst>
              <p:ext uri="{D42A27DB-BD31-4B8C-83A1-F6EECF244321}">
                <p14:modId xmlns:p14="http://schemas.microsoft.com/office/powerpoint/2010/main" val="1574210498"/>
              </p:ext>
            </p:extLst>
          </p:nvPr>
        </p:nvGraphicFramePr>
        <p:xfrm>
          <a:off x="1371600" y="2079173"/>
          <a:ext cx="8969829" cy="4113794"/>
        </p:xfrm>
        <a:graphic>
          <a:graphicData uri="http://schemas.openxmlformats.org/drawingml/2006/table">
            <a:tbl>
              <a:tblPr>
                <a:tableStyleId>{5C22544A-7EE6-4342-B048-85BDC9FD1C3A}</a:tableStyleId>
              </a:tblPr>
              <a:tblGrid>
                <a:gridCol w="2085078">
                  <a:extLst>
                    <a:ext uri="{9D8B030D-6E8A-4147-A177-3AD203B41FA5}">
                      <a16:colId xmlns:a16="http://schemas.microsoft.com/office/drawing/2014/main" val="1891456188"/>
                    </a:ext>
                  </a:extLst>
                </a:gridCol>
                <a:gridCol w="6884751">
                  <a:extLst>
                    <a:ext uri="{9D8B030D-6E8A-4147-A177-3AD203B41FA5}">
                      <a16:colId xmlns:a16="http://schemas.microsoft.com/office/drawing/2014/main" val="2621550405"/>
                    </a:ext>
                  </a:extLst>
                </a:gridCol>
              </a:tblGrid>
              <a:tr h="1082037">
                <a:tc>
                  <a:txBody>
                    <a:bodyPr/>
                    <a:lstStyle/>
                    <a:p>
                      <a:pPr marL="0" marR="0">
                        <a:lnSpc>
                          <a:spcPct val="104000"/>
                        </a:lnSpc>
                        <a:buNone/>
                      </a:pPr>
                      <a:r>
                        <a:rPr lang="en-US" sz="1400" b="1" dirty="0">
                          <a:effectLst/>
                          <a:latin typeface="Calibri"/>
                          <a:ea typeface="Calibri"/>
                          <a:cs typeface="Calibri"/>
                        </a:rPr>
                        <a:t>Day 1</a:t>
                      </a:r>
                      <a:endParaRPr lang="en-US" sz="3000" b="1" dirty="0">
                        <a:effectLst/>
                        <a:latin typeface="Calibri" panose="020F0502020204030204" pitchFamily="34" charset="0"/>
                        <a:ea typeface="Calibri" panose="020F0502020204030204" pitchFamily="34" charset="0"/>
                      </a:endParaRPr>
                    </a:p>
                  </a:txBody>
                  <a:tcPr marL="69850" marR="69850" marT="57150" marB="57150" anchor="ctr">
                    <a:noFill/>
                  </a:tcPr>
                </a:tc>
                <a:tc>
                  <a:txBody>
                    <a:bodyPr/>
                    <a:lstStyle/>
                    <a:p>
                      <a:pPr marL="0" marR="0">
                        <a:lnSpc>
                          <a:spcPct val="104000"/>
                        </a:lnSpc>
                        <a:buNone/>
                      </a:pPr>
                      <a:r>
                        <a:rPr lang="en-US" sz="1400" dirty="0">
                          <a:effectLst/>
                          <a:latin typeface="Calibri"/>
                          <a:ea typeface="Calibri"/>
                          <a:cs typeface="Calibri"/>
                          <a:highlight>
                            <a:srgbClr val="FFFF00"/>
                          </a:highlight>
                        </a:rPr>
                        <a:t>GIS concepts &amp; data types; coordinate systems (datum, WGS84, GCS/PCS); ArcGIS Pro; geodatabase, domains/subtypes, relationships; raster analysis &amp; DEM.</a:t>
                      </a:r>
                      <a:endParaRPr lang="en-US" sz="2100" dirty="0">
                        <a:effectLst/>
                        <a:latin typeface="Calibri" panose="020F0502020204030204" pitchFamily="34" charset="0"/>
                        <a:ea typeface="Calibri" panose="020F0502020204030204" pitchFamily="34" charset="0"/>
                      </a:endParaRPr>
                    </a:p>
                  </a:txBody>
                  <a:tcPr marL="69850" marR="69850" marT="57150" marB="57150" anchor="ctr">
                    <a:noFill/>
                  </a:tcPr>
                </a:tc>
                <a:extLst>
                  <a:ext uri="{0D108BD9-81ED-4DB2-BD59-A6C34878D82A}">
                    <a16:rowId xmlns:a16="http://schemas.microsoft.com/office/drawing/2014/main" val="4224744267"/>
                  </a:ext>
                </a:extLst>
              </a:tr>
              <a:tr h="655779">
                <a:tc>
                  <a:txBody>
                    <a:bodyPr/>
                    <a:lstStyle/>
                    <a:p>
                      <a:pPr marL="0" marR="0">
                        <a:lnSpc>
                          <a:spcPct val="104000"/>
                        </a:lnSpc>
                        <a:buNone/>
                      </a:pPr>
                      <a:r>
                        <a:rPr lang="en-US" sz="1400" b="1" dirty="0">
                          <a:effectLst/>
                          <a:latin typeface="Calibri"/>
                          <a:ea typeface="Calibri"/>
                          <a:cs typeface="Calibri"/>
                        </a:rPr>
                        <a:t>Day 2</a:t>
                      </a:r>
                      <a:endParaRPr lang="en-US" sz="3000" b="1" dirty="0">
                        <a:effectLst/>
                        <a:latin typeface="Calibri" panose="020F0502020204030204" pitchFamily="34" charset="0"/>
                        <a:ea typeface="Calibri" panose="020F0502020204030204" pitchFamily="34" charset="0"/>
                      </a:endParaRPr>
                    </a:p>
                  </a:txBody>
                  <a:tcPr marL="69850" marR="69850" marT="57150" marB="57150" anchor="ctr">
                    <a:noFill/>
                  </a:tcPr>
                </a:tc>
                <a:tc>
                  <a:txBody>
                    <a:bodyPr/>
                    <a:lstStyle/>
                    <a:p>
                      <a:pPr marL="0" marR="0">
                        <a:lnSpc>
                          <a:spcPct val="104000"/>
                        </a:lnSpc>
                        <a:buNone/>
                      </a:pPr>
                      <a:r>
                        <a:rPr lang="en-US" sz="1400" dirty="0">
                          <a:effectLst/>
                          <a:latin typeface="Calibri"/>
                          <a:ea typeface="Calibri"/>
                          <a:cs typeface="Calibri"/>
                        </a:rPr>
                        <a:t>Coverage Analysis, RF Planning &amp; Network Expansion.</a:t>
                      </a:r>
                      <a:endParaRPr lang="en-US" sz="2100" dirty="0">
                        <a:effectLst/>
                        <a:latin typeface="Calibri" panose="020F0502020204030204" pitchFamily="34" charset="0"/>
                        <a:ea typeface="Calibri" panose="020F0502020204030204" pitchFamily="34" charset="0"/>
                      </a:endParaRPr>
                    </a:p>
                  </a:txBody>
                  <a:tcPr marL="69850" marR="69850" marT="57150" marB="57150" anchor="ctr">
                    <a:noFill/>
                  </a:tcPr>
                </a:tc>
                <a:extLst>
                  <a:ext uri="{0D108BD9-81ED-4DB2-BD59-A6C34878D82A}">
                    <a16:rowId xmlns:a16="http://schemas.microsoft.com/office/drawing/2014/main" val="1668989245"/>
                  </a:ext>
                </a:extLst>
              </a:tr>
              <a:tr h="655779">
                <a:tc>
                  <a:txBody>
                    <a:bodyPr/>
                    <a:lstStyle/>
                    <a:p>
                      <a:pPr marL="0" marR="0">
                        <a:lnSpc>
                          <a:spcPct val="104000"/>
                        </a:lnSpc>
                        <a:buNone/>
                      </a:pPr>
                      <a:r>
                        <a:rPr lang="en-US" sz="1400" b="1" dirty="0">
                          <a:effectLst/>
                          <a:latin typeface="Calibri"/>
                          <a:ea typeface="Calibri"/>
                          <a:cs typeface="Calibri"/>
                        </a:rPr>
                        <a:t>Day 3</a:t>
                      </a:r>
                      <a:endParaRPr lang="en-US" sz="3000" b="1" dirty="0">
                        <a:effectLst/>
                        <a:latin typeface="Calibri" panose="020F0502020204030204" pitchFamily="34" charset="0"/>
                        <a:ea typeface="Calibri" panose="020F0502020204030204" pitchFamily="34" charset="0"/>
                      </a:endParaRPr>
                    </a:p>
                  </a:txBody>
                  <a:tcPr marL="69850" marR="69850" marT="57150" marB="57150" anchor="ctr">
                    <a:noFill/>
                  </a:tcPr>
                </a:tc>
                <a:tc>
                  <a:txBody>
                    <a:bodyPr/>
                    <a:lstStyle/>
                    <a:p>
                      <a:pPr marL="0" marR="0">
                        <a:lnSpc>
                          <a:spcPct val="104000"/>
                        </a:lnSpc>
                        <a:buNone/>
                      </a:pPr>
                      <a:r>
                        <a:rPr lang="en-US" sz="1400" dirty="0">
                          <a:effectLst/>
                          <a:latin typeface="Calibri"/>
                          <a:ea typeface="Calibri"/>
                          <a:cs typeface="Calibri"/>
                        </a:rPr>
                        <a:t>Geo-Marketing &amp; Customer Analytics</a:t>
                      </a:r>
                      <a:endParaRPr lang="en-US" sz="2100" dirty="0">
                        <a:effectLst/>
                        <a:latin typeface="Calibri" panose="020F0502020204030204" pitchFamily="34" charset="0"/>
                        <a:ea typeface="Calibri" panose="020F0502020204030204" pitchFamily="34" charset="0"/>
                      </a:endParaRPr>
                    </a:p>
                  </a:txBody>
                  <a:tcPr marL="69850" marR="69850" marT="57150" marB="57150" anchor="ctr">
                    <a:noFill/>
                  </a:tcPr>
                </a:tc>
                <a:extLst>
                  <a:ext uri="{0D108BD9-81ED-4DB2-BD59-A6C34878D82A}">
                    <a16:rowId xmlns:a16="http://schemas.microsoft.com/office/drawing/2014/main" val="1446302602"/>
                  </a:ext>
                </a:extLst>
              </a:tr>
              <a:tr h="655779">
                <a:tc>
                  <a:txBody>
                    <a:bodyPr/>
                    <a:lstStyle/>
                    <a:p>
                      <a:pPr marL="0" marR="0">
                        <a:lnSpc>
                          <a:spcPct val="104000"/>
                        </a:lnSpc>
                        <a:buNone/>
                      </a:pPr>
                      <a:r>
                        <a:rPr lang="en-US" sz="1400" b="1" dirty="0">
                          <a:effectLst/>
                          <a:latin typeface="Calibri"/>
                          <a:ea typeface="Calibri"/>
                          <a:cs typeface="Calibri"/>
                        </a:rPr>
                        <a:t>Day 4</a:t>
                      </a:r>
                      <a:endParaRPr lang="en-US" sz="3000" b="1" dirty="0">
                        <a:effectLst/>
                        <a:latin typeface="Calibri" panose="020F0502020204030204" pitchFamily="34" charset="0"/>
                        <a:ea typeface="Calibri" panose="020F0502020204030204" pitchFamily="34" charset="0"/>
                      </a:endParaRPr>
                    </a:p>
                  </a:txBody>
                  <a:tcPr marL="69850" marR="69850" marT="57150" marB="57150" anchor="ctr">
                    <a:noFill/>
                  </a:tcPr>
                </a:tc>
                <a:tc>
                  <a:txBody>
                    <a:bodyPr/>
                    <a:lstStyle/>
                    <a:p>
                      <a:pPr marL="0" marR="0">
                        <a:lnSpc>
                          <a:spcPct val="104000"/>
                        </a:lnSpc>
                        <a:buNone/>
                      </a:pPr>
                      <a:r>
                        <a:rPr lang="en-US" sz="1400" dirty="0">
                          <a:effectLst/>
                          <a:latin typeface="Calibri"/>
                          <a:ea typeface="Calibri"/>
                          <a:cs typeface="Calibri"/>
                        </a:rPr>
                        <a:t>Fiber, Transmission &amp; Microwave Link Planning</a:t>
                      </a:r>
                      <a:endParaRPr lang="en-US" sz="2100" dirty="0">
                        <a:effectLst/>
                        <a:latin typeface="Calibri" panose="020F0502020204030204" pitchFamily="34" charset="0"/>
                        <a:ea typeface="Calibri" panose="020F0502020204030204" pitchFamily="34" charset="0"/>
                      </a:endParaRPr>
                    </a:p>
                  </a:txBody>
                  <a:tcPr marL="69850" marR="69850" marT="57150" marB="57150" anchor="ctr">
                    <a:noFill/>
                  </a:tcPr>
                </a:tc>
                <a:extLst>
                  <a:ext uri="{0D108BD9-81ED-4DB2-BD59-A6C34878D82A}">
                    <a16:rowId xmlns:a16="http://schemas.microsoft.com/office/drawing/2014/main" val="739121682"/>
                  </a:ext>
                </a:extLst>
              </a:tr>
              <a:tr h="1043652">
                <a:tc>
                  <a:txBody>
                    <a:bodyPr/>
                    <a:lstStyle/>
                    <a:p>
                      <a:pPr marL="0" marR="0">
                        <a:lnSpc>
                          <a:spcPct val="104000"/>
                        </a:lnSpc>
                        <a:buNone/>
                      </a:pPr>
                      <a:r>
                        <a:rPr lang="en-US" sz="1400" b="1" dirty="0">
                          <a:effectLst/>
                          <a:latin typeface="Calibri"/>
                          <a:ea typeface="Calibri"/>
                          <a:cs typeface="Calibri"/>
                        </a:rPr>
                        <a:t>Day 5</a:t>
                      </a:r>
                      <a:endParaRPr lang="en-US" sz="3000" b="1" dirty="0">
                        <a:effectLst/>
                        <a:latin typeface="Calibri" panose="020F0502020204030204" pitchFamily="34" charset="0"/>
                        <a:ea typeface="Calibri" panose="020F0502020204030204" pitchFamily="34" charset="0"/>
                      </a:endParaRPr>
                    </a:p>
                  </a:txBody>
                  <a:tcPr marL="69850" marR="69850" marT="57150" marB="57150" anchor="ctr">
                    <a:noFill/>
                  </a:tcPr>
                </a:tc>
                <a:tc>
                  <a:txBody>
                    <a:bodyPr/>
                    <a:lstStyle/>
                    <a:p>
                      <a:pPr marL="0" marR="0">
                        <a:lnSpc>
                          <a:spcPct val="104000"/>
                        </a:lnSpc>
                        <a:buNone/>
                      </a:pPr>
                      <a:r>
                        <a:rPr lang="en-US" sz="1400" dirty="0">
                          <a:effectLst/>
                          <a:latin typeface="Calibri"/>
                          <a:ea typeface="Calibri"/>
                          <a:cs typeface="Calibri"/>
                        </a:rPr>
                        <a:t>Network Visualization, Reporting &amp; Capstone Case Study. Using ArcGIS Online platform with available tools.</a:t>
                      </a:r>
                      <a:endParaRPr lang="en-US" sz="2100" dirty="0">
                        <a:effectLst/>
                        <a:latin typeface="Calibri" panose="020F0502020204030204" pitchFamily="34" charset="0"/>
                        <a:ea typeface="Calibri" panose="020F0502020204030204" pitchFamily="34" charset="0"/>
                      </a:endParaRPr>
                    </a:p>
                  </a:txBody>
                  <a:tcPr marL="69850" marR="69850" marT="57150" marB="57150" anchor="ctr">
                    <a:noFill/>
                  </a:tcPr>
                </a:tc>
                <a:extLst>
                  <a:ext uri="{0D108BD9-81ED-4DB2-BD59-A6C34878D82A}">
                    <a16:rowId xmlns:a16="http://schemas.microsoft.com/office/drawing/2014/main" val="213084729"/>
                  </a:ext>
                </a:extLst>
              </a:tr>
            </a:tbl>
          </a:graphicData>
        </a:graphic>
      </p:graphicFrame>
      <p:sp>
        <p:nvSpPr>
          <p:cNvPr id="5" name="TextBox 4"/>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3  /  51</a:t>
            </a:r>
          </a:p>
        </p:txBody>
      </p:sp>
    </p:spTree>
    <p:extLst>
      <p:ext uri="{BB962C8B-B14F-4D97-AF65-F5344CB8AC3E}">
        <p14:creationId xmlns:p14="http://schemas.microsoft.com/office/powerpoint/2010/main" val="844297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306EA-64F5-8B3E-EFFB-D0407D4AF991}"/>
              </a:ext>
            </a:extLst>
          </p:cNvPr>
          <p:cNvSpPr>
            <a:spLocks noGrp="1"/>
          </p:cNvSpPr>
          <p:nvPr>
            <p:ph type="title"/>
          </p:nvPr>
        </p:nvSpPr>
        <p:spPr/>
        <p:txBody>
          <a:bodyPr/>
          <a:lstStyle/>
          <a:p>
            <a:r>
              <a:rPr lang="en-US" dirty="0" sz="3200" b="1">
                <a:latin typeface="Calibri"/>
                <a:ea typeface="Calibri"/>
                <a:cs typeface="Calibri"/>
                <a:highlight>
                  <a:srgbClr val="FFFF00"/>
                </a:highlight>
              </a:rPr>
              <a:t>Day 1 Overview</a:t>
            </a:r>
          </a:p>
        </p:txBody>
      </p:sp>
      <p:sp>
        <p:nvSpPr>
          <p:cNvPr id="3" name="Content Placeholder 2">
            <a:extLst>
              <a:ext uri="{FF2B5EF4-FFF2-40B4-BE49-F238E27FC236}">
                <a16:creationId xmlns:a16="http://schemas.microsoft.com/office/drawing/2014/main" id="{A8CF9B37-EC22-A04D-4F74-72F801933293}"/>
              </a:ext>
            </a:extLst>
          </p:cNvPr>
          <p:cNvSpPr>
            <a:spLocks noGrp="1"/>
          </p:cNvSpPr>
          <p:nvPr>
            <p:ph idx="1"/>
          </p:nvPr>
        </p:nvSpPr>
        <p:spPr>
          <a:xfrm>
            <a:off x="838200" y="2506662"/>
            <a:ext cx="10515600" cy="4351338"/>
          </a:xfrm>
        </p:spPr>
        <p:txBody>
          <a:bodyPr/>
          <a:lstStyle/>
          <a:p>
            <a:r>
              <a:rPr lang="en-US" dirty="0" sz="1800">
                <a:latin typeface="Calibri"/>
                <a:ea typeface="Calibri"/>
                <a:cs typeface="Calibri"/>
                <a:highlight>
                  <a:srgbClr val="FFFF00"/>
                </a:highlight>
              </a:rPr>
              <a:t xml:space="preserve">Introduction to GIS, concepts, components and data fundamentals; coordinate systems; ArcGIS Pro; geodatabase design (feature classes, feature datasets, domains, subtypes, relationship classes); raster analysis and DEM.</a:t>
            </a:r>
          </a:p>
          <a:p>
            <a:endParaRPr lang="en-US" dirty="0"/>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4  /  51</a:t>
            </a:r>
          </a:p>
        </p:txBody>
      </p:sp>
    </p:spTree>
    <p:extLst>
      <p:ext uri="{BB962C8B-B14F-4D97-AF65-F5344CB8AC3E}">
        <p14:creationId xmlns:p14="http://schemas.microsoft.com/office/powerpoint/2010/main" val="3112941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B24C28-4FA8-5957-E7E2-AB3F8904B808}"/>
              </a:ext>
            </a:extLst>
          </p:cNvPr>
          <p:cNvSpPr>
            <a:spLocks noGrp="1"/>
          </p:cNvSpPr>
          <p:nvPr>
            <p:ph type="title"/>
          </p:nvPr>
        </p:nvSpPr>
        <p:spPr>
          <a:xfrm>
            <a:off x="793662" y="386930"/>
            <a:ext cx="10066122" cy="1298448"/>
          </a:xfrm>
        </p:spPr>
        <p:txBody>
          <a:bodyPr anchor="b">
            <a:normAutofit/>
          </a:bodyPr>
          <a:lstStyle/>
          <a:p>
            <a:r>
              <a:rPr lang="en-US" sz="3200" dirty="0" b="1">
                <a:latin typeface="Calibri"/>
                <a:ea typeface="Calibri"/>
                <a:cs typeface="Calibri"/>
              </a:rPr>
              <a:t>What is GIS</a:t>
            </a:r>
          </a:p>
        </p:txBody>
      </p:sp>
      <p:sp>
        <p:nvSpPr>
          <p:cNvPr id="31" name="Rectangle 3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3F626F9-E6D7-C296-3475-DAA1A4D0B15E}"/>
              </a:ext>
            </a:extLst>
          </p:cNvPr>
          <p:cNvSpPr>
            <a:spLocks noGrp="1"/>
          </p:cNvSpPr>
          <p:nvPr>
            <p:ph idx="1"/>
          </p:nvPr>
        </p:nvSpPr>
        <p:spPr>
          <a:xfrm>
            <a:off x="737407" y="2144835"/>
            <a:ext cx="5781310" cy="3425900"/>
          </a:xfrm>
        </p:spPr>
        <p:txBody>
          <a:bodyPr anchor="ctr">
            <a:normAutofit/>
          </a:bodyPr>
          <a:lstStyle/>
          <a:p>
            <a:pPr marL="0" indent="0">
              <a:buNone/>
            </a:pPr>
            <a:r>
              <a:rPr lang="en-US" sz="1800" dirty="0">
                <a:latin typeface="Calibri"/>
                <a:ea typeface="Calibri"/>
                <a:cs typeface="Calibri"/>
                <a:highlight>
                  <a:srgbClr val="FFFF00"/>
                </a:highlight>
              </a:rPr>
              <a:t xml:space="preserve">A Geographic Information System (GIS) is a system</a:t>
            </a:r>
            <a:r>
              <a:rPr lang="en-US" sz="1800" dirty="0">
                <a:latin typeface="Calibri"/>
                <a:ea typeface="Calibri"/>
                <a:cs typeface="Calibri"/>
              </a:rPr>
              <a:t xml:space="preserve"> designed to capture, store, manipulate, analyze, manage, and present all types of geographically referenced data. Although the term GIS is commonly used to describe software packages, a true GIS includes knowledgeable staff, hardware, data, and software. </a:t>
            </a:r>
          </a:p>
          <a:p>
            <a:pPr marL="0" indent="0">
              <a:buNone/>
            </a:pPr>
            <a:endParaRPr lang="en-US" sz="2000" dirty="0"/>
          </a:p>
        </p:txBody>
      </p:sp>
      <p:sp>
        <p:nvSpPr>
          <p:cNvPr id="35" name="Rectangle 3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07986BF-78E9-0762-C1E2-14634E68322C}"/>
              </a:ext>
            </a:extLst>
          </p:cNvPr>
          <p:cNvSpPr txBox="1"/>
          <p:nvPr/>
        </p:nvSpPr>
        <p:spPr>
          <a:xfrm>
            <a:off x="737407" y="4779389"/>
            <a:ext cx="6166756" cy="1479123"/>
          </a:xfrm>
          <a:prstGeom prst="rect">
            <a:avLst/>
          </a:prstGeom>
          <a:noFill/>
        </p:spPr>
        <p:txBody>
          <a:bodyPr wrap="square">
            <a:spAutoFit/>
          </a:bodyPr>
          <a:lstStyle/>
          <a:p>
            <a:pPr>
              <a:lnSpc>
                <a:spcPct val="90000"/>
              </a:lnSpc>
              <a:spcBef>
                <a:spcPts val="1000"/>
              </a:spcBef>
            </a:pPr>
            <a:r>
              <a:rPr lang="en-US" sz="1800" dirty="0">
                <a:latin typeface="Calibri"/>
                <a:ea typeface="Calibri"/>
                <a:cs typeface="Calibri"/>
              </a:rPr>
              <a:t>A GIS integrates hardware, software, and data to help people understand patterns, relationships, and trends in geographic information. It answers questions like "where," "what's nearby," "how has this changed over time," and "what patterns exist across space."</a:t>
            </a:r>
          </a:p>
        </p:txBody>
      </p:sp>
      <p:pic>
        <p:nvPicPr>
          <p:cNvPr id="27" name="Picture 26" descr="Information Systems Infographic">
            <a:extLst>
              <a:ext uri="{FF2B5EF4-FFF2-40B4-BE49-F238E27FC236}">
                <a16:creationId xmlns:a16="http://schemas.microsoft.com/office/drawing/2014/main" id="{2B54E864-3EC0-AEDC-5904-EF78CAD479D4}"/>
              </a:ext>
            </a:extLst>
          </p:cNvPr>
          <p:cNvPicPr>
            <a:picLocks noChangeAspect="1"/>
          </p:cNvPicPr>
          <p:nvPr/>
        </p:nvPicPr>
        <p:blipFill>
          <a:blip r:embed="rId2"/>
          <a:stretch>
            <a:fillRect/>
          </a:stretch>
        </p:blipFill>
        <p:spPr>
          <a:xfrm>
            <a:off x="6808646" y="2838788"/>
            <a:ext cx="4542877" cy="2610808"/>
          </a:xfrm>
          <a:prstGeom prst="rect">
            <a:avLst/>
          </a:prstGeom>
        </p:spPr>
      </p:pic>
      <p:sp>
        <p:nvSpPr>
          <p:cNvPr id="36" name="TextBox 35"/>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8  /  51</a:t>
            </a:r>
          </a:p>
        </p:txBody>
      </p:sp>
    </p:spTree>
    <p:extLst>
      <p:ext uri="{BB962C8B-B14F-4D97-AF65-F5344CB8AC3E}">
        <p14:creationId xmlns:p14="http://schemas.microsoft.com/office/powerpoint/2010/main" val="4241447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0C4EBF0-A3E6-E1C4-8B05-A50B62F700EC}"/>
              </a:ext>
            </a:extLst>
          </p:cNvPr>
          <p:cNvSpPr>
            <a:spLocks noGrp="1"/>
          </p:cNvSpPr>
          <p:nvPr>
            <p:ph idx="1"/>
          </p:nvPr>
        </p:nvSpPr>
        <p:spPr>
          <a:xfrm>
            <a:off x="793660" y="2599509"/>
            <a:ext cx="10143668" cy="3435531"/>
          </a:xfrm>
        </p:spPr>
        <p:txBody>
          <a:bodyPr anchor="ctr">
            <a:normAutofit/>
          </a:bodyPr>
          <a:lstStyle/>
          <a:p>
            <a:pPr lvl="0"/>
            <a:r>
              <a:rPr lang="en-US" sz="1800" b="1">
                <a:latin typeface="Calibri"/>
                <a:ea typeface="Calibri"/>
                <a:cs typeface="Calibri"/>
              </a:rPr>
              <a:t>Geographic</a:t>
            </a:r>
            <a:r>
              <a:rPr lang="en-US" sz="1800">
                <a:latin typeface="Calibri"/>
                <a:ea typeface="Calibri"/>
                <a:cs typeface="Calibri"/>
              </a:rPr>
              <a:t> - The key word is geography which means that the data and information are associated with some location in space or referenced to the locations on the earth.</a:t>
            </a:r>
          </a:p>
          <a:p>
            <a:pPr lvl="0"/>
            <a:r>
              <a:rPr lang="en-US" sz="1800" b="1">
                <a:latin typeface="Calibri"/>
                <a:ea typeface="Calibri"/>
                <a:cs typeface="Calibri"/>
              </a:rPr>
              <a:t>Information </a:t>
            </a:r>
            <a:r>
              <a:rPr lang="en-US" sz="1800">
                <a:latin typeface="Calibri"/>
                <a:ea typeface="Calibri"/>
                <a:cs typeface="Calibri"/>
              </a:rPr>
              <a:t>- tabular, attributes, or the characteristics (data), can be used to symbolize and provide further insight into a given location.</a:t>
            </a:r>
          </a:p>
          <a:p>
            <a:pPr lvl="0"/>
            <a:r>
              <a:rPr lang="en-US" sz="1800" b="1">
                <a:latin typeface="Calibri"/>
                <a:ea typeface="Calibri"/>
                <a:cs typeface="Calibri"/>
              </a:rPr>
              <a:t>Systems</a:t>
            </a:r>
            <a:r>
              <a:rPr lang="en-US" sz="1800">
                <a:latin typeface="Calibri"/>
                <a:ea typeface="Calibri"/>
                <a:cs typeface="Calibri"/>
              </a:rPr>
              <a:t> - a seamless operation linking the information to the geography - which requires hardware, networks, software, data, and operational procedures</a:t>
            </a:r>
          </a:p>
          <a:p>
            <a:endParaRPr lang="en-US" sz="2400"/>
          </a:p>
        </p:txBody>
      </p:sp>
      <p:sp>
        <p:nvSpPr>
          <p:cNvPr id="6" name="Title 1">
            <a:extLst>
              <a:ext uri="{FF2B5EF4-FFF2-40B4-BE49-F238E27FC236}">
                <a16:creationId xmlns:a16="http://schemas.microsoft.com/office/drawing/2014/main" id="{2179CF5E-D62A-51C6-05B1-5B546BBF76EE}"/>
              </a:ext>
            </a:extLst>
          </p:cNvPr>
          <p:cNvSpPr txBox="1">
            <a:spLocks/>
          </p:cNvSpPr>
          <p:nvPr/>
        </p:nvSpPr>
        <p:spPr>
          <a:xfrm>
            <a:off x="793662" y="386930"/>
            <a:ext cx="10066122" cy="129844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b="1">
                <a:latin typeface="Calibri"/>
                <a:ea typeface="Calibri"/>
                <a:cs typeface="Calibri"/>
                <a:highlight>
                  <a:srgbClr val="FFFF00"/>
                </a:highlight>
              </a:rPr>
              <a:t xml:space="preserve">GIS Keywords</a:t>
            </a:r>
          </a:p>
        </p:txBody>
      </p:sp>
      <p:sp>
        <p:nvSpPr>
          <p:cNvPr id="15" name="TextBox 14"/>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9  /  51</a:t>
            </a:r>
          </a:p>
        </p:txBody>
      </p:sp>
    </p:spTree>
    <p:extLst>
      <p:ext uri="{BB962C8B-B14F-4D97-AF65-F5344CB8AC3E}">
        <p14:creationId xmlns:p14="http://schemas.microsoft.com/office/powerpoint/2010/main" val="1152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87BE253-8619-D064-8AD0-18966A573C7D}"/>
              </a:ext>
            </a:extLst>
          </p:cNvPr>
          <p:cNvSpPr>
            <a:spLocks noGrp="1"/>
          </p:cNvSpPr>
          <p:nvPr>
            <p:ph idx="1"/>
          </p:nvPr>
        </p:nvSpPr>
        <p:spPr>
          <a:xfrm>
            <a:off x="699054" y="3302091"/>
            <a:ext cx="10443760" cy="3435531"/>
          </a:xfrm>
        </p:spPr>
        <p:txBody>
          <a:bodyPr anchor="ctr">
            <a:normAutofit/>
          </a:bodyPr>
          <a:lstStyle/>
          <a:p>
            <a:r>
              <a:rPr lang="en-US" sz="1800" b="1" dirty="0">
                <a:latin typeface="Calibri"/>
                <a:ea typeface="Calibri"/>
                <a:cs typeface="Calibri"/>
              </a:rPr>
              <a:t>Data acquisition </a:t>
            </a:r>
            <a:r>
              <a:rPr lang="en-US" sz="1800" dirty="0">
                <a:latin typeface="Calibri"/>
                <a:ea typeface="Calibri"/>
                <a:cs typeface="Calibri"/>
              </a:rPr>
              <a:t> – collecting geographic data via GPS, satellite imagery, surveys</a:t>
            </a:r>
          </a:p>
          <a:p>
            <a:r>
              <a:rPr lang="en-US" sz="1800" b="1" dirty="0">
                <a:latin typeface="Calibri"/>
                <a:ea typeface="Calibri"/>
                <a:cs typeface="Calibri"/>
              </a:rPr>
              <a:t>Storage</a:t>
            </a:r>
            <a:r>
              <a:rPr lang="en-US" sz="1800" dirty="0">
                <a:latin typeface="Calibri"/>
                <a:ea typeface="Calibri"/>
                <a:cs typeface="Calibri"/>
              </a:rPr>
              <a:t> – organizing spatial and attribute data in databases</a:t>
            </a:r>
          </a:p>
          <a:p>
            <a:r>
              <a:rPr lang="en-US" sz="1800" b="1" dirty="0">
                <a:latin typeface="Calibri"/>
                <a:ea typeface="Calibri"/>
                <a:cs typeface="Calibri"/>
              </a:rPr>
              <a:t>Analysis</a:t>
            </a:r>
            <a:r>
              <a:rPr lang="en-US" sz="1800" dirty="0">
                <a:latin typeface="Calibri"/>
                <a:ea typeface="Calibri"/>
                <a:cs typeface="Calibri"/>
              </a:rPr>
              <a:t> – spatial analysis such as proximity, overlay, network analysis</a:t>
            </a:r>
          </a:p>
          <a:p>
            <a:r>
              <a:rPr lang="en-US" sz="1800" b="1" dirty="0">
                <a:latin typeface="Calibri"/>
                <a:ea typeface="Calibri"/>
                <a:cs typeface="Calibri"/>
              </a:rPr>
              <a:t>Visualization</a:t>
            </a:r>
            <a:r>
              <a:rPr lang="en-US" sz="1800" dirty="0">
                <a:latin typeface="Calibri"/>
                <a:ea typeface="Calibri"/>
                <a:cs typeface="Calibri"/>
              </a:rPr>
              <a:t> – producing maps, 3D models, and dashboards</a:t>
            </a:r>
          </a:p>
          <a:p>
            <a:r>
              <a:rPr lang="en-US" sz="1800" b="1" dirty="0">
                <a:latin typeface="Calibri"/>
                <a:ea typeface="Calibri"/>
                <a:cs typeface="Calibri"/>
              </a:rPr>
              <a:t>Data management</a:t>
            </a:r>
            <a:r>
              <a:rPr lang="en-US" sz="1800" dirty="0">
                <a:latin typeface="Calibri"/>
                <a:ea typeface="Calibri"/>
                <a:cs typeface="Calibri"/>
              </a:rPr>
              <a:t> – integrating and updating datasets over time</a:t>
            </a:r>
          </a:p>
          <a:p>
            <a:endParaRPr lang="en-US" sz="2400" dirty="0"/>
          </a:p>
        </p:txBody>
      </p:sp>
      <p:sp>
        <p:nvSpPr>
          <p:cNvPr id="4" name="Title 1">
            <a:extLst>
              <a:ext uri="{FF2B5EF4-FFF2-40B4-BE49-F238E27FC236}">
                <a16:creationId xmlns:a16="http://schemas.microsoft.com/office/drawing/2014/main" id="{F4F3CEAA-5944-8D59-DC38-1F9B7E30E7D8}"/>
              </a:ext>
            </a:extLst>
          </p:cNvPr>
          <p:cNvSpPr txBox="1">
            <a:spLocks/>
          </p:cNvSpPr>
          <p:nvPr/>
        </p:nvSpPr>
        <p:spPr>
          <a:xfrm>
            <a:off x="793662" y="386930"/>
            <a:ext cx="10066122" cy="129844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b="1">
                <a:latin typeface="Calibri"/>
                <a:ea typeface="Calibri"/>
                <a:cs typeface="Calibri"/>
              </a:rPr>
              <a:t>GIS Functions</a:t>
            </a:r>
          </a:p>
        </p:txBody>
      </p:sp>
      <p:sp>
        <p:nvSpPr>
          <p:cNvPr id="9" name="TextBox 8">
            <a:extLst>
              <a:ext uri="{FF2B5EF4-FFF2-40B4-BE49-F238E27FC236}">
                <a16:creationId xmlns:a16="http://schemas.microsoft.com/office/drawing/2014/main" id="{3BA6CA8A-28A8-F1E3-83AE-868510CA6D09}"/>
              </a:ext>
            </a:extLst>
          </p:cNvPr>
          <p:cNvSpPr txBox="1"/>
          <p:nvPr/>
        </p:nvSpPr>
        <p:spPr>
          <a:xfrm>
            <a:off x="699054" y="2270238"/>
            <a:ext cx="10255338" cy="1200329"/>
          </a:xfrm>
          <a:prstGeom prst="rect">
            <a:avLst/>
          </a:prstGeom>
          <a:noFill/>
        </p:spPr>
        <p:txBody>
          <a:bodyPr wrap="square">
            <a:spAutoFit/>
          </a:bodyPr>
          <a:lstStyle/>
          <a:p>
            <a:r>
              <a:rPr lang="en-US" sz="1800" dirty="0">
                <a:latin typeface="Calibri"/>
                <a:ea typeface="Calibri"/>
                <a:cs typeface="Calibri"/>
                <a:highlight>
                  <a:srgbClr val="FFFF00"/>
                </a:highlight>
              </a:rPr>
              <a:t xml:space="preserve">GIS uses spatial and non-spatial attribute data to answer questions about the real world. Spatial analysis is what distinguishes GIS from other applications.</a:t>
            </a:r>
          </a:p>
        </p:txBody>
      </p:sp>
      <p:sp>
        <p:nvSpPr>
          <p:cNvPr id="15" name="TextBox 14"/>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10  /  51</a:t>
            </a:r>
          </a:p>
        </p:txBody>
      </p:sp>
    </p:spTree>
    <p:extLst>
      <p:ext uri="{BB962C8B-B14F-4D97-AF65-F5344CB8AC3E}">
        <p14:creationId xmlns:p14="http://schemas.microsoft.com/office/powerpoint/2010/main" val="1999893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5" name="Rectangle 1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B83C2720-E5F6-A5AF-109F-F50C9AF8EC50}"/>
              </a:ext>
            </a:extLst>
          </p:cNvPr>
          <p:cNvSpPr txBox="1">
            <a:spLocks/>
          </p:cNvSpPr>
          <p:nvPr/>
        </p:nvSpPr>
        <p:spPr>
          <a:xfrm>
            <a:off x="1043631" y="809898"/>
            <a:ext cx="9942716" cy="15544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200" kern="1200" b="1">
                <a:solidFill>
                  <a:schemeClr val="tx1"/>
                </a:solidFill>
                <a:latin typeface="Calibri"/>
                <a:ea typeface="Calibri"/>
                <a:cs typeface="Calibri"/>
              </a:rPr>
              <a:t>Key GIS Components</a:t>
            </a:r>
            <a:endParaRPr lang="en-US" sz="4800"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9DF2C2CA-3594-5459-63BD-30D24CACD382}"/>
              </a:ext>
            </a:extLst>
          </p:cNvPr>
          <p:cNvSpPr>
            <a:spLocks noGrp="1"/>
          </p:cNvSpPr>
          <p:nvPr>
            <p:ph idx="1"/>
          </p:nvPr>
        </p:nvSpPr>
        <p:spPr>
          <a:xfrm>
            <a:off x="1045028" y="3017522"/>
            <a:ext cx="9941319" cy="3124658"/>
          </a:xfrm>
        </p:spPr>
        <p:txBody>
          <a:bodyPr vert="horz" lIns="91440" tIns="45720" rIns="91440" bIns="45720" rtlCol="0" anchor="ctr">
            <a:normAutofit/>
          </a:bodyPr>
          <a:lstStyle/>
          <a:p>
            <a:r>
              <a:rPr lang="en-US" sz="1800" b="1" dirty="0">
                <a:latin typeface="Calibri"/>
                <a:ea typeface="Calibri"/>
                <a:cs typeface="Calibri"/>
              </a:rPr>
              <a:t>Hardware</a:t>
            </a:r>
            <a:r>
              <a:rPr lang="en-US" sz="1800" dirty="0">
                <a:latin typeface="Calibri"/>
                <a:ea typeface="Calibri"/>
                <a:cs typeface="Calibri"/>
              </a:rPr>
              <a:t> – computers, GPS devices, drones, satellites, servers</a:t>
            </a:r>
          </a:p>
          <a:p>
            <a:r>
              <a:rPr lang="en-US" sz="1800" b="1" dirty="0">
                <a:latin typeface="Calibri"/>
                <a:ea typeface="Calibri"/>
                <a:cs typeface="Calibri"/>
              </a:rPr>
              <a:t>Software</a:t>
            </a:r>
            <a:r>
              <a:rPr lang="en-US" sz="1800" dirty="0">
                <a:latin typeface="Calibri"/>
                <a:ea typeface="Calibri"/>
                <a:cs typeface="Calibri"/>
              </a:rPr>
              <a:t> – programs like ArcGIS Pro, QGIS, or Google Earth Engine that process spatial data</a:t>
            </a:r>
          </a:p>
          <a:p>
            <a:r>
              <a:rPr lang="en-US" sz="1800" b="1" dirty="0">
                <a:latin typeface="Calibri"/>
                <a:ea typeface="Calibri"/>
                <a:cs typeface="Calibri"/>
              </a:rPr>
              <a:t>Data</a:t>
            </a:r>
            <a:r>
              <a:rPr lang="en-US" sz="1800" dirty="0">
                <a:latin typeface="Calibri"/>
                <a:ea typeface="Calibri"/>
                <a:cs typeface="Calibri"/>
              </a:rPr>
              <a:t> – two main types: </a:t>
            </a:r>
          </a:p>
          <a:p>
            <a:pPr lvl="1"/>
            <a:r>
              <a:rPr lang="en-US" sz="1800" b="1" dirty="0">
                <a:latin typeface="Calibri"/>
                <a:ea typeface="Calibri"/>
                <a:cs typeface="Calibri"/>
              </a:rPr>
              <a:t>Spatial data</a:t>
            </a:r>
            <a:r>
              <a:rPr lang="en-US" sz="1800" dirty="0">
                <a:latin typeface="Calibri"/>
                <a:ea typeface="Calibri"/>
                <a:cs typeface="Calibri"/>
              </a:rPr>
              <a:t>: coordinates, shapes, boundaries (points, lines, polygons)</a:t>
            </a:r>
          </a:p>
          <a:p>
            <a:pPr lvl="1"/>
            <a:r>
              <a:rPr lang="en-US" sz="1800" b="1" dirty="0">
                <a:latin typeface="Calibri"/>
                <a:ea typeface="Calibri"/>
                <a:cs typeface="Calibri"/>
              </a:rPr>
              <a:t>Attribute data</a:t>
            </a:r>
            <a:r>
              <a:rPr lang="en-US" sz="1800" dirty="0">
                <a:latin typeface="Calibri"/>
                <a:ea typeface="Calibri"/>
                <a:cs typeface="Calibri"/>
              </a:rPr>
              <a:t>: descriptive info about those features (e.g., population, land use, elevation)</a:t>
            </a:r>
          </a:p>
          <a:p>
            <a:r>
              <a:rPr lang="en-US" sz="1800" b="1" dirty="0">
                <a:latin typeface="Calibri"/>
                <a:ea typeface="Calibri"/>
                <a:cs typeface="Calibri"/>
              </a:rPr>
              <a:t>People</a:t>
            </a:r>
            <a:r>
              <a:rPr lang="en-US" sz="1800" dirty="0">
                <a:latin typeface="Calibri"/>
                <a:ea typeface="Calibri"/>
                <a:cs typeface="Calibri"/>
              </a:rPr>
              <a:t> – analysts, planners, and scientists who design workflows and interpret results</a:t>
            </a:r>
          </a:p>
          <a:p>
            <a:r>
              <a:rPr lang="en-US" sz="1800" b="1" dirty="0">
                <a:latin typeface="Calibri"/>
                <a:ea typeface="Calibri"/>
                <a:cs typeface="Calibri"/>
              </a:rPr>
              <a:t>Methods/Procedures</a:t>
            </a:r>
            <a:r>
              <a:rPr lang="en-US" sz="1800" dirty="0">
                <a:latin typeface="Calibri"/>
                <a:ea typeface="Calibri"/>
                <a:cs typeface="Calibri"/>
              </a:rPr>
              <a:t> – models and workflows for analysis (e.g., overlay analysis, buffering, spatial queries)</a:t>
            </a:r>
          </a:p>
          <a:p>
            <a:endParaRPr lang="en-US" sz="1900" dirty="0"/>
          </a:p>
        </p:txBody>
      </p:sp>
      <p:cxnSp>
        <p:nvCxnSpPr>
          <p:cNvPr id="21" name="Straight Connector 2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11  /  51</a:t>
            </a:r>
          </a:p>
        </p:txBody>
      </p:sp>
    </p:spTree>
    <p:extLst>
      <p:ext uri="{BB962C8B-B14F-4D97-AF65-F5344CB8AC3E}">
        <p14:creationId xmlns:p14="http://schemas.microsoft.com/office/powerpoint/2010/main" val="2000209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F3EF393A-60F0-312A-CDAA-B1E6DF2684FA}"/>
              </a:ext>
            </a:extLst>
          </p:cNvPr>
          <p:cNvSpPr>
            <a:spLocks noGrp="1"/>
          </p:cNvSpPr>
          <p:nvPr>
            <p:ph idx="1"/>
          </p:nvPr>
        </p:nvSpPr>
        <p:spPr>
          <a:xfrm>
            <a:off x="233823" y="1998368"/>
            <a:ext cx="7175113" cy="2620746"/>
          </a:xfrm>
        </p:spPr>
        <p:txBody>
          <a:bodyPr anchor="ctr">
            <a:normAutofit/>
          </a:bodyPr>
          <a:lstStyle/>
          <a:p>
            <a:pPr marL="0" indent="0">
              <a:buNone/>
            </a:pPr>
            <a:r>
              <a:rPr lang="en-US" sz="1800" b="1" dirty="0">
                <a:latin typeface="Calibri"/>
                <a:ea typeface="Calibri"/>
                <a:cs typeface="Calibri"/>
              </a:rPr>
              <a:t xml:space="preserve">Vector Data is a representation of the world using points, lines, and polygons. Vector models are useful for storing data that has discrete boundaries, such as country borders, land parcels, and streets</a:t>
            </a:r>
          </a:p>
        </p:txBody>
      </p:sp>
      <p:sp>
        <p:nvSpPr>
          <p:cNvPr id="17" name="Rectangle 1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04AA708-6834-27F8-251A-969DE95954E4}"/>
              </a:ext>
            </a:extLst>
          </p:cNvPr>
          <p:cNvSpPr txBox="1"/>
          <p:nvPr/>
        </p:nvSpPr>
        <p:spPr>
          <a:xfrm>
            <a:off x="216425" y="3922321"/>
            <a:ext cx="7497737" cy="1631216"/>
          </a:xfrm>
          <a:prstGeom prst="rect">
            <a:avLst/>
          </a:prstGeom>
          <a:noFill/>
        </p:spPr>
        <p:txBody>
          <a:bodyPr wrap="square">
            <a:spAutoFit/>
          </a:bodyPr>
          <a:lstStyle/>
          <a:p>
            <a:r>
              <a:rPr lang="en-US" sz="1800" b="1" dirty="0">
                <a:latin typeface="Calibri"/>
                <a:ea typeface="Calibri"/>
                <a:cs typeface="Calibri"/>
              </a:rPr>
              <a:t xml:space="preserve">Raster Data is a representation of the world as a surface divided into a regular grid of cells. Raster data are useful for storing data that varies continuously, as in an aerial photograph, a satellite image, a surface of chemical concentrations, or an elevation surface</a:t>
            </a:r>
          </a:p>
        </p:txBody>
      </p:sp>
      <p:sp>
        <p:nvSpPr>
          <p:cNvPr id="9" name="Title 1">
            <a:extLst>
              <a:ext uri="{FF2B5EF4-FFF2-40B4-BE49-F238E27FC236}">
                <a16:creationId xmlns:a16="http://schemas.microsoft.com/office/drawing/2014/main" id="{F1AA5236-2846-CCCD-C2BF-6D0209D6D2F7}"/>
              </a:ext>
            </a:extLst>
          </p:cNvPr>
          <p:cNvSpPr txBox="1">
            <a:spLocks/>
          </p:cNvSpPr>
          <p:nvPr/>
        </p:nvSpPr>
        <p:spPr>
          <a:xfrm>
            <a:off x="946062" y="539330"/>
            <a:ext cx="10066122" cy="129844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b="1">
                <a:latin typeface="Calibri"/>
                <a:ea typeface="Calibri"/>
                <a:cs typeface="Calibri"/>
                <a:highlight>
                  <a:srgbClr val="FFFF00"/>
                </a:highlight>
              </a:rPr>
              <a:t xml:space="preserve">Fundamental Data Types Used in GIS</a:t>
            </a:r>
          </a:p>
        </p:txBody>
      </p:sp>
      <p:pic>
        <p:nvPicPr>
          <p:cNvPr id="16" name="Picture 15">
            <a:extLst>
              <a:ext uri="{FF2B5EF4-FFF2-40B4-BE49-F238E27FC236}">
                <a16:creationId xmlns:a16="http://schemas.microsoft.com/office/drawing/2014/main" id="{E3892804-563B-020E-E4AD-81B5F66ED282}"/>
              </a:ext>
            </a:extLst>
          </p:cNvPr>
          <p:cNvPicPr>
            <a:picLocks noChangeAspect="1"/>
          </p:cNvPicPr>
          <p:nvPr/>
        </p:nvPicPr>
        <p:blipFill>
          <a:blip r:embed="rId2"/>
          <a:srcRect t="7218" r="2475"/>
          <a:stretch>
            <a:fillRect/>
          </a:stretch>
        </p:blipFill>
        <p:spPr>
          <a:xfrm>
            <a:off x="7321217" y="2492829"/>
            <a:ext cx="4074234" cy="2620746"/>
          </a:xfrm>
          <a:prstGeom prst="rect">
            <a:avLst/>
          </a:prstGeom>
        </p:spPr>
      </p:pic>
      <p:sp>
        <p:nvSpPr>
          <p:cNvPr id="18" name="TextBox 17"/>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12  /  51</a:t>
            </a:r>
          </a:p>
        </p:txBody>
      </p:sp>
    </p:spTree>
    <p:extLst>
      <p:ext uri="{BB962C8B-B14F-4D97-AF65-F5344CB8AC3E}">
        <p14:creationId xmlns:p14="http://schemas.microsoft.com/office/powerpoint/2010/main" val="2593771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92842-97AC-472B-96D5-716E250C4C7B}"/>
              </a:ext>
            </a:extLst>
          </p:cNvPr>
          <p:cNvSpPr>
            <a:spLocks noGrp="1"/>
          </p:cNvSpPr>
          <p:nvPr>
            <p:ph type="title"/>
          </p:nvPr>
        </p:nvSpPr>
        <p:spPr/>
        <p:txBody>
          <a:bodyPr/>
          <a:lstStyle/>
          <a:p>
            <a:r>
              <a:rPr lang="en-US" b="1" sz="3200">
                <a:latin typeface="Calibri"/>
                <a:ea typeface="Calibri"/>
                <a:cs typeface="Calibri"/>
              </a:rPr>
              <a:t>Other Key Data Types in GIS</a:t>
            </a:r>
            <a:endParaRPr lang="en-US" b="1" dirty="0"/>
          </a:p>
        </p:txBody>
      </p:sp>
      <p:sp>
        <p:nvSpPr>
          <p:cNvPr id="7" name="TextBox 6">
            <a:extLst>
              <a:ext uri="{FF2B5EF4-FFF2-40B4-BE49-F238E27FC236}">
                <a16:creationId xmlns:a16="http://schemas.microsoft.com/office/drawing/2014/main" id="{65CF5E46-D956-A535-E382-5E4A23D1AC80}"/>
              </a:ext>
            </a:extLst>
          </p:cNvPr>
          <p:cNvSpPr txBox="1"/>
          <p:nvPr/>
        </p:nvSpPr>
        <p:spPr>
          <a:xfrm>
            <a:off x="726621" y="1690688"/>
            <a:ext cx="9114065" cy="707886"/>
          </a:xfrm>
          <a:prstGeom prst="rect">
            <a:avLst/>
          </a:prstGeom>
          <a:noFill/>
        </p:spPr>
        <p:txBody>
          <a:bodyPr wrap="square">
            <a:spAutoFit/>
          </a:bodyPr>
          <a:lstStyle/>
          <a:p>
            <a:r>
              <a:rPr lang="en-US" sz="1800">
                <a:latin typeface="Calibri"/>
                <a:ea typeface="Calibri"/>
                <a:cs typeface="Calibri"/>
              </a:rPr>
              <a:t>Beyond spatial data (vector/raster), a functioning GIS relies on several other data types that give geographic features meaning, context, and trustworthiness</a:t>
            </a:r>
            <a:endParaRPr lang="en-US" sz="2000" dirty="0"/>
          </a:p>
        </p:txBody>
      </p:sp>
      <p:sp>
        <p:nvSpPr>
          <p:cNvPr id="9" name="TextBox 8">
            <a:extLst>
              <a:ext uri="{FF2B5EF4-FFF2-40B4-BE49-F238E27FC236}">
                <a16:creationId xmlns:a16="http://schemas.microsoft.com/office/drawing/2014/main" id="{CCBB7793-FDFE-FD61-90E1-286FDC5BC585}"/>
              </a:ext>
            </a:extLst>
          </p:cNvPr>
          <p:cNvSpPr txBox="1"/>
          <p:nvPr/>
        </p:nvSpPr>
        <p:spPr>
          <a:xfrm>
            <a:off x="726621" y="2571530"/>
            <a:ext cx="10028465" cy="3416320"/>
          </a:xfrm>
          <a:prstGeom prst="rect">
            <a:avLst/>
          </a:prstGeom>
          <a:noFill/>
        </p:spPr>
        <p:txBody>
          <a:bodyPr wrap="square">
            <a:spAutoFit/>
          </a:bodyPr>
          <a:lstStyle/>
          <a:p>
            <a:r>
              <a:rPr lang="en-US" b="1" dirty="0" sz="1800">
                <a:latin typeface="Calibri"/>
                <a:ea typeface="Calibri"/>
                <a:cs typeface="Calibri"/>
                <a:highlight>
                  <a:srgbClr val="FFFF00"/>
                </a:highlight>
              </a:rPr>
              <a:t xml:space="preserve">Attribute Data: Descriptive</a:t>
            </a:r>
            <a:r>
              <a:rPr lang="en-US" b="1" dirty="0" sz="1800">
                <a:latin typeface="Calibri"/>
                <a:ea typeface="Calibri"/>
                <a:cs typeface="Calibri"/>
              </a:rPr>
              <a:t xml:space="preserve"> information attached to spatial features — the "what" behind the "where."</a:t>
            </a:r>
          </a:p>
          <a:p>
            <a:r>
              <a:rPr lang="en-US" dirty="0" sz="1800">
                <a:latin typeface="Calibri"/>
                <a:ea typeface="Calibri"/>
                <a:cs typeface="Calibri"/>
              </a:rPr>
              <a:t>Stored in tables linked to each point, line, or polygon</a:t>
            </a:r>
          </a:p>
          <a:p>
            <a:r>
              <a:rPr lang="en-US" dirty="0" sz="1800">
                <a:latin typeface="Calibri"/>
                <a:ea typeface="Calibri"/>
                <a:cs typeface="Calibri"/>
              </a:rPr>
              <a:t>Example: a road (line feature) might have attributes like name and length</a:t>
            </a:r>
          </a:p>
          <a:p>
            <a:r>
              <a:rPr lang="en-US" b="1" dirty="0" err="1" sz="1800">
                <a:latin typeface="Calibri"/>
                <a:ea typeface="Calibri"/>
                <a:cs typeface="Calibri"/>
                <a:highlight>
                  <a:srgbClr val="FFFF00"/>
                </a:highlight>
              </a:rPr>
              <a:t xml:space="preserve">Tabular / Non-Spatial</a:t>
            </a:r>
            <a:r>
              <a:rPr lang="en-US" b="1" dirty="0" err="1" sz="1800">
                <a:latin typeface="Calibri"/>
                <a:ea typeface="Calibri"/>
                <a:cs typeface="Calibri"/>
              </a:rPr>
              <a:t xml:space="preserve"> Data: Regular data tables (like a census spreadsheet) that don't have inherent location but can be joined to spatial features using a common key (e.g. ZIP code, county FIPS code).</a:t>
            </a:r>
          </a:p>
          <a:p>
            <a:r>
              <a:rPr lang="en-US" b="1" dirty="0" sz="1800">
                <a:latin typeface="Calibri"/>
                <a:ea typeface="Calibri"/>
                <a:cs typeface="Calibri"/>
              </a:rPr>
              <a:t>Metadata: </a:t>
            </a:r>
            <a:r>
              <a:rPr lang="en-US" dirty="0" sz="1800">
                <a:latin typeface="Calibri"/>
                <a:ea typeface="Calibri"/>
                <a:cs typeface="Calibri"/>
              </a:rPr>
              <a:t>Data </a:t>
            </a:r>
            <a:r>
              <a:rPr lang="en-US" i="1" dirty="0" sz="1800">
                <a:latin typeface="Calibri"/>
                <a:ea typeface="Calibri"/>
                <a:cs typeface="Calibri"/>
              </a:rPr>
              <a:t>about</a:t>
            </a:r>
            <a:r>
              <a:rPr lang="en-US" dirty="0" sz="1800">
                <a:latin typeface="Calibri"/>
                <a:ea typeface="Calibri"/>
                <a:cs typeface="Calibri"/>
              </a:rPr>
              <a:t> the data — describes the dataset itself rather than the features in it.</a:t>
            </a:r>
          </a:p>
          <a:p>
            <a:r>
              <a:rPr lang="en-US" dirty="0" sz="1800">
                <a:latin typeface="Calibri"/>
                <a:ea typeface="Calibri"/>
                <a:cs typeface="Calibri"/>
              </a:rPr>
              <a:t>Includes: source, date collected, coordinate system/projection, accuracy, resolution, author, update frequency, licensing</a:t>
            </a:r>
          </a:p>
          <a:p>
            <a:r>
              <a:rPr lang="en-US" dirty="0" sz="1800">
                <a:latin typeface="Calibri"/>
                <a:ea typeface="Calibri"/>
                <a:cs typeface="Calibri"/>
              </a:rPr>
              <a:t>Critical for trust and reproducibility — tells you whether a dataset is current, reliable, and fit for your purpose</a:t>
            </a:r>
          </a:p>
          <a:p>
            <a:r>
              <a:rPr lang="en-US" dirty="0" sz="1800">
                <a:latin typeface="Calibri"/>
                <a:ea typeface="Calibri"/>
                <a:cs typeface="Calibri"/>
              </a:rPr>
              <a:t>Standards exist for this (e.g. ISO 19115, FGDC) so metadata is consistent across organizations</a:t>
            </a:r>
          </a:p>
          <a:p>
            <a:endParaRPr lang="en-US" dirty="0"/>
          </a:p>
        </p:txBody>
      </p:sp>
      <p:sp>
        <p:nvSpPr>
          <p:cNvPr id="10" name="TextBox 9"/>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13  /  51</a:t>
            </a:r>
          </a:p>
        </p:txBody>
      </p:sp>
    </p:spTree>
    <p:extLst>
      <p:ext uri="{BB962C8B-B14F-4D97-AF65-F5344CB8AC3E}">
        <p14:creationId xmlns:p14="http://schemas.microsoft.com/office/powerpoint/2010/main" val="2216819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763EB-D461-372C-FCAF-146AC9BA5697}"/>
              </a:ext>
            </a:extLst>
          </p:cNvPr>
          <p:cNvSpPr>
            <a:spLocks noGrp="1"/>
          </p:cNvSpPr>
          <p:nvPr>
            <p:ph type="title"/>
          </p:nvPr>
        </p:nvSpPr>
        <p:spPr/>
        <p:txBody>
          <a:bodyPr/>
          <a:lstStyle/>
          <a:p>
            <a:r>
              <a:rPr lang="en-US" dirty="0" sz="3200" b="1">
                <a:latin typeface="Calibri"/>
                <a:ea typeface="Calibri"/>
                <a:cs typeface="Calibri"/>
                <a:highlight>
                  <a:srgbClr val="FFFF00"/>
                </a:highlight>
              </a:rPr>
              <a:t xml:space="preserve">Raster Data Format</a:t>
            </a:r>
            <a:r>
              <a:rPr lang="en-US" dirty="0" sz="3200" b="1">
                <a:latin typeface="Calibri"/>
                <a:ea typeface="Calibri"/>
                <a:cs typeface="Calibri"/>
              </a:rPr>
              <a:t xml:space="preserve"> </a:t>
            </a:r>
          </a:p>
        </p:txBody>
      </p:sp>
      <p:sp>
        <p:nvSpPr>
          <p:cNvPr id="3" name="Content Placeholder 2">
            <a:extLst>
              <a:ext uri="{FF2B5EF4-FFF2-40B4-BE49-F238E27FC236}">
                <a16:creationId xmlns:a16="http://schemas.microsoft.com/office/drawing/2014/main" id="{CBA832CB-FBA3-ED59-8595-C9144B888406}"/>
              </a:ext>
            </a:extLst>
          </p:cNvPr>
          <p:cNvSpPr>
            <a:spLocks noGrp="1"/>
          </p:cNvSpPr>
          <p:nvPr>
            <p:ph idx="1"/>
          </p:nvPr>
        </p:nvSpPr>
        <p:spPr>
          <a:xfrm>
            <a:off x="838200" y="1556657"/>
            <a:ext cx="8839200" cy="4615543"/>
          </a:xfrm>
        </p:spPr>
        <p:txBody>
          <a:bodyPr>
            <a:normAutofit fontScale="85000" lnSpcReduction="20000"/>
          </a:bodyPr>
          <a:lstStyle/>
          <a:p>
            <a:r>
              <a:rPr lang="en-US" sz="1800" dirty="0">
                <a:latin typeface="Calibri"/>
                <a:ea typeface="Calibri"/>
                <a:cs typeface="Calibri"/>
                <a:highlight>
                  <a:srgbClr val="FFFF00"/>
                </a:highlight>
              </a:rPr>
              <a:t xml:space="preserve">Raster data</a:t>
            </a:r>
            <a:r>
              <a:rPr lang="en-US" sz="1800" dirty="0">
                <a:latin typeface="Calibri"/>
                <a:ea typeface="Calibri"/>
                <a:cs typeface="Calibri"/>
              </a:rPr>
              <a:t xml:space="preserve"> generalizes map features as cells or pixels in a grid matrix. The space is defined by a matrix of points or cells organized into rows and columns. In a </a:t>
            </a:r>
            <a:r>
              <a:rPr lang="en-US" sz="1800" dirty="0">
                <a:latin typeface="Calibri"/>
                <a:ea typeface="Calibri"/>
                <a:cs typeface="Calibri"/>
                <a:highlight>
                  <a:srgbClr val="FFFF00"/>
                </a:highlight>
              </a:rPr>
              <a:t xml:space="preserve">raster dataset</a:t>
            </a:r>
            <a:r>
              <a:rPr lang="en-US" sz="1800" dirty="0">
                <a:latin typeface="Calibri"/>
                <a:ea typeface="Calibri"/>
                <a:cs typeface="Calibri"/>
              </a:rPr>
              <a:t xml:space="preserve">, data values for a given parameter are stored in each cell - these values may represent an elevation in meters above sea level, </a:t>
            </a:r>
            <a:r>
              <a:rPr lang="en-US" sz="1800" dirty="0">
                <a:latin typeface="Calibri"/>
                <a:ea typeface="Calibri"/>
                <a:cs typeface="Calibri"/>
                <a:highlight>
                  <a:srgbClr val="FFFF00"/>
                </a:highlight>
              </a:rPr>
              <a:t xml:space="preserve">a land-use class, etc.</a:t>
            </a:r>
            <a:r>
              <a:rPr lang="en-US" sz="1800" dirty="0">
                <a:latin typeface="Calibri"/>
                <a:ea typeface="Calibri"/>
                <a:cs typeface="Calibri"/>
              </a:rPr>
              <a:t xml:space="preserve"> </a:t>
            </a:r>
          </a:p>
          <a:p>
            <a:pPr marL="0" indent="-342900">
              <a:lnSpc>
                <a:spcPct val="100000"/>
              </a:lnSpc>
            </a:pPr>
            <a:r>
              <a:rPr lang="en-US" sz="1800" dirty="0">
                <a:latin typeface="Calibri"/>
                <a:ea typeface="Calibri"/>
                <a:cs typeface="Calibri"/>
              </a:rPr>
              <a:t>Scanned</a:t>
            </a:r>
          </a:p>
          <a:p>
            <a:pPr marL="0" indent="-342900">
              <a:lnSpc>
                <a:spcPct val="100000"/>
              </a:lnSpc>
            </a:pPr>
            <a:r>
              <a:rPr lang="en-US" sz="1800" dirty="0">
                <a:latin typeface="Calibri"/>
                <a:ea typeface="Calibri"/>
                <a:cs typeface="Calibri"/>
              </a:rPr>
              <a:t>Remotely Sensed</a:t>
            </a:r>
          </a:p>
          <a:p>
            <a:pPr marL="0" indent="-342900">
              <a:lnSpc>
                <a:spcPct val="100000"/>
              </a:lnSpc>
            </a:pPr>
            <a:r>
              <a:rPr lang="en-US" sz="1800" dirty="0">
                <a:latin typeface="Calibri"/>
                <a:ea typeface="Calibri"/>
                <a:cs typeface="Calibri"/>
              </a:rPr>
              <a:t>Aerial Photos</a:t>
            </a:r>
          </a:p>
          <a:p>
            <a:pPr marL="0" indent="-342900">
              <a:lnSpc>
                <a:spcPct val="100000"/>
              </a:lnSpc>
            </a:pPr>
            <a:r>
              <a:rPr lang="en-US" sz="1800" dirty="0">
                <a:latin typeface="Calibri"/>
                <a:ea typeface="Calibri"/>
                <a:cs typeface="Calibri"/>
              </a:rPr>
              <a:t>Satellite Photos</a:t>
            </a:r>
          </a:p>
          <a:p>
            <a:pPr marL="0" indent="-342900">
              <a:lnSpc>
                <a:spcPct val="100000"/>
              </a:lnSpc>
            </a:pPr>
            <a:r>
              <a:rPr lang="en-US" sz="1800" dirty="0">
                <a:latin typeface="Calibri"/>
                <a:ea typeface="Calibri"/>
                <a:cs typeface="Calibri"/>
              </a:rPr>
              <a:t>Digital Elevation Models (DEM)</a:t>
            </a:r>
          </a:p>
          <a:p>
            <a:pPr marL="0" lvl="1" indent="-342900">
              <a:lnSpc>
                <a:spcPct val="100000"/>
              </a:lnSpc>
              <a:spcBef>
                <a:spcPts val="1000"/>
              </a:spcBef>
            </a:pPr>
            <a:r>
              <a:rPr lang="en-US" sz="1800" dirty="0">
                <a:latin typeface="Calibri"/>
                <a:ea typeface="Calibri"/>
                <a:cs typeface="Calibri"/>
              </a:rPr>
              <a:t>Derived </a:t>
            </a:r>
            <a:r>
              <a:rPr lang="en-US" sz="1800" dirty="0" err="1">
                <a:latin typeface="Calibri"/>
                <a:ea typeface="Calibri"/>
                <a:cs typeface="Calibri"/>
              </a:rPr>
              <a:t>Rasters</a:t>
            </a:r>
            <a:endParaRPr lang="en-US" sz="2100" dirty="0"/>
          </a:p>
          <a:p>
            <a:pPr marL="457200" lvl="3" indent="-285750">
              <a:lnSpc>
                <a:spcPct val="100000"/>
              </a:lnSpc>
              <a:spcBef>
                <a:spcPts val="1000"/>
              </a:spcBef>
            </a:pPr>
            <a:r>
              <a:rPr lang="en-US" sz="1800" dirty="0">
                <a:latin typeface="Calibri"/>
                <a:ea typeface="Calibri"/>
                <a:cs typeface="Calibri"/>
                <a:highlight>
                  <a:srgbClr val="FFFF00"/>
                </a:highlight>
              </a:rPr>
              <a:t xml:space="preserve">Hillshade</a:t>
            </a:r>
          </a:p>
          <a:p>
            <a:pPr marL="457200" lvl="3" indent="-285750">
              <a:lnSpc>
                <a:spcPct val="100000"/>
              </a:lnSpc>
              <a:spcBef>
                <a:spcPts val="1000"/>
              </a:spcBef>
            </a:pPr>
            <a:r>
              <a:rPr lang="en-US" sz="1800" dirty="0">
                <a:latin typeface="Calibri"/>
                <a:ea typeface="Calibri"/>
                <a:cs typeface="Calibri"/>
              </a:rPr>
              <a:t>Slope</a:t>
            </a:r>
          </a:p>
          <a:p>
            <a:pPr marL="457200" lvl="3" indent="-285750">
              <a:lnSpc>
                <a:spcPct val="100000"/>
              </a:lnSpc>
              <a:spcBef>
                <a:spcPts val="1000"/>
              </a:spcBef>
            </a:pPr>
            <a:r>
              <a:rPr lang="en-US" sz="1800" dirty="0">
                <a:latin typeface="Calibri"/>
                <a:ea typeface="Calibri"/>
                <a:cs typeface="Calibri"/>
              </a:rPr>
              <a:t>Aspect</a:t>
            </a:r>
          </a:p>
          <a:p>
            <a:pPr marL="0" lvl="2" indent="-285750">
              <a:lnSpc>
                <a:spcPct val="100000"/>
              </a:lnSpc>
              <a:spcBef>
                <a:spcPts val="1000"/>
              </a:spcBef>
            </a:pPr>
            <a:r>
              <a:rPr lang="en-US" sz="1800" dirty="0">
                <a:latin typeface="Calibri"/>
                <a:ea typeface="Calibri"/>
                <a:cs typeface="Calibri"/>
                <a:highlight>
                  <a:srgbClr val="FFFF00"/>
                </a:highlight>
              </a:rPr>
              <a:t xml:space="preserve">Viewshed</a:t>
            </a:r>
          </a:p>
        </p:txBody>
      </p:sp>
      <p:pic>
        <p:nvPicPr>
          <p:cNvPr id="5" name="Picture 4">
            <a:extLst>
              <a:ext uri="{FF2B5EF4-FFF2-40B4-BE49-F238E27FC236}">
                <a16:creationId xmlns:a16="http://schemas.microsoft.com/office/drawing/2014/main" id="{1F462B16-9382-0711-70A4-1E370ED39C5D}"/>
              </a:ext>
            </a:extLst>
          </p:cNvPr>
          <p:cNvPicPr>
            <a:picLocks noChangeAspect="1"/>
          </p:cNvPicPr>
          <p:nvPr/>
        </p:nvPicPr>
        <p:blipFill>
          <a:blip r:embed="rId2"/>
          <a:stretch>
            <a:fillRect/>
          </a:stretch>
        </p:blipFill>
        <p:spPr>
          <a:xfrm>
            <a:off x="6832065" y="2400964"/>
            <a:ext cx="4597935" cy="3771236"/>
          </a:xfrm>
          <a:prstGeom prst="rect">
            <a:avLst/>
          </a:prstGeom>
        </p:spPr>
      </p:pic>
      <p:sp>
        <p:nvSpPr>
          <p:cNvPr id="6" name="TextBox 5"/>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15  /  51</a:t>
            </a:r>
          </a:p>
        </p:txBody>
      </p:sp>
    </p:spTree>
    <p:extLst>
      <p:ext uri="{BB962C8B-B14F-4D97-AF65-F5344CB8AC3E}">
        <p14:creationId xmlns:p14="http://schemas.microsoft.com/office/powerpoint/2010/main" val="2185295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BBD7A-75B5-089F-66C3-A0ABAB473D69}"/>
              </a:ext>
            </a:extLst>
          </p:cNvPr>
          <p:cNvSpPr>
            <a:spLocks noGrp="1"/>
          </p:cNvSpPr>
          <p:nvPr>
            <p:ph type="title"/>
          </p:nvPr>
        </p:nvSpPr>
        <p:spPr/>
        <p:txBody>
          <a:bodyPr/>
          <a:lstStyle/>
          <a:p>
            <a:r>
              <a:rPr lang="en-US" dirty="0" sz="3200" b="1">
                <a:latin typeface="Calibri"/>
                <a:ea typeface="Calibri"/>
                <a:cs typeface="Calibri"/>
                <a:highlight>
                  <a:srgbClr val="FFFF00"/>
                </a:highlight>
              </a:rPr>
              <a:t xml:space="preserve">Advantages and Disadvantages of Raster</a:t>
            </a:r>
          </a:p>
        </p:txBody>
      </p:sp>
      <p:sp>
        <p:nvSpPr>
          <p:cNvPr id="3" name="Content Placeholder 2">
            <a:extLst>
              <a:ext uri="{FF2B5EF4-FFF2-40B4-BE49-F238E27FC236}">
                <a16:creationId xmlns:a16="http://schemas.microsoft.com/office/drawing/2014/main" id="{CC19B53E-972B-F04A-0411-8F06D2E8C9E2}"/>
              </a:ext>
            </a:extLst>
          </p:cNvPr>
          <p:cNvSpPr>
            <a:spLocks noGrp="1"/>
          </p:cNvSpPr>
          <p:nvPr>
            <p:ph idx="1"/>
          </p:nvPr>
        </p:nvSpPr>
        <p:spPr/>
        <p:txBody>
          <a:bodyPr>
            <a:normAutofit lnSpcReduction="10000"/>
          </a:bodyPr>
          <a:lstStyle/>
          <a:p>
            <a:pPr marL="0" indent="0">
              <a:buNone/>
            </a:pPr>
            <a:r>
              <a:rPr lang="en-US" sz="1800" b="1" dirty="0">
                <a:latin typeface="Calibri"/>
                <a:ea typeface="Calibri"/>
                <a:cs typeface="Calibri"/>
                <a:highlight>
                  <a:srgbClr val="FFFF00"/>
                </a:highlight>
              </a:rPr>
              <a:t xml:space="preserve">Disadvantages:</a:t>
            </a:r>
            <a:r>
              <a:rPr lang="en-US" sz="1800" b="1" dirty="0">
                <a:latin typeface="Calibri"/>
                <a:ea typeface="Calibri"/>
                <a:cs typeface="Calibri"/>
              </a:rPr>
              <a:t xml:space="preserve"> </a:t>
            </a:r>
          </a:p>
          <a:p>
            <a:pPr marL="0"/>
            <a:r>
              <a:rPr lang="en-US" sz="1800" dirty="0">
                <a:latin typeface="Calibri"/>
                <a:ea typeface="Calibri"/>
                <a:cs typeface="Calibri"/>
              </a:rPr>
              <a:t>Larger file sizes, especially at high resolution</a:t>
            </a:r>
          </a:p>
          <a:p>
            <a:pPr marL="0"/>
            <a:r>
              <a:rPr lang="en-US" sz="1800" dirty="0">
                <a:latin typeface="Calibri"/>
                <a:ea typeface="Calibri"/>
                <a:cs typeface="Calibri"/>
              </a:rPr>
              <a:t>Loss of precision — boundaries look "blocky" or pixelated, especially at coarse resolution</a:t>
            </a:r>
          </a:p>
          <a:p>
            <a:pPr marL="0"/>
            <a:r>
              <a:rPr lang="en-US" sz="1800" dirty="0">
                <a:latin typeface="Calibri"/>
                <a:ea typeface="Calibri"/>
                <a:cs typeface="Calibri"/>
              </a:rPr>
              <a:t>Attribute data is limited — typically just one value per cell, not rich multi-field records</a:t>
            </a:r>
          </a:p>
          <a:p>
            <a:pPr marL="0"/>
            <a:r>
              <a:rPr lang="en-US" sz="1800" dirty="0">
                <a:latin typeface="Calibri"/>
                <a:ea typeface="Calibri"/>
                <a:cs typeface="Calibri"/>
              </a:rPr>
              <a:t>Resolution trade-off — fine detail requires huge file sizes; coarse resolution loses accuracy</a:t>
            </a:r>
          </a:p>
          <a:p>
            <a:pPr marL="0"/>
            <a:r>
              <a:rPr lang="en-US" sz="1800" dirty="0">
                <a:latin typeface="Calibri"/>
                <a:ea typeface="Calibri"/>
                <a:cs typeface="Calibri"/>
              </a:rPr>
              <a:t>Zooming in reveals pixelation rather than clean edges</a:t>
            </a:r>
          </a:p>
          <a:p>
            <a:pPr marL="0" indent="0">
              <a:lnSpc>
                <a:spcPct val="100000"/>
              </a:lnSpc>
              <a:buNone/>
            </a:pPr>
            <a:r>
              <a:rPr lang="en-US" sz="1800" b="1" dirty="0">
                <a:latin typeface="Calibri"/>
                <a:ea typeface="Calibri"/>
                <a:cs typeface="Calibri"/>
              </a:rPr>
              <a:t>Advantages:</a:t>
            </a:r>
          </a:p>
          <a:p>
            <a:pPr marL="0">
              <a:lnSpc>
                <a:spcPct val="100000"/>
              </a:lnSpc>
            </a:pPr>
            <a:r>
              <a:rPr lang="en-US" sz="1800" dirty="0">
                <a:latin typeface="Calibri"/>
                <a:ea typeface="Calibri"/>
                <a:cs typeface="Calibri"/>
              </a:rPr>
              <a:t>Excellent for continuous data — elevation, temperature, satellite imagery, rainfall </a:t>
            </a:r>
          </a:p>
          <a:p>
            <a:pPr marL="0">
              <a:lnSpc>
                <a:spcPct val="100000"/>
              </a:lnSpc>
            </a:pPr>
            <a:r>
              <a:rPr lang="en-US" sz="1800" dirty="0">
                <a:latin typeface="Calibri"/>
                <a:ea typeface="Calibri"/>
                <a:cs typeface="Calibri"/>
              </a:rPr>
              <a:t>Simple data structure — just a grid of values, easy to process mathematically</a:t>
            </a:r>
          </a:p>
          <a:p>
            <a:pPr marL="0">
              <a:lnSpc>
                <a:spcPct val="100000"/>
              </a:lnSpc>
            </a:pPr>
            <a:r>
              <a:rPr lang="en-US" sz="1800" dirty="0">
                <a:latin typeface="Calibri"/>
                <a:ea typeface="Calibri"/>
                <a:cs typeface="Calibri"/>
              </a:rPr>
              <a:t xml:space="preserve">Fast for certain types of spatial analysis (overlay, map algebra, </a:t>
            </a:r>
            <a:r>
              <a:rPr lang="en-US" sz="1800" dirty="0">
                <a:latin typeface="Calibri"/>
                <a:ea typeface="Calibri"/>
                <a:cs typeface="Calibri"/>
                <a:highlight>
                  <a:srgbClr val="FFFF00"/>
                </a:highlight>
              </a:rPr>
              <a:t xml:space="preserve">surface modeling).
Naturally suited</a:t>
            </a:r>
            <a:r>
              <a:rPr lang="en-US" sz="1800" dirty="0">
                <a:latin typeface="Calibri"/>
                <a:ea typeface="Calibri"/>
                <a:cs typeface="Calibri"/>
              </a:rPr>
              <a:t xml:space="preserve"> to remote sensing and satellite/drone imagery</a:t>
            </a:r>
          </a:p>
          <a:p>
            <a:pPr marL="0">
              <a:lnSpc>
                <a:spcPct val="100000"/>
              </a:lnSpc>
            </a:pPr>
            <a:r>
              <a:rPr lang="en-US" sz="1800" dirty="0">
                <a:latin typeface="Calibri"/>
                <a:ea typeface="Calibri"/>
                <a:cs typeface="Calibri"/>
              </a:rPr>
              <a:t>Uniform structure makes it easy to combine multiple raster layers cell-by-cell</a:t>
            </a:r>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16  /  51</a:t>
            </a:r>
          </a:p>
        </p:txBody>
      </p:sp>
    </p:spTree>
    <p:extLst>
      <p:ext uri="{BB962C8B-B14F-4D97-AF65-F5344CB8AC3E}">
        <p14:creationId xmlns:p14="http://schemas.microsoft.com/office/powerpoint/2010/main" val="3037076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74933-77D9-291C-C4D3-3CE2939D3DE0}"/>
              </a:ext>
            </a:extLst>
          </p:cNvPr>
          <p:cNvSpPr>
            <a:spLocks noGrp="1"/>
          </p:cNvSpPr>
          <p:nvPr>
            <p:ph type="title"/>
          </p:nvPr>
        </p:nvSpPr>
        <p:spPr>
          <a:xfrm>
            <a:off x="544286" y="286317"/>
            <a:ext cx="10515600" cy="1325563"/>
          </a:xfrm>
        </p:spPr>
        <p:txBody>
          <a:bodyPr/>
          <a:lstStyle/>
          <a:p>
            <a:r>
              <a:rPr lang="en-US" dirty="0" sz="3200" b="1">
                <a:latin typeface="Calibri"/>
                <a:ea typeface="Calibri"/>
                <a:cs typeface="Calibri"/>
                <a:highlight>
                  <a:srgbClr val="FFFF00"/>
                </a:highlight>
              </a:rPr>
              <a:t xml:space="preserve">Vector Data Format</a:t>
            </a:r>
          </a:p>
        </p:txBody>
      </p:sp>
      <p:sp>
        <p:nvSpPr>
          <p:cNvPr id="3" name="Content Placeholder 2">
            <a:extLst>
              <a:ext uri="{FF2B5EF4-FFF2-40B4-BE49-F238E27FC236}">
                <a16:creationId xmlns:a16="http://schemas.microsoft.com/office/drawing/2014/main" id="{3376B6E2-EF7D-5F6E-6806-CF070EDBB386}"/>
              </a:ext>
            </a:extLst>
          </p:cNvPr>
          <p:cNvSpPr>
            <a:spLocks noGrp="1"/>
          </p:cNvSpPr>
          <p:nvPr>
            <p:ph idx="1"/>
          </p:nvPr>
        </p:nvSpPr>
        <p:spPr>
          <a:xfrm>
            <a:off x="544286" y="1342421"/>
            <a:ext cx="5704115" cy="4351338"/>
          </a:xfrm>
        </p:spPr>
        <p:txBody>
          <a:bodyPr/>
          <a:lstStyle/>
          <a:p>
            <a:pPr marL="0" indent="0">
              <a:buNone/>
            </a:pPr>
            <a:r>
              <a:rPr lang="en-US" sz="1800" dirty="0">
                <a:latin typeface="Calibri"/>
                <a:ea typeface="Calibri"/>
                <a:cs typeface="Calibri"/>
                <a:highlight>
                  <a:srgbClr val="FFFF00"/>
                </a:highlight>
              </a:rPr>
              <a:t xml:space="preserve">In vector data, objects are represented</a:t>
            </a:r>
            <a:r>
              <a:rPr lang="en-US" sz="1800" dirty="0">
                <a:latin typeface="Calibri"/>
                <a:ea typeface="Calibri"/>
                <a:cs typeface="Calibri"/>
              </a:rPr>
              <a:t xml:space="preserve"> as points, lines or polygons, whose positions are precisely specified. </a:t>
            </a:r>
          </a:p>
        </p:txBody>
      </p:sp>
      <p:pic>
        <p:nvPicPr>
          <p:cNvPr id="4" name="Picture 3" descr="GIS in R: Intro to Vector Format Spatial Data - Points, Lines and ...">
            <a:extLst>
              <a:ext uri="{FF2B5EF4-FFF2-40B4-BE49-F238E27FC236}">
                <a16:creationId xmlns:a16="http://schemas.microsoft.com/office/drawing/2014/main" id="{552B2ECD-13EC-A706-E202-C659B0AD64E9}"/>
              </a:ext>
            </a:extLst>
          </p:cNvPr>
          <p:cNvPicPr>
            <a:picLocks noChangeAspect="1"/>
          </p:cNvPicPr>
          <p:nvPr/>
        </p:nvPicPr>
        <p:blipFill>
          <a:blip r:embed="rId2"/>
          <a:srcRect l="4659" t="3017" r="3589" b="3862"/>
          <a:stretch>
            <a:fillRect/>
          </a:stretch>
        </p:blipFill>
        <p:spPr>
          <a:xfrm>
            <a:off x="7977099" y="1002091"/>
            <a:ext cx="4138701" cy="4244823"/>
          </a:xfrm>
          <a:prstGeom prst="rect">
            <a:avLst/>
          </a:prstGeom>
        </p:spPr>
      </p:pic>
      <p:sp>
        <p:nvSpPr>
          <p:cNvPr id="6" name="TextBox 5">
            <a:extLst>
              <a:ext uri="{FF2B5EF4-FFF2-40B4-BE49-F238E27FC236}">
                <a16:creationId xmlns:a16="http://schemas.microsoft.com/office/drawing/2014/main" id="{CD681CD4-758C-50CA-E837-2820CB8C1BB1}"/>
              </a:ext>
            </a:extLst>
          </p:cNvPr>
          <p:cNvSpPr txBox="1"/>
          <p:nvPr/>
        </p:nvSpPr>
        <p:spPr>
          <a:xfrm>
            <a:off x="446314" y="1881339"/>
            <a:ext cx="7717971" cy="5078313"/>
          </a:xfrm>
          <a:prstGeom prst="rect">
            <a:avLst/>
          </a:prstGeom>
          <a:noFill/>
        </p:spPr>
        <p:txBody>
          <a:bodyPr wrap="square">
            <a:spAutoFit/>
          </a:bodyPr>
          <a:lstStyle/>
          <a:p>
            <a:pPr rtl="0">
              <a:buNone/>
            </a:pPr>
            <a:r>
              <a:rPr lang="en-US" b="1" dirty="0" sz="1800">
                <a:latin typeface="Calibri"/>
                <a:ea typeface="Calibri"/>
                <a:cs typeface="Calibri"/>
              </a:rPr>
              <a:t>Advantages:</a:t>
            </a:r>
          </a:p>
          <a:p>
            <a:pPr rtl="0">
              <a:buFont typeface="Arial" panose="020B0604020202020204" pitchFamily="34" charset="0"/>
              <a:buChar char="•"/>
            </a:pPr>
            <a:r>
              <a:rPr lang="en-US" dirty="0" sz="1800">
                <a:latin typeface="Calibri"/>
                <a:ea typeface="Calibri"/>
                <a:cs typeface="Calibri"/>
              </a:rPr>
              <a:t>High precision — exact coordinates give sharp, accurate boundaries</a:t>
            </a:r>
          </a:p>
          <a:p>
            <a:pPr rtl="0">
              <a:buFont typeface="Arial" panose="020B0604020202020204" pitchFamily="34" charset="0"/>
              <a:buChar char="•"/>
            </a:pPr>
            <a:r>
              <a:rPr lang="en-US" dirty="0" sz="1800">
                <a:latin typeface="Calibri"/>
                <a:ea typeface="Calibri"/>
                <a:cs typeface="Calibri"/>
              </a:rPr>
              <a:t>Compact file size — only stores geometry + attributes, not every point in space</a:t>
            </a:r>
          </a:p>
          <a:p>
            <a:pPr rtl="0">
              <a:buFont typeface="Arial" panose="020B0604020202020204" pitchFamily="34" charset="0"/>
              <a:buChar char="•"/>
            </a:pPr>
            <a:r>
              <a:rPr lang="en-US" dirty="0" sz="1800">
                <a:latin typeface="Calibri"/>
                <a:ea typeface="Calibri"/>
                <a:cs typeface="Calibri"/>
              </a:rPr>
              <a:t>Easy to attach rich attribute data (tables) to each feature</a:t>
            </a:r>
          </a:p>
          <a:p>
            <a:pPr rtl="0">
              <a:buFont typeface="Arial" panose="020B0604020202020204" pitchFamily="34" charset="0"/>
              <a:buChar char="•"/>
            </a:pPr>
            <a:r>
              <a:rPr lang="en-US" dirty="0" sz="1800">
                <a:latin typeface="Calibri"/>
                <a:ea typeface="Calibri"/>
                <a:cs typeface="Calibri"/>
              </a:rPr>
              <a:t>Ideal for network analysis (routing, connectivity) since features are discrete and topological</a:t>
            </a:r>
          </a:p>
          <a:p>
            <a:pPr rtl="0">
              <a:buFont typeface="Arial" panose="020B0604020202020204" pitchFamily="34" charset="0"/>
              <a:buChar char="•"/>
            </a:pPr>
            <a:r>
              <a:rPr lang="en-US" dirty="0" sz="1800">
                <a:latin typeface="Calibri"/>
                <a:ea typeface="Calibri"/>
                <a:cs typeface="Calibri"/>
              </a:rPr>
              <a:t>Scales well — zooming in doesn't lose detail or create pixelation</a:t>
            </a:r>
          </a:p>
          <a:p>
            <a:pPr rtl="0">
              <a:buFont typeface="Arial" panose="020B0604020202020204" pitchFamily="34" charset="0"/>
              <a:buChar char="•"/>
            </a:pPr>
            <a:r>
              <a:rPr lang="en-US" dirty="0" sz="1800">
                <a:latin typeface="Calibri"/>
                <a:ea typeface="Calibri"/>
                <a:cs typeface="Calibri"/>
              </a:rPr>
              <a:t>Easy to edit individual features without affecting the whole dataset</a:t>
            </a:r>
          </a:p>
          <a:p>
            <a:pPr rtl="0">
              <a:buNone/>
            </a:pPr>
            <a:r>
              <a:rPr lang="en-US" b="1" dirty="0" sz="1800">
                <a:latin typeface="Calibri"/>
                <a:ea typeface="Calibri"/>
                <a:cs typeface="Calibri"/>
              </a:rPr>
              <a:t>Disadvantages:</a:t>
            </a:r>
          </a:p>
          <a:p>
            <a:pPr rtl="0">
              <a:buFont typeface="Arial" panose="020B0604020202020204" pitchFamily="34" charset="0"/>
              <a:buChar char="•"/>
            </a:pPr>
            <a:r>
              <a:rPr lang="en-US" dirty="0" sz="1800">
                <a:latin typeface="Calibri"/>
                <a:ea typeface="Calibri"/>
                <a:cs typeface="Calibri"/>
              </a:rPr>
              <a:t>Poor at representing continuous phenomena (elevation, temperature, rainfall) — everything must be broken into discrete shapes</a:t>
            </a:r>
          </a:p>
          <a:p>
            <a:pPr rtl="0">
              <a:buFont typeface="Arial" panose="020B0604020202020204" pitchFamily="34" charset="0"/>
              <a:buChar char="•"/>
            </a:pPr>
            <a:r>
              <a:rPr lang="en-US" dirty="0" sz="1800">
                <a:latin typeface="Calibri"/>
                <a:ea typeface="Calibri"/>
                <a:cs typeface="Calibri"/>
              </a:rPr>
              <a:t>Complex overlay/analysis operations (e.g. combining many polygon layers) can be computationally expensive</a:t>
            </a:r>
          </a:p>
          <a:p>
            <a:pPr rtl="0">
              <a:buFont typeface="Arial" panose="020B0604020202020204" pitchFamily="34" charset="0"/>
              <a:buChar char="•"/>
            </a:pPr>
            <a:r>
              <a:rPr lang="en-US" dirty="0" sz="1800">
                <a:latin typeface="Calibri"/>
                <a:ea typeface="Calibri"/>
                <a:cs typeface="Calibri"/>
              </a:rPr>
              <a:t>Doesn't handle "fuzzy" or gradually-changing boundaries well (e.g. soil transition zones)</a:t>
            </a:r>
          </a:p>
          <a:p>
            <a:pPr rtl="0">
              <a:buFont typeface="Arial" panose="020B0604020202020204" pitchFamily="34" charset="0"/>
              <a:buChar char="•"/>
            </a:pPr>
            <a:r>
              <a:rPr lang="en-US" dirty="0" sz="1800">
                <a:latin typeface="Calibri"/>
                <a:ea typeface="Calibri"/>
                <a:cs typeface="Calibri"/>
              </a:rPr>
              <a:t>Requires more complex data structures and topology rules to maintain validity</a:t>
            </a:r>
          </a:p>
        </p:txBody>
      </p:sp>
      <p:sp>
        <p:nvSpPr>
          <p:cNvPr id="7" name="TextBox 6"/>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14  /  51</a:t>
            </a:r>
          </a:p>
        </p:txBody>
      </p:sp>
    </p:spTree>
    <p:extLst>
      <p:ext uri="{BB962C8B-B14F-4D97-AF65-F5344CB8AC3E}">
        <p14:creationId xmlns:p14="http://schemas.microsoft.com/office/powerpoint/2010/main" val="1607184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DFA9C-A9B5-BE4E-7C54-0DE791ED82A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AB7A83-B718-1B48-E9E5-8D7208B7EE54}"/>
              </a:ext>
            </a:extLst>
          </p:cNvPr>
          <p:cNvSpPr>
            <a:spLocks noGrp="1"/>
          </p:cNvSpPr>
          <p:nvPr>
            <p:ph idx="1"/>
          </p:nvPr>
        </p:nvSpPr>
        <p:spPr>
          <a:xfrm>
            <a:off x="699054" y="616935"/>
            <a:ext cx="10443760" cy="3435531"/>
          </a:xfrm>
        </p:spPr>
        <p:txBody>
          <a:bodyPr anchor="ctr">
            <a:normAutofit/>
          </a:bodyPr>
          <a:lstStyle/>
          <a:p>
            <a:pPr marL="0" indent="0">
              <a:buNone/>
            </a:pPr>
            <a:endParaRPr lang="en-US" sz="2400" dirty="0"/>
          </a:p>
          <a:p>
            <a:pPr marL="0" indent="0">
              <a:buNone/>
            </a:pPr>
            <a:endParaRPr lang="en-US" sz="2400" dirty="0"/>
          </a:p>
        </p:txBody>
      </p:sp>
      <p:sp>
        <p:nvSpPr>
          <p:cNvPr id="4" name="Title 1">
            <a:extLst>
              <a:ext uri="{FF2B5EF4-FFF2-40B4-BE49-F238E27FC236}">
                <a16:creationId xmlns:a16="http://schemas.microsoft.com/office/drawing/2014/main" id="{0E3B470C-9ECD-C5B6-B3D3-3EF2A48E494E}"/>
              </a:ext>
            </a:extLst>
          </p:cNvPr>
          <p:cNvSpPr txBox="1">
            <a:spLocks/>
          </p:cNvSpPr>
          <p:nvPr/>
        </p:nvSpPr>
        <p:spPr>
          <a:xfrm>
            <a:off x="793662" y="386930"/>
            <a:ext cx="10066122" cy="129844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b="1">
                <a:latin typeface="Calibri"/>
                <a:ea typeface="Calibri"/>
                <a:cs typeface="Calibri"/>
              </a:rPr>
              <a:t>Coordinate System</a:t>
            </a:r>
          </a:p>
        </p:txBody>
      </p:sp>
      <p:sp>
        <p:nvSpPr>
          <p:cNvPr id="9" name="TextBox 8">
            <a:extLst>
              <a:ext uri="{FF2B5EF4-FFF2-40B4-BE49-F238E27FC236}">
                <a16:creationId xmlns:a16="http://schemas.microsoft.com/office/drawing/2014/main" id="{6DC1620C-D7EC-585E-8E43-7EC6D6F355E8}"/>
              </a:ext>
            </a:extLst>
          </p:cNvPr>
          <p:cNvSpPr txBox="1"/>
          <p:nvPr/>
        </p:nvSpPr>
        <p:spPr>
          <a:xfrm>
            <a:off x="699054" y="2085181"/>
            <a:ext cx="10255338" cy="1569660"/>
          </a:xfrm>
          <a:prstGeom prst="rect">
            <a:avLst/>
          </a:prstGeom>
          <a:noFill/>
        </p:spPr>
        <p:txBody>
          <a:bodyPr wrap="square">
            <a:spAutoFit/>
          </a:bodyPr>
          <a:lstStyle/>
          <a:p>
            <a:r>
              <a:rPr lang="en-US" sz="1800" dirty="0">
                <a:latin typeface="Calibri"/>
                <a:ea typeface="Calibri"/>
                <a:cs typeface="Calibri"/>
              </a:rPr>
              <a:t>Coordinate systems enable geographic datasets to use common locations for integration. A coordinate system is a reference system used to represent the locations of geographic features, imagery, and observations such as GPS locations within a common geographic framework</a:t>
            </a:r>
          </a:p>
        </p:txBody>
      </p:sp>
      <p:graphicFrame>
        <p:nvGraphicFramePr>
          <p:cNvPr id="2" name="Table 1">
            <a:extLst>
              <a:ext uri="{FF2B5EF4-FFF2-40B4-BE49-F238E27FC236}">
                <a16:creationId xmlns:a16="http://schemas.microsoft.com/office/drawing/2014/main" id="{1D176B1C-4E21-8E50-D105-4348B0F16A0C}"/>
              </a:ext>
            </a:extLst>
          </p:cNvPr>
          <p:cNvGraphicFramePr>
            <a:graphicFrameLocks noGrp="1"/>
          </p:cNvGraphicFramePr>
          <p:nvPr>
            <p:extLst>
              <p:ext uri="{D42A27DB-BD31-4B8C-83A1-F6EECF244321}">
                <p14:modId xmlns:p14="http://schemas.microsoft.com/office/powerpoint/2010/main" val="741375751"/>
              </p:ext>
            </p:extLst>
          </p:nvPr>
        </p:nvGraphicFramePr>
        <p:xfrm>
          <a:off x="902519" y="3775467"/>
          <a:ext cx="8556171" cy="2110740"/>
        </p:xfrm>
        <a:graphic>
          <a:graphicData uri="http://schemas.openxmlformats.org/drawingml/2006/table">
            <a:tbl>
              <a:tblPr/>
              <a:tblGrid>
                <a:gridCol w="2852057">
                  <a:extLst>
                    <a:ext uri="{9D8B030D-6E8A-4147-A177-3AD203B41FA5}">
                      <a16:colId xmlns:a16="http://schemas.microsoft.com/office/drawing/2014/main" val="361274904"/>
                    </a:ext>
                  </a:extLst>
                </a:gridCol>
                <a:gridCol w="2852057">
                  <a:extLst>
                    <a:ext uri="{9D8B030D-6E8A-4147-A177-3AD203B41FA5}">
                      <a16:colId xmlns:a16="http://schemas.microsoft.com/office/drawing/2014/main" val="4138721464"/>
                    </a:ext>
                  </a:extLst>
                </a:gridCol>
                <a:gridCol w="2852057">
                  <a:extLst>
                    <a:ext uri="{9D8B030D-6E8A-4147-A177-3AD203B41FA5}">
                      <a16:colId xmlns:a16="http://schemas.microsoft.com/office/drawing/2014/main" val="2632136562"/>
                    </a:ext>
                  </a:extLst>
                </a:gridCol>
              </a:tblGrid>
              <a:tr h="0">
                <a:tc>
                  <a:txBody>
                    <a:bodyPr/>
                    <a:lstStyle/>
                    <a:p>
                      <a:pPr algn="l" fontAlgn="t">
                        <a:buNone/>
                      </a:pPr>
                      <a:endParaRPr lang="en-US" b="0" dirty="0">
                        <a:effectLst/>
                      </a:endParaRPr>
                    </a:p>
                  </a:txBody>
                  <a:tcPr marL="57150" marR="57150" marT="31750" marB="31750">
                    <a:lnL>
                      <a:noFill/>
                    </a:lnL>
                    <a:lnR>
                      <a:noFill/>
                    </a:lnR>
                    <a:lnT>
                      <a:noFill/>
                    </a:lnT>
                    <a:lnB>
                      <a:noFill/>
                    </a:lnB>
                    <a:noFill/>
                  </a:tcPr>
                </a:tc>
                <a:tc>
                  <a:txBody>
                    <a:bodyPr/>
                    <a:lstStyle/>
                    <a:p>
                      <a:pPr algn="l" fontAlgn="t">
                        <a:buNone/>
                      </a:pPr>
                      <a:endParaRPr lang="en-US" b="0" dirty="0">
                        <a:effectLst/>
                      </a:endParaRPr>
                    </a:p>
                  </a:txBody>
                  <a:tcPr marL="57150" marR="57150" marT="31750" marB="31750">
                    <a:lnL>
                      <a:noFill/>
                    </a:lnL>
                    <a:lnR>
                      <a:noFill/>
                    </a:lnR>
                    <a:lnT>
                      <a:noFill/>
                    </a:lnT>
                    <a:lnB>
                      <a:noFill/>
                    </a:lnB>
                    <a:noFill/>
                  </a:tcPr>
                </a:tc>
                <a:tc>
                  <a:txBody>
                    <a:bodyPr/>
                    <a:lstStyle/>
                    <a:p>
                      <a:pPr algn="l" fontAlgn="t">
                        <a:buNone/>
                      </a:pPr>
                      <a:endParaRPr lang="en-US" b="0" dirty="0">
                        <a:effectLst/>
                      </a:endParaRPr>
                    </a:p>
                  </a:txBody>
                  <a:tcPr marL="57150" marR="57150" marT="31750" marB="31750">
                    <a:lnL>
                      <a:noFill/>
                    </a:lnL>
                    <a:lnR>
                      <a:noFill/>
                    </a:lnR>
                    <a:lnT>
                      <a:noFill/>
                    </a:lnT>
                    <a:lnB>
                      <a:noFill/>
                    </a:lnB>
                    <a:noFill/>
                  </a:tcPr>
                </a:tc>
                <a:extLst>
                  <a:ext uri="{0D108BD9-81ED-4DB2-BD59-A6C34878D82A}">
                    <a16:rowId xmlns:a16="http://schemas.microsoft.com/office/drawing/2014/main" val="4206671389"/>
                  </a:ext>
                </a:extLst>
              </a:tr>
              <a:tr h="0">
                <a:tc>
                  <a:txBody>
                    <a:bodyPr/>
                    <a:lstStyle/>
                    <a:p>
                      <a:pPr algn="l" fontAlgn="t" latinLnBrk="0">
                        <a:buNone/>
                      </a:pPr>
                      <a:r>
                        <a:rPr lang="en-US" b="1" dirty="0" sz="1400">
                          <a:effectLst/>
                          <a:latin typeface="Calibri"/>
                          <a:ea typeface="Calibri"/>
                          <a:cs typeface="Calibri"/>
                        </a:rPr>
                        <a:t>Latitude</a:t>
                      </a:r>
                      <a:endParaRPr lang="en-US" dirty="0">
                        <a:effectLst/>
                      </a:endParaRPr>
                    </a:p>
                  </a:txBody>
                  <a:tcPr marL="57150" marR="57150" marT="31750" marB="31750">
                    <a:lnL>
                      <a:noFill/>
                    </a:lnL>
                    <a:lnR>
                      <a:noFill/>
                    </a:lnR>
                    <a:lnT>
                      <a:noFill/>
                    </a:lnT>
                    <a:lnB>
                      <a:noFill/>
                    </a:lnB>
                    <a:noFill/>
                  </a:tcPr>
                </a:tc>
                <a:tc>
                  <a:txBody>
                    <a:bodyPr/>
                    <a:lstStyle/>
                    <a:p>
                      <a:pPr algn="l" fontAlgn="t" latinLnBrk="0">
                        <a:buNone/>
                      </a:pPr>
                      <a:r>
                        <a:rPr lang="en-US" dirty="0" sz="1400">
                          <a:effectLst/>
                          <a:latin typeface="Calibri"/>
                          <a:ea typeface="Calibri"/>
                          <a:cs typeface="Calibri"/>
                        </a:rPr>
                        <a:t xml:space="preserve">How far north or south you are from the equator</a:t>
                      </a:r>
                    </a:p>
                  </a:txBody>
                  <a:tcPr marL="57150" marR="57150" marT="31750" marB="31750">
                    <a:lnL>
                      <a:noFill/>
                    </a:lnL>
                    <a:lnR>
                      <a:noFill/>
                    </a:lnR>
                    <a:lnT>
                      <a:noFill/>
                    </a:lnT>
                    <a:lnB>
                      <a:noFill/>
                    </a:lnB>
                    <a:noFill/>
                  </a:tcPr>
                </a:tc>
                <a:tc>
                  <a:txBody>
                    <a:bodyPr/>
                    <a:lstStyle/>
                    <a:p>
                      <a:pPr algn="l" fontAlgn="t" latinLnBrk="0">
                        <a:buNone/>
                      </a:pPr>
                      <a:r>
                        <a:rPr lang="en-US" dirty="0" sz="1400">
                          <a:effectLst/>
                          <a:latin typeface="Calibri"/>
                          <a:ea typeface="Calibri"/>
                          <a:cs typeface="Calibri"/>
                        </a:rPr>
                        <a:t>~34.5° N</a:t>
                      </a:r>
                    </a:p>
                  </a:txBody>
                  <a:tcPr marL="57150" marR="57150" marT="31750" marB="31750">
                    <a:lnL>
                      <a:noFill/>
                    </a:lnL>
                    <a:lnR>
                      <a:noFill/>
                    </a:lnR>
                    <a:lnT>
                      <a:noFill/>
                    </a:lnT>
                    <a:lnB>
                      <a:noFill/>
                    </a:lnB>
                    <a:noFill/>
                  </a:tcPr>
                </a:tc>
                <a:extLst>
                  <a:ext uri="{0D108BD9-81ED-4DB2-BD59-A6C34878D82A}">
                    <a16:rowId xmlns:a16="http://schemas.microsoft.com/office/drawing/2014/main" val="2699019641"/>
                  </a:ext>
                </a:extLst>
              </a:tr>
              <a:tr h="0">
                <a:tc>
                  <a:txBody>
                    <a:bodyPr/>
                    <a:lstStyle/>
                    <a:p>
                      <a:pPr algn="l" fontAlgn="t" latinLnBrk="0">
                        <a:buNone/>
                      </a:pPr>
                      <a:r>
                        <a:rPr lang="en-US" b="1" dirty="0" sz="1400">
                          <a:effectLst/>
                          <a:latin typeface="Calibri"/>
                          <a:ea typeface="Calibri"/>
                          <a:cs typeface="Calibri"/>
                        </a:rPr>
                        <a:t>Longitude</a:t>
                      </a:r>
                      <a:endParaRPr lang="en-US" dirty="0">
                        <a:effectLst/>
                      </a:endParaRPr>
                    </a:p>
                  </a:txBody>
                  <a:tcPr marL="57150" marR="57150" marT="31750" marB="31750">
                    <a:lnL>
                      <a:noFill/>
                    </a:lnL>
                    <a:lnR>
                      <a:noFill/>
                    </a:lnR>
                    <a:lnT>
                      <a:noFill/>
                    </a:lnT>
                    <a:lnB>
                      <a:noFill/>
                    </a:lnB>
                    <a:noFill/>
                  </a:tcPr>
                </a:tc>
                <a:tc>
                  <a:txBody>
                    <a:bodyPr/>
                    <a:lstStyle/>
                    <a:p>
                      <a:pPr algn="l" fontAlgn="t" latinLnBrk="0">
                        <a:buNone/>
                      </a:pPr>
                      <a:r>
                        <a:rPr lang="en-US" dirty="0" sz="1400">
                          <a:effectLst/>
                          <a:latin typeface="Calibri"/>
                          <a:ea typeface="Calibri"/>
                          <a:cs typeface="Calibri"/>
                        </a:rPr>
                        <a:t xml:space="preserve">How far east or west you are from Greenwich, UK (like vertical slices of the orange)</a:t>
                      </a:r>
                    </a:p>
                  </a:txBody>
                  <a:tcPr marL="57150" marR="57150" marT="31750" marB="31750">
                    <a:lnL>
                      <a:noFill/>
                    </a:lnL>
                    <a:lnR>
                      <a:noFill/>
                    </a:lnR>
                    <a:lnT>
                      <a:noFill/>
                    </a:lnT>
                    <a:lnB>
                      <a:noFill/>
                    </a:lnB>
                    <a:noFill/>
                  </a:tcPr>
                </a:tc>
                <a:tc>
                  <a:txBody>
                    <a:bodyPr/>
                    <a:lstStyle/>
                    <a:p>
                      <a:pPr algn="l" fontAlgn="t" latinLnBrk="0">
                        <a:buNone/>
                      </a:pPr>
                      <a:r>
                        <a:rPr lang="en-US" dirty="0" sz="1400">
                          <a:effectLst/>
                          <a:latin typeface="Calibri"/>
                          <a:ea typeface="Calibri"/>
                          <a:cs typeface="Calibri"/>
                        </a:rPr>
                        <a:t>~69.2°</a:t>
                      </a:r>
                    </a:p>
                  </a:txBody>
                  <a:tcPr marL="57150" marR="57150" marT="31750" marB="31750">
                    <a:lnL>
                      <a:noFill/>
                    </a:lnL>
                    <a:lnR>
                      <a:noFill/>
                    </a:lnR>
                    <a:lnT>
                      <a:noFill/>
                    </a:lnT>
                    <a:lnB>
                      <a:noFill/>
                    </a:lnB>
                    <a:noFill/>
                  </a:tcPr>
                </a:tc>
                <a:extLst>
                  <a:ext uri="{0D108BD9-81ED-4DB2-BD59-A6C34878D82A}">
                    <a16:rowId xmlns:a16="http://schemas.microsoft.com/office/drawing/2014/main" val="1219092691"/>
                  </a:ext>
                </a:extLst>
              </a:tr>
            </a:tbl>
          </a:graphicData>
        </a:graphic>
      </p:graphicFrame>
      <p:sp>
        <p:nvSpPr>
          <p:cNvPr id="6" name="TextBox 5">
            <a:extLst>
              <a:ext uri="{FF2B5EF4-FFF2-40B4-BE49-F238E27FC236}">
                <a16:creationId xmlns:a16="http://schemas.microsoft.com/office/drawing/2014/main" id="{C11DFAEE-4946-09B7-AAFE-7FD2D662F958}"/>
              </a:ext>
            </a:extLst>
          </p:cNvPr>
          <p:cNvSpPr txBox="1"/>
          <p:nvPr/>
        </p:nvSpPr>
        <p:spPr>
          <a:xfrm>
            <a:off x="793662" y="3775467"/>
            <a:ext cx="6096000" cy="369332"/>
          </a:xfrm>
          <a:prstGeom prst="rect">
            <a:avLst/>
          </a:prstGeom>
          <a:noFill/>
        </p:spPr>
        <p:txBody>
          <a:bodyPr wrap="square">
            <a:spAutoFit/>
          </a:bodyPr>
          <a:lstStyle/>
          <a:p>
            <a:pPr indent="0" algn="l">
              <a:spcBef>
                <a:spcPts val="750"/>
              </a:spcBef>
              <a:spcAft>
                <a:spcPts val="750"/>
              </a:spcAft>
              <a:buNone/>
            </a:pPr>
            <a:r>
              <a:rPr lang="en-US" sz="1800" b="0" i="0" dirty="0">
                <a:solidFill>
                  <a:srgbClr val="141414"/>
                </a:solidFill>
                <a:effectLst/>
                <a:latin typeface="Calibri"/>
                <a:ea typeface="Calibri"/>
                <a:cs typeface="Calibri"/>
              </a:rPr>
              <a:t>Every place has an address using </a:t>
            </a:r>
            <a:r>
              <a:rPr lang="en-US" sz="1800" b="1" i="0" dirty="0">
                <a:solidFill>
                  <a:srgbClr val="141414"/>
                </a:solidFill>
                <a:effectLst/>
                <a:latin typeface="Calibri"/>
                <a:ea typeface="Calibri"/>
                <a:cs typeface="Calibri"/>
              </a:rPr>
              <a:t>coordinates</a:t>
            </a:r>
            <a:r>
              <a:rPr lang="en-US" sz="1800" b="0" i="0" dirty="0">
                <a:solidFill>
                  <a:srgbClr val="141414"/>
                </a:solidFill>
                <a:effectLst/>
                <a:latin typeface="Calibri"/>
                <a:ea typeface="Calibri"/>
                <a:cs typeface="Calibri"/>
              </a:rPr>
              <a:t>:</a:t>
            </a:r>
          </a:p>
        </p:txBody>
      </p:sp>
      <p:sp>
        <p:nvSpPr>
          <p:cNvPr id="10" name="TextBox 9"/>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18  /  51</a:t>
            </a:r>
          </a:p>
        </p:txBody>
      </p:sp>
    </p:spTree>
    <p:extLst>
      <p:ext uri="{BB962C8B-B14F-4D97-AF65-F5344CB8AC3E}">
        <p14:creationId xmlns:p14="http://schemas.microsoft.com/office/powerpoint/2010/main" val="2042082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AC7265C-533E-8F4F-6757-D1AD5C631A11}"/>
              </a:ext>
            </a:extLst>
          </p:cNvPr>
          <p:cNvSpPr txBox="1">
            <a:spLocks/>
          </p:cNvSpPr>
          <p:nvPr/>
        </p:nvSpPr>
        <p:spPr>
          <a:xfrm>
            <a:off x="579809" y="399455"/>
            <a:ext cx="10066122" cy="129844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b="1">
                <a:latin typeface="Calibri"/>
                <a:ea typeface="Calibri"/>
                <a:cs typeface="Calibri"/>
                <a:highlight>
                  <a:srgbClr val="FFFF00"/>
                </a:highlight>
              </a:rPr>
              <a:t xml:space="preserve">What Is the Shape of the Earth?</a:t>
            </a:r>
          </a:p>
        </p:txBody>
      </p:sp>
      <p:sp>
        <p:nvSpPr>
          <p:cNvPr id="13" name="Content Placeholder 12">
            <a:extLst>
              <a:ext uri="{FF2B5EF4-FFF2-40B4-BE49-F238E27FC236}">
                <a16:creationId xmlns:a16="http://schemas.microsoft.com/office/drawing/2014/main" id="{A9BC8337-8281-7A11-0529-D5A17E4A9EF0}"/>
              </a:ext>
            </a:extLst>
          </p:cNvPr>
          <p:cNvSpPr>
            <a:spLocks noGrp="1"/>
          </p:cNvSpPr>
          <p:nvPr>
            <p:ph idx="1"/>
          </p:nvPr>
        </p:nvSpPr>
        <p:spPr>
          <a:xfrm>
            <a:off x="579809" y="1803853"/>
            <a:ext cx="5777448" cy="4351338"/>
          </a:xfrm>
        </p:spPr>
        <p:txBody>
          <a:bodyPr/>
          <a:lstStyle/>
          <a:p>
            <a:pPr marL="0" indent="0">
              <a:buNone/>
            </a:pPr>
            <a:r>
              <a:rPr lang="en-US" sz="1800" dirty="0">
                <a:latin typeface="Calibri"/>
                <a:ea typeface="Calibri"/>
                <a:cs typeface="Calibri"/>
                <a:highlight>
                  <a:srgbClr val="FFFF00"/>
                </a:highlight>
              </a:rPr>
              <a:t xml:space="preserve">Earth is not a perfect sphere (like a football). A smooth mathematical model of Earth is an ellipsoid (spheroid) — slightly squashed at the poles. The true gravity surface is the geoid.</a:t>
            </a:r>
          </a:p>
          <a:p>
            <a:pPr marL="0" indent="0">
              <a:buNone/>
            </a:pPr>
            <a:r>
              <a:rPr lang="en-US" sz="1800" dirty="0">
                <a:latin typeface="Calibri"/>
                <a:ea typeface="Calibri"/>
                <a:cs typeface="Calibri"/>
                <a:highlight>
                  <a:srgbClr val="FFFF00"/>
                </a:highlight>
              </a:rPr>
              <a:t xml:space="preserve">Polar diameter (north–south): ~12,714 km. Equatorial diameter (east–west): ~12,756 km. The difference is ~42 km.</a:t>
            </a:r>
          </a:p>
        </p:txBody>
      </p:sp>
      <p:pic>
        <p:nvPicPr>
          <p:cNvPr id="14" name="Picture 13" descr="Earth's Structure: A Simple Exploration (Video)">
            <a:extLst>
              <a:ext uri="{FF2B5EF4-FFF2-40B4-BE49-F238E27FC236}">
                <a16:creationId xmlns:a16="http://schemas.microsoft.com/office/drawing/2014/main" id="{5668B970-9B6A-9D3F-E58F-0B549979E119}"/>
              </a:ext>
            </a:extLst>
          </p:cNvPr>
          <p:cNvPicPr>
            <a:picLocks noChangeAspect="1"/>
          </p:cNvPicPr>
          <p:nvPr/>
        </p:nvPicPr>
        <p:blipFill>
          <a:blip r:embed="rId2"/>
          <a:srcRect l="22738" t="8576" r="21548" b="6826"/>
          <a:stretch>
            <a:fillRect/>
          </a:stretch>
        </p:blipFill>
        <p:spPr>
          <a:xfrm>
            <a:off x="8214553" y="279998"/>
            <a:ext cx="3320145" cy="2835809"/>
          </a:xfrm>
          <a:prstGeom prst="rect">
            <a:avLst/>
          </a:prstGeom>
          <a:solidFill>
            <a:schemeClr val="bg1"/>
          </a:solidFill>
        </p:spPr>
      </p:pic>
      <p:pic>
        <p:nvPicPr>
          <p:cNvPr id="18" name="Picture 17">
            <a:extLst>
              <a:ext uri="{FF2B5EF4-FFF2-40B4-BE49-F238E27FC236}">
                <a16:creationId xmlns:a16="http://schemas.microsoft.com/office/drawing/2014/main" id="{7E10A590-1431-421E-90F1-093EEC6C0600}"/>
              </a:ext>
            </a:extLst>
          </p:cNvPr>
          <p:cNvPicPr>
            <a:picLocks noChangeAspect="1"/>
          </p:cNvPicPr>
          <p:nvPr/>
        </p:nvPicPr>
        <p:blipFill>
          <a:blip r:embed="rId3"/>
          <a:srcRect r="4502"/>
          <a:stretch>
            <a:fillRect/>
          </a:stretch>
        </p:blipFill>
        <p:spPr>
          <a:xfrm>
            <a:off x="6096000" y="3235264"/>
            <a:ext cx="5610050" cy="3156869"/>
          </a:xfrm>
          <a:prstGeom prst="rect">
            <a:avLst/>
          </a:prstGeom>
        </p:spPr>
      </p:pic>
      <p:sp>
        <p:nvSpPr>
          <p:cNvPr id="19" name="TextBox 18"/>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19  /  51</a:t>
            </a:r>
          </a:p>
        </p:txBody>
      </p:sp>
    </p:spTree>
    <p:extLst>
      <p:ext uri="{BB962C8B-B14F-4D97-AF65-F5344CB8AC3E}">
        <p14:creationId xmlns:p14="http://schemas.microsoft.com/office/powerpoint/2010/main" val="3922356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F0AD3-413C-B816-35BF-F077436B938A}"/>
              </a:ext>
            </a:extLst>
          </p:cNvPr>
          <p:cNvSpPr>
            <a:spLocks noGrp="1"/>
          </p:cNvSpPr>
          <p:nvPr>
            <p:ph type="title"/>
          </p:nvPr>
        </p:nvSpPr>
        <p:spPr/>
        <p:txBody>
          <a:bodyPr/>
          <a:lstStyle/>
          <a:p>
            <a:r>
              <a:rPr lang="en-US" dirty="0" sz="3200" b="1">
                <a:latin typeface="Calibri"/>
                <a:ea typeface="Calibri"/>
                <a:cs typeface="Calibri"/>
              </a:rPr>
              <a:t>What is a datum? 🌍</a:t>
            </a:r>
          </a:p>
        </p:txBody>
      </p:sp>
      <p:sp>
        <p:nvSpPr>
          <p:cNvPr id="3" name="Content Placeholder 2">
            <a:extLst>
              <a:ext uri="{FF2B5EF4-FFF2-40B4-BE49-F238E27FC236}">
                <a16:creationId xmlns:a16="http://schemas.microsoft.com/office/drawing/2014/main" id="{1301B2AF-D72A-7CD7-DB51-65F551652B73}"/>
              </a:ext>
            </a:extLst>
          </p:cNvPr>
          <p:cNvSpPr>
            <a:spLocks noGrp="1"/>
          </p:cNvSpPr>
          <p:nvPr>
            <p:ph idx="1"/>
          </p:nvPr>
        </p:nvSpPr>
        <p:spPr>
          <a:xfrm>
            <a:off x="838200" y="1589247"/>
            <a:ext cx="10515600" cy="4351338"/>
          </a:xfrm>
        </p:spPr>
        <p:txBody>
          <a:bodyPr>
            <a:normAutofit fontScale="70000" lnSpcReduction="20000"/>
          </a:bodyPr>
          <a:lstStyle/>
          <a:p>
            <a:pPr marL="0" indent="0">
              <a:buNone/>
            </a:pPr>
            <a:r>
              <a:rPr lang="en-US" dirty="0" sz="1800">
                <a:latin typeface="Calibri"/>
                <a:ea typeface="Calibri"/>
                <a:cs typeface="Calibri"/>
              </a:rPr>
              <a:t>Simple definition: A datum is the model of Earth's shape that coordinates are measured from.</a:t>
            </a:r>
          </a:p>
          <a:p>
            <a:endParaRPr lang="en-US" dirty="0"/>
          </a:p>
          <a:p>
            <a:r>
              <a:rPr lang="en-US" dirty="0" sz="1800">
                <a:latin typeface="Calibri"/>
                <a:ea typeface="Calibri"/>
                <a:cs typeface="Calibri"/>
              </a:rPr>
              <a:t>The size and shape of that football (the ellipsoid)</a:t>
            </a:r>
          </a:p>
          <a:p>
            <a:r>
              <a:rPr lang="en-US" dirty="0" sz="1800">
                <a:latin typeface="Calibri"/>
                <a:ea typeface="Calibri"/>
                <a:cs typeface="Calibri"/>
              </a:rPr>
              <a:t>Where the center of the model sits relative to the real Earth</a:t>
            </a:r>
          </a:p>
          <a:p>
            <a:r>
              <a:rPr lang="en-US" dirty="0" sz="1800">
                <a:latin typeface="Calibri"/>
                <a:ea typeface="Calibri"/>
                <a:cs typeface="Calibri"/>
              </a:rPr>
              <a:t>Analogy: Imagine two people measuring your height:</a:t>
            </a:r>
          </a:p>
          <a:p>
            <a:endParaRPr lang="en-US" dirty="0"/>
          </a:p>
          <a:p>
            <a:pPr marL="0" indent="0">
              <a:buNone/>
            </a:pPr>
            <a:r>
              <a:rPr lang="en-US" dirty="0" sz="1800">
                <a:latin typeface="Calibri"/>
                <a:ea typeface="Calibri"/>
                <a:cs typeface="Calibri"/>
              </a:rPr>
              <a:t>One stands you on the floor → 150 cm</a:t>
            </a:r>
          </a:p>
          <a:p>
            <a:pPr lvl="1"/>
            <a:r>
              <a:rPr lang="en-US" dirty="0" sz="1800">
                <a:latin typeface="Calibri"/>
                <a:ea typeface="Calibri"/>
                <a:cs typeface="Calibri"/>
              </a:rPr>
              <a:t>One stands you on a thick book → 155 cm</a:t>
            </a:r>
          </a:p>
          <a:p>
            <a:pPr lvl="1"/>
            <a:r>
              <a:rPr lang="en-US" dirty="0" sz="1800">
                <a:latin typeface="Calibri"/>
                <a:ea typeface="Calibri"/>
                <a:cs typeface="Calibri"/>
              </a:rPr>
              <a:t>Same person, different starting surface = different number.</a:t>
            </a:r>
          </a:p>
          <a:p>
            <a:pPr lvl="1"/>
            <a:r>
              <a:rPr lang="en-US" dirty="0" sz="1800">
                <a:latin typeface="Calibri"/>
                <a:ea typeface="Calibri"/>
                <a:cs typeface="Calibri"/>
              </a:rPr>
              <a:t>Same real place on Earth, different datum = slightly different coordinates.</a:t>
            </a:r>
          </a:p>
          <a:p>
            <a:r>
              <a:rPr lang="en-US" dirty="0" sz="1800">
                <a:latin typeface="Calibri"/>
                <a:ea typeface="Calibri"/>
                <a:cs typeface="Calibri"/>
              </a:rPr>
              <a:t>Why it matters: If Map A uses one datum and Map B uses another, a hospital, pipeline, or fiber cable can appear hundreds of meters in the wrong place when you overlay them.</a:t>
            </a:r>
          </a:p>
        </p:txBody>
      </p:sp>
      <p:sp>
        <p:nvSpPr>
          <p:cNvPr id="7" name="TextBox 6">
            <a:extLst>
              <a:ext uri="{FF2B5EF4-FFF2-40B4-BE49-F238E27FC236}">
                <a16:creationId xmlns:a16="http://schemas.microsoft.com/office/drawing/2014/main" id="{8A8AFB19-787C-97C0-8F37-68E27AD49F7C}"/>
              </a:ext>
            </a:extLst>
          </p:cNvPr>
          <p:cNvSpPr txBox="1"/>
          <p:nvPr/>
        </p:nvSpPr>
        <p:spPr>
          <a:xfrm>
            <a:off x="838200" y="5294254"/>
            <a:ext cx="9742715" cy="646331"/>
          </a:xfrm>
          <a:prstGeom prst="rect">
            <a:avLst/>
          </a:prstGeom>
          <a:noFill/>
        </p:spPr>
        <p:txBody>
          <a:bodyPr wrap="square">
            <a:spAutoFit/>
          </a:bodyPr>
          <a:lstStyle/>
          <a:p>
            <a:r>
              <a:rPr lang="en-US" dirty="0" sz="1800">
                <a:latin typeface="Calibri"/>
                <a:ea typeface="Calibri"/>
                <a:cs typeface="Calibri"/>
                <a:highlight>
                  <a:srgbClr val="FFFF00"/>
                </a:highlight>
              </a:rPr>
              <a:t xml:space="preserve">These are some examples of different datums used:</a:t>
            </a:r>
            <a:r>
              <a:rPr lang="en-US" dirty="0" sz="1800">
                <a:latin typeface="Calibri"/>
                <a:ea typeface="Calibri"/>
                <a:cs typeface="Calibri"/>
              </a:rPr>
              <a:t xml:space="preserve"> NAD27 / NAD83 (North American Datum), ETRS89 (European Terrestrial Reference System 1989), and WGS84</a:t>
            </a:r>
          </a:p>
        </p:txBody>
      </p:sp>
      <p:sp>
        <p:nvSpPr>
          <p:cNvPr id="8" name="TextBox 7"/>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20  /  51</a:t>
            </a:r>
          </a:p>
        </p:txBody>
      </p:sp>
    </p:spTree>
    <p:extLst>
      <p:ext uri="{BB962C8B-B14F-4D97-AF65-F5344CB8AC3E}">
        <p14:creationId xmlns:p14="http://schemas.microsoft.com/office/powerpoint/2010/main" val="1269304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5CD6D-7E35-275A-02FE-757A39ACE866}"/>
              </a:ext>
            </a:extLst>
          </p:cNvPr>
          <p:cNvSpPr>
            <a:spLocks noGrp="1"/>
          </p:cNvSpPr>
          <p:nvPr>
            <p:ph type="title"/>
          </p:nvPr>
        </p:nvSpPr>
        <p:spPr>
          <a:xfrm>
            <a:off x="478972" y="909410"/>
            <a:ext cx="10515600" cy="1325563"/>
          </a:xfrm>
        </p:spPr>
        <p:txBody>
          <a:bodyPr/>
          <a:lstStyle/>
          <a:p>
            <a:r>
              <a:rPr lang="en-US" dirty="0" sz="3200" b="1">
                <a:solidFill>
                  <a:srgbClr val="141414"/>
                </a:solidFill>
                <a:latin typeface="Calibri"/>
                <a:ea typeface="Calibri"/>
                <a:cs typeface="Calibri"/>
              </a:rPr>
              <a:t>What is WGS84? 🛰️</a:t>
            </a:r>
            <a:br>
              <a:rPr lang="en-US" dirty="0">
                <a:solidFill>
                  <a:srgbClr val="141414"/>
                </a:solidFill>
                <a:latin typeface="Segoe WPC"/>
              </a:rPr>
            </a:br>
            <a:endParaRPr lang="en-US" dirty="0"/>
          </a:p>
        </p:txBody>
      </p:sp>
      <p:graphicFrame>
        <p:nvGraphicFramePr>
          <p:cNvPr id="4" name="Content Placeholder 3">
            <a:extLst>
              <a:ext uri="{FF2B5EF4-FFF2-40B4-BE49-F238E27FC236}">
                <a16:creationId xmlns:a16="http://schemas.microsoft.com/office/drawing/2014/main" id="{612345E4-98B3-C2E0-6B5B-B992F8858DEF}"/>
              </a:ext>
            </a:extLst>
          </p:cNvPr>
          <p:cNvGraphicFramePr>
            <a:graphicFrameLocks noGrp="1"/>
          </p:cNvGraphicFramePr>
          <p:nvPr>
            <p:ph idx="1"/>
            <p:extLst>
              <p:ext uri="{D42A27DB-BD31-4B8C-83A1-F6EECF244321}">
                <p14:modId xmlns:p14="http://schemas.microsoft.com/office/powerpoint/2010/main" val="755129221"/>
              </p:ext>
            </p:extLst>
          </p:nvPr>
        </p:nvGraphicFramePr>
        <p:xfrm>
          <a:off x="729341" y="2834546"/>
          <a:ext cx="10515600" cy="2301240"/>
        </p:xfrm>
        <a:graphic>
          <a:graphicData uri="http://schemas.openxmlformats.org/drawingml/2006/table">
            <a:tbl>
              <a:tblPr/>
              <a:tblGrid>
                <a:gridCol w="5257800">
                  <a:extLst>
                    <a:ext uri="{9D8B030D-6E8A-4147-A177-3AD203B41FA5}">
                      <a16:colId xmlns:a16="http://schemas.microsoft.com/office/drawing/2014/main" val="2078734133"/>
                    </a:ext>
                  </a:extLst>
                </a:gridCol>
                <a:gridCol w="5257800">
                  <a:extLst>
                    <a:ext uri="{9D8B030D-6E8A-4147-A177-3AD203B41FA5}">
                      <a16:colId xmlns:a16="http://schemas.microsoft.com/office/drawing/2014/main" val="2544360179"/>
                    </a:ext>
                  </a:extLst>
                </a:gridCol>
              </a:tblGrid>
              <a:tr h="0">
                <a:tc>
                  <a:txBody>
                    <a:bodyPr/>
                    <a:lstStyle/>
                    <a:p>
                      <a:pPr algn="l" fontAlgn="t">
                        <a:buNone/>
                      </a:pPr>
                      <a:r>
                        <a:rPr lang="en-US" b="0" sz="1400">
                          <a:effectLst/>
                          <a:latin typeface="Calibri"/>
                          <a:ea typeface="Calibri"/>
                          <a:cs typeface="Calibri"/>
                        </a:rPr>
                        <a:t>Feature</a:t>
                      </a:r>
                    </a:p>
                  </a:txBody>
                  <a:tcPr marL="57150" marR="57150" marT="31750" marB="31750">
                    <a:lnL>
                      <a:noFill/>
                    </a:lnL>
                    <a:lnR>
                      <a:noFill/>
                    </a:lnR>
                    <a:lnT>
                      <a:noFill/>
                    </a:lnT>
                    <a:lnB>
                      <a:noFill/>
                    </a:lnB>
                    <a:noFill/>
                  </a:tcPr>
                </a:tc>
                <a:tc>
                  <a:txBody>
                    <a:bodyPr/>
                    <a:lstStyle/>
                    <a:p>
                      <a:pPr algn="l" fontAlgn="t">
                        <a:buNone/>
                      </a:pPr>
                      <a:r>
                        <a:rPr lang="en-US" b="0" dirty="0" sz="1400">
                          <a:effectLst/>
                          <a:latin typeface="Calibri"/>
                          <a:ea typeface="Calibri"/>
                          <a:cs typeface="Calibri"/>
                        </a:rPr>
                        <a:t>WGS84</a:t>
                      </a:r>
                    </a:p>
                  </a:txBody>
                  <a:tcPr marL="57150" marR="57150" marT="31750" marB="31750">
                    <a:lnL>
                      <a:noFill/>
                    </a:lnL>
                    <a:lnR>
                      <a:noFill/>
                    </a:lnR>
                    <a:lnT>
                      <a:noFill/>
                    </a:lnT>
                    <a:lnB>
                      <a:noFill/>
                    </a:lnB>
                    <a:noFill/>
                  </a:tcPr>
                </a:tc>
                <a:extLst>
                  <a:ext uri="{0D108BD9-81ED-4DB2-BD59-A6C34878D82A}">
                    <a16:rowId xmlns:a16="http://schemas.microsoft.com/office/drawing/2014/main" val="3812487824"/>
                  </a:ext>
                </a:extLst>
              </a:tr>
              <a:tr h="0">
                <a:tc>
                  <a:txBody>
                    <a:bodyPr/>
                    <a:lstStyle/>
                    <a:p>
                      <a:pPr algn="l" fontAlgn="t" latinLnBrk="0">
                        <a:buNone/>
                      </a:pPr>
                      <a:r>
                        <a:rPr lang="en-US" sz="1400">
                          <a:effectLst/>
                          <a:latin typeface="Calibri"/>
                          <a:ea typeface="Calibri"/>
                          <a:cs typeface="Calibri"/>
                        </a:rPr>
                        <a:t>Full name</a:t>
                      </a:r>
                    </a:p>
                  </a:txBody>
                  <a:tcPr marL="57150" marR="57150" marT="31750" marB="31750">
                    <a:lnL>
                      <a:noFill/>
                    </a:lnL>
                    <a:lnR>
                      <a:noFill/>
                    </a:lnR>
                    <a:lnT>
                      <a:noFill/>
                    </a:lnT>
                    <a:lnB>
                      <a:noFill/>
                    </a:lnB>
                    <a:noFill/>
                  </a:tcPr>
                </a:tc>
                <a:tc>
                  <a:txBody>
                    <a:bodyPr/>
                    <a:lstStyle/>
                    <a:p>
                      <a:pPr algn="l" fontAlgn="t" latinLnBrk="0">
                        <a:buNone/>
                      </a:pPr>
                      <a:r>
                        <a:rPr lang="en-US" sz="1400">
                          <a:effectLst/>
                          <a:latin typeface="Calibri"/>
                          <a:ea typeface="Calibri"/>
                          <a:cs typeface="Calibri"/>
                        </a:rPr>
                        <a:t>World Geodetic System 1984</a:t>
                      </a:r>
                    </a:p>
                  </a:txBody>
                  <a:tcPr marL="57150" marR="57150" marT="31750" marB="31750">
                    <a:lnL>
                      <a:noFill/>
                    </a:lnL>
                    <a:lnR>
                      <a:noFill/>
                    </a:lnR>
                    <a:lnT>
                      <a:noFill/>
                    </a:lnT>
                    <a:lnB>
                      <a:noFill/>
                    </a:lnB>
                    <a:noFill/>
                  </a:tcPr>
                </a:tc>
                <a:extLst>
                  <a:ext uri="{0D108BD9-81ED-4DB2-BD59-A6C34878D82A}">
                    <a16:rowId xmlns:a16="http://schemas.microsoft.com/office/drawing/2014/main" val="2356366772"/>
                  </a:ext>
                </a:extLst>
              </a:tr>
              <a:tr h="0">
                <a:tc>
                  <a:txBody>
                    <a:bodyPr/>
                    <a:lstStyle/>
                    <a:p>
                      <a:pPr algn="l" fontAlgn="t" latinLnBrk="0">
                        <a:buNone/>
                      </a:pPr>
                      <a:r>
                        <a:rPr lang="en-US" sz="1400">
                          <a:effectLst/>
                          <a:latin typeface="Calibri"/>
                          <a:ea typeface="Calibri"/>
                          <a:cs typeface="Calibri"/>
                        </a:rPr>
                        <a:t>Ellipsoid</a:t>
                      </a:r>
                    </a:p>
                  </a:txBody>
                  <a:tcPr marL="57150" marR="57150" marT="31750" marB="31750">
                    <a:lnL>
                      <a:noFill/>
                    </a:lnL>
                    <a:lnR>
                      <a:noFill/>
                    </a:lnR>
                    <a:lnT>
                      <a:noFill/>
                    </a:lnT>
                    <a:lnB>
                      <a:noFill/>
                    </a:lnB>
                    <a:noFill/>
                  </a:tcPr>
                </a:tc>
                <a:tc>
                  <a:txBody>
                    <a:bodyPr/>
                    <a:lstStyle/>
                    <a:p>
                      <a:pPr algn="l" fontAlgn="t" latinLnBrk="0">
                        <a:buNone/>
                      </a:pPr>
                      <a:r>
                        <a:rPr lang="en-US" sz="1400">
                          <a:effectLst/>
                          <a:latin typeface="Calibri"/>
                          <a:ea typeface="Calibri"/>
                          <a:cs typeface="Calibri"/>
                        </a:rPr>
                        <a:t>WGS 84 ellipsoid</a:t>
                      </a:r>
                    </a:p>
                  </a:txBody>
                  <a:tcPr marL="57150" marR="57150" marT="31750" marB="31750">
                    <a:lnL>
                      <a:noFill/>
                    </a:lnL>
                    <a:lnR>
                      <a:noFill/>
                    </a:lnR>
                    <a:lnT>
                      <a:noFill/>
                    </a:lnT>
                    <a:lnB>
                      <a:noFill/>
                    </a:lnB>
                    <a:noFill/>
                  </a:tcPr>
                </a:tc>
                <a:extLst>
                  <a:ext uri="{0D108BD9-81ED-4DB2-BD59-A6C34878D82A}">
                    <a16:rowId xmlns:a16="http://schemas.microsoft.com/office/drawing/2014/main" val="221114854"/>
                  </a:ext>
                </a:extLst>
              </a:tr>
              <a:tr h="0">
                <a:tc>
                  <a:txBody>
                    <a:bodyPr/>
                    <a:lstStyle/>
                    <a:p>
                      <a:pPr algn="l" fontAlgn="t" latinLnBrk="0">
                        <a:buNone/>
                      </a:pPr>
                      <a:r>
                        <a:rPr lang="en-US" dirty="0" sz="1400">
                          <a:effectLst/>
                          <a:latin typeface="Calibri"/>
                          <a:ea typeface="Calibri"/>
                          <a:cs typeface="Calibri"/>
                        </a:rPr>
                        <a:t>Used by</a:t>
                      </a:r>
                    </a:p>
                  </a:txBody>
                  <a:tcPr marL="57150" marR="57150" marT="31750" marB="31750">
                    <a:lnL>
                      <a:noFill/>
                    </a:lnL>
                    <a:lnR>
                      <a:noFill/>
                    </a:lnR>
                    <a:lnT>
                      <a:noFill/>
                    </a:lnT>
                    <a:lnB>
                      <a:noFill/>
                    </a:lnB>
                    <a:noFill/>
                  </a:tcPr>
                </a:tc>
                <a:tc>
                  <a:txBody>
                    <a:bodyPr/>
                    <a:lstStyle/>
                    <a:p>
                      <a:pPr algn="l" fontAlgn="t" latinLnBrk="0">
                        <a:buNone/>
                      </a:pPr>
                      <a:r>
                        <a:rPr lang="en-US" dirty="0" sz="1400">
                          <a:effectLst/>
                          <a:latin typeface="Calibri"/>
                          <a:ea typeface="Calibri"/>
                          <a:cs typeface="Calibri"/>
                        </a:rPr>
                        <a:t>GPS, Google Maps, most satellites, most modern GIS</a:t>
                      </a:r>
                    </a:p>
                  </a:txBody>
                  <a:tcPr marL="57150" marR="57150" marT="31750" marB="31750">
                    <a:lnL>
                      <a:noFill/>
                    </a:lnL>
                    <a:lnR>
                      <a:noFill/>
                    </a:lnR>
                    <a:lnT>
                      <a:noFill/>
                    </a:lnT>
                    <a:lnB>
                      <a:noFill/>
                    </a:lnB>
                    <a:noFill/>
                  </a:tcPr>
                </a:tc>
                <a:extLst>
                  <a:ext uri="{0D108BD9-81ED-4DB2-BD59-A6C34878D82A}">
                    <a16:rowId xmlns:a16="http://schemas.microsoft.com/office/drawing/2014/main" val="3872715819"/>
                  </a:ext>
                </a:extLst>
              </a:tr>
              <a:tr h="0">
                <a:tc>
                  <a:txBody>
                    <a:bodyPr/>
                    <a:lstStyle/>
                    <a:p>
                      <a:pPr algn="l" fontAlgn="t" latinLnBrk="0">
                        <a:buNone/>
                      </a:pPr>
                      <a:r>
                        <a:rPr lang="en-US" sz="1400">
                          <a:effectLst/>
                          <a:latin typeface="Calibri"/>
                          <a:ea typeface="Calibri"/>
                          <a:cs typeface="Calibri"/>
                        </a:rPr>
                        <a:t>EPSG code (geographic)</a:t>
                      </a:r>
                    </a:p>
                  </a:txBody>
                  <a:tcPr marL="57150" marR="57150" marT="31750" marB="31750">
                    <a:lnL>
                      <a:noFill/>
                    </a:lnL>
                    <a:lnR>
                      <a:noFill/>
                    </a:lnR>
                    <a:lnT>
                      <a:noFill/>
                    </a:lnT>
                    <a:lnB>
                      <a:noFill/>
                    </a:lnB>
                    <a:noFill/>
                  </a:tcPr>
                </a:tc>
                <a:tc>
                  <a:txBody>
                    <a:bodyPr/>
                    <a:lstStyle/>
                    <a:p>
                      <a:pPr algn="l" fontAlgn="t" latinLnBrk="0">
                        <a:buNone/>
                      </a:pPr>
                      <a:r>
                        <a:rPr lang="en-US" b="1" sz="1400">
                          <a:effectLst/>
                          <a:latin typeface="Calibri"/>
                          <a:ea typeface="Calibri"/>
                          <a:cs typeface="Calibri"/>
                        </a:rPr>
                        <a:t>EPSG:4326</a:t>
                      </a:r>
                      <a:endParaRPr lang="en-US">
                        <a:effectLst/>
                      </a:endParaRPr>
                    </a:p>
                  </a:txBody>
                  <a:tcPr marL="57150" marR="57150" marT="31750" marB="31750">
                    <a:lnL>
                      <a:noFill/>
                    </a:lnL>
                    <a:lnR>
                      <a:noFill/>
                    </a:lnR>
                    <a:lnT>
                      <a:noFill/>
                    </a:lnT>
                    <a:lnB>
                      <a:noFill/>
                    </a:lnB>
                    <a:noFill/>
                  </a:tcPr>
                </a:tc>
                <a:extLst>
                  <a:ext uri="{0D108BD9-81ED-4DB2-BD59-A6C34878D82A}">
                    <a16:rowId xmlns:a16="http://schemas.microsoft.com/office/drawing/2014/main" val="816488178"/>
                  </a:ext>
                </a:extLst>
              </a:tr>
              <a:tr h="0">
                <a:tc>
                  <a:txBody>
                    <a:bodyPr/>
                    <a:lstStyle/>
                    <a:p>
                      <a:pPr algn="l" fontAlgn="t" latinLnBrk="0">
                        <a:buNone/>
                      </a:pPr>
                      <a:r>
                        <a:rPr lang="en-US" sz="1400">
                          <a:effectLst/>
                          <a:latin typeface="Calibri"/>
                          <a:ea typeface="Calibri"/>
                          <a:cs typeface="Calibri"/>
                        </a:rPr>
                        <a:t>Units</a:t>
                      </a:r>
                    </a:p>
                  </a:txBody>
                  <a:tcPr marL="57150" marR="57150" marT="31750" marB="31750">
                    <a:lnL>
                      <a:noFill/>
                    </a:lnL>
                    <a:lnR>
                      <a:noFill/>
                    </a:lnR>
                    <a:lnT>
                      <a:noFill/>
                    </a:lnT>
                    <a:lnB>
                      <a:noFill/>
                    </a:lnB>
                    <a:noFill/>
                  </a:tcPr>
                </a:tc>
                <a:tc>
                  <a:txBody>
                    <a:bodyPr/>
                    <a:lstStyle/>
                    <a:p>
                      <a:pPr algn="l" fontAlgn="t" latinLnBrk="0">
                        <a:buNone/>
                      </a:pPr>
                      <a:r>
                        <a:rPr lang="en-US" dirty="0" sz="1400">
                          <a:effectLst/>
                          <a:latin typeface="Calibri"/>
                          <a:ea typeface="Calibri"/>
                          <a:cs typeface="Calibri"/>
                        </a:rPr>
                        <a:t>Degrees (latitude, longitude)</a:t>
                      </a:r>
                    </a:p>
                  </a:txBody>
                  <a:tcPr marL="57150" marR="57150" marT="31750" marB="31750">
                    <a:lnL>
                      <a:noFill/>
                    </a:lnL>
                    <a:lnR>
                      <a:noFill/>
                    </a:lnR>
                    <a:lnT>
                      <a:noFill/>
                    </a:lnT>
                    <a:lnB>
                      <a:noFill/>
                    </a:lnB>
                    <a:noFill/>
                  </a:tcPr>
                </a:tc>
                <a:extLst>
                  <a:ext uri="{0D108BD9-81ED-4DB2-BD59-A6C34878D82A}">
                    <a16:rowId xmlns:a16="http://schemas.microsoft.com/office/drawing/2014/main" val="4232925275"/>
                  </a:ext>
                </a:extLst>
              </a:tr>
            </a:tbl>
          </a:graphicData>
        </a:graphic>
      </p:graphicFrame>
      <p:sp>
        <p:nvSpPr>
          <p:cNvPr id="6" name="TextBox 5">
            <a:extLst>
              <a:ext uri="{FF2B5EF4-FFF2-40B4-BE49-F238E27FC236}">
                <a16:creationId xmlns:a16="http://schemas.microsoft.com/office/drawing/2014/main" id="{469D86E7-7372-93DF-9224-9DD7EFA7C537}"/>
              </a:ext>
            </a:extLst>
          </p:cNvPr>
          <p:cNvSpPr txBox="1"/>
          <p:nvPr/>
        </p:nvSpPr>
        <p:spPr>
          <a:xfrm>
            <a:off x="729341" y="2132221"/>
            <a:ext cx="8632371" cy="646331"/>
          </a:xfrm>
          <a:prstGeom prst="rect">
            <a:avLst/>
          </a:prstGeom>
          <a:noFill/>
        </p:spPr>
        <p:txBody>
          <a:bodyPr wrap="square">
            <a:spAutoFit/>
          </a:bodyPr>
          <a:lstStyle/>
          <a:p>
            <a:pPr indent="0" algn="l">
              <a:spcBef>
                <a:spcPts val="750"/>
              </a:spcBef>
              <a:spcAft>
                <a:spcPts val="750"/>
              </a:spcAft>
              <a:buNone/>
            </a:pPr>
            <a:r>
              <a:rPr lang="en-US" sz="1800" i="0" dirty="0">
                <a:solidFill>
                  <a:srgbClr val="141414"/>
                </a:solidFill>
                <a:effectLst/>
                <a:latin typeface="Calibri"/>
                <a:ea typeface="Calibri"/>
                <a:cs typeface="Calibri"/>
              </a:rPr>
              <a:t xml:space="preserve">WGS84 = World Geodetic System 1984. Simple definition: WGS84 is the most widely used global datum today. It is the datum behind GPS on your phone.</a:t>
            </a:r>
          </a:p>
        </p:txBody>
      </p:sp>
      <p:sp>
        <p:nvSpPr>
          <p:cNvPr id="8" name="TextBox 7">
            <a:extLst>
              <a:ext uri="{FF2B5EF4-FFF2-40B4-BE49-F238E27FC236}">
                <a16:creationId xmlns:a16="http://schemas.microsoft.com/office/drawing/2014/main" id="{CA278909-3BE2-99B9-1052-A66B1CEAC795}"/>
              </a:ext>
            </a:extLst>
          </p:cNvPr>
          <p:cNvSpPr txBox="1"/>
          <p:nvPr/>
        </p:nvSpPr>
        <p:spPr>
          <a:xfrm>
            <a:off x="729341" y="5302259"/>
            <a:ext cx="10363201" cy="646331"/>
          </a:xfrm>
          <a:prstGeom prst="rect">
            <a:avLst/>
          </a:prstGeom>
          <a:noFill/>
        </p:spPr>
        <p:txBody>
          <a:bodyPr wrap="square">
            <a:spAutoFit/>
          </a:bodyPr>
          <a:lstStyle/>
          <a:p>
            <a:r>
              <a:rPr lang="en-US" dirty="0" sz="1800">
                <a:latin typeface="Calibri"/>
                <a:ea typeface="Calibri"/>
                <a:cs typeface="Calibri"/>
              </a:rPr>
              <a:t>Important: WGS84 is very accurate for global use. Some countries have local datums that were measured more carefully for one region.</a:t>
            </a:r>
          </a:p>
        </p:txBody>
      </p:sp>
      <p:sp>
        <p:nvSpPr>
          <p:cNvPr id="9" name="TextBox 8"/>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21  /  51</a:t>
            </a:r>
          </a:p>
        </p:txBody>
      </p:sp>
    </p:spTree>
    <p:extLst>
      <p:ext uri="{BB962C8B-B14F-4D97-AF65-F5344CB8AC3E}">
        <p14:creationId xmlns:p14="http://schemas.microsoft.com/office/powerpoint/2010/main" val="844090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63C7A-7F02-7D61-CC04-B3B6989527C4}"/>
              </a:ext>
            </a:extLst>
          </p:cNvPr>
          <p:cNvSpPr>
            <a:spLocks noGrp="1"/>
          </p:cNvSpPr>
          <p:nvPr>
            <p:ph type="title"/>
          </p:nvPr>
        </p:nvSpPr>
        <p:spPr/>
        <p:txBody>
          <a:bodyPr/>
          <a:lstStyle/>
          <a:p>
            <a:r>
              <a:rPr lang="en-US" sz="3200" b="1">
                <a:latin typeface="Calibri"/>
                <a:ea typeface="Calibri"/>
                <a:cs typeface="Calibri"/>
                <a:highlight>
                  <a:srgbClr val="FFFF00"/>
                </a:highlight>
              </a:rPr>
              <a:t xml:space="preserve">Types of Coordinate Systems</a:t>
            </a:r>
            <a:endParaRPr lang="en-US" dirty="0"/>
          </a:p>
        </p:txBody>
      </p:sp>
      <p:sp>
        <p:nvSpPr>
          <p:cNvPr id="5" name="Content Placeholder 4">
            <a:extLst>
              <a:ext uri="{FF2B5EF4-FFF2-40B4-BE49-F238E27FC236}">
                <a16:creationId xmlns:a16="http://schemas.microsoft.com/office/drawing/2014/main" id="{55494682-1B1E-B313-F4EC-A5F781B60B60}"/>
              </a:ext>
            </a:extLst>
          </p:cNvPr>
          <p:cNvSpPr txBox="1">
            <a:spLocks noGrp="1"/>
          </p:cNvSpPr>
          <p:nvPr>
            <p:ph idx="1"/>
          </p:nvPr>
        </p:nvSpPr>
        <p:spPr>
          <a:xfrm>
            <a:off x="838200" y="1825625"/>
            <a:ext cx="7761514" cy="1219886"/>
          </a:xfrm>
          <a:prstGeom prst="rect">
            <a:avLst/>
          </a:prstGeom>
          <a:noFill/>
        </p:spPr>
        <p:txBody>
          <a:bodyPr wrap="square">
            <a:spAutoFit/>
          </a:bodyPr>
          <a:lstStyle/>
          <a:p>
            <a:pPr marL="0" indent="0">
              <a:buNone/>
            </a:pPr>
            <a:r>
              <a:rPr lang="en-US" sz="1800" b="1" dirty="0">
                <a:latin typeface="Calibri"/>
                <a:ea typeface="Calibri"/>
                <a:cs typeface="Calibri"/>
              </a:rPr>
              <a:t>There are two types of coordinate system in GIS:</a:t>
            </a:r>
          </a:p>
          <a:p>
            <a:pPr marL="0" indent="0">
              <a:buNone/>
            </a:pPr>
            <a:r>
              <a:rPr lang="en-US" sz="1800" dirty="0">
                <a:latin typeface="Calibri"/>
                <a:ea typeface="Calibri"/>
                <a:cs typeface="Calibri"/>
              </a:rPr>
              <a:t xml:space="preserve">Geographic Coordinate System (GCS) and </a:t>
            </a:r>
            <a:r>
              <a:rPr lang="en-US" sz="1800" dirty="0">
                <a:latin typeface="Calibri"/>
                <a:ea typeface="Calibri"/>
                <a:cs typeface="Calibri"/>
                <a:highlight>
                  <a:srgbClr val="FFFF00"/>
                </a:highlight>
              </a:rPr>
              <a:t xml:space="preserve">Projected Coordinate System (PCS)</a:t>
            </a:r>
          </a:p>
        </p:txBody>
      </p:sp>
      <p:pic>
        <p:nvPicPr>
          <p:cNvPr id="7" name="Picture 6" descr="Coordinate systems and map projections in GIS">
            <a:extLst>
              <a:ext uri="{FF2B5EF4-FFF2-40B4-BE49-F238E27FC236}">
                <a16:creationId xmlns:a16="http://schemas.microsoft.com/office/drawing/2014/main" id="{FF641099-9D2A-602B-D0AF-9023ED119966}"/>
              </a:ext>
            </a:extLst>
          </p:cNvPr>
          <p:cNvPicPr>
            <a:picLocks noChangeAspect="1"/>
          </p:cNvPicPr>
          <p:nvPr/>
        </p:nvPicPr>
        <p:blipFill>
          <a:blip r:embed="rId2"/>
          <a:stretch>
            <a:fillRect/>
          </a:stretch>
        </p:blipFill>
        <p:spPr>
          <a:xfrm>
            <a:off x="8094890" y="683079"/>
            <a:ext cx="3661682" cy="2441121"/>
          </a:xfrm>
          <a:prstGeom prst="rect">
            <a:avLst/>
          </a:prstGeom>
        </p:spPr>
      </p:pic>
      <p:pic>
        <p:nvPicPr>
          <p:cNvPr id="8" name="Picture 7" descr="Where Is Guadalajara, Mexico On Map Lat Long Coordinates – NQETJ">
            <a:extLst>
              <a:ext uri="{FF2B5EF4-FFF2-40B4-BE49-F238E27FC236}">
                <a16:creationId xmlns:a16="http://schemas.microsoft.com/office/drawing/2014/main" id="{6DD56DD1-DB6B-B675-D739-4DA28FE63530}"/>
              </a:ext>
            </a:extLst>
          </p:cNvPr>
          <p:cNvPicPr>
            <a:picLocks noChangeAspect="1"/>
          </p:cNvPicPr>
          <p:nvPr/>
        </p:nvPicPr>
        <p:blipFill>
          <a:blip r:embed="rId3"/>
          <a:srcRect l="3106" t="10634" r="2484" b="7680"/>
          <a:stretch>
            <a:fillRect/>
          </a:stretch>
        </p:blipFill>
        <p:spPr>
          <a:xfrm>
            <a:off x="6999513" y="3124199"/>
            <a:ext cx="4550229" cy="2362201"/>
          </a:xfrm>
          <a:prstGeom prst="rect">
            <a:avLst/>
          </a:prstGeom>
        </p:spPr>
      </p:pic>
      <p:pic>
        <p:nvPicPr>
          <p:cNvPr id="16" name="Picture 15">
            <a:extLst>
              <a:ext uri="{FF2B5EF4-FFF2-40B4-BE49-F238E27FC236}">
                <a16:creationId xmlns:a16="http://schemas.microsoft.com/office/drawing/2014/main" id="{97E91442-F143-73B6-86F9-30B98836D87E}"/>
              </a:ext>
            </a:extLst>
          </p:cNvPr>
          <p:cNvPicPr>
            <a:picLocks noChangeAspect="1"/>
          </p:cNvPicPr>
          <p:nvPr/>
        </p:nvPicPr>
        <p:blipFill>
          <a:blip r:embed="rId4"/>
          <a:stretch>
            <a:fillRect/>
          </a:stretch>
        </p:blipFill>
        <p:spPr>
          <a:xfrm>
            <a:off x="5224515" y="5714522"/>
            <a:ext cx="6750397" cy="920797"/>
          </a:xfrm>
          <a:prstGeom prst="rect">
            <a:avLst/>
          </a:prstGeom>
        </p:spPr>
      </p:pic>
      <p:pic>
        <p:nvPicPr>
          <p:cNvPr id="18" name="Picture 17" descr="Geographic vs Projected Coordinate Systems">
            <a:extLst>
              <a:ext uri="{FF2B5EF4-FFF2-40B4-BE49-F238E27FC236}">
                <a16:creationId xmlns:a16="http://schemas.microsoft.com/office/drawing/2014/main" id="{DF1DDAA0-155C-6983-A407-02E74701F665}"/>
              </a:ext>
            </a:extLst>
          </p:cNvPr>
          <p:cNvPicPr>
            <a:picLocks noChangeAspect="1"/>
          </p:cNvPicPr>
          <p:nvPr/>
        </p:nvPicPr>
        <p:blipFill>
          <a:blip r:embed="rId5"/>
          <a:stretch>
            <a:fillRect/>
          </a:stretch>
        </p:blipFill>
        <p:spPr>
          <a:xfrm>
            <a:off x="252465" y="3180448"/>
            <a:ext cx="4972050" cy="2905125"/>
          </a:xfrm>
          <a:prstGeom prst="rect">
            <a:avLst/>
          </a:prstGeom>
        </p:spPr>
      </p:pic>
      <p:sp>
        <p:nvSpPr>
          <p:cNvPr id="19" name="TextBox 18"/>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22  /  51</a:t>
            </a:r>
          </a:p>
        </p:txBody>
      </p:sp>
    </p:spTree>
    <p:extLst>
      <p:ext uri="{BB962C8B-B14F-4D97-AF65-F5344CB8AC3E}">
        <p14:creationId xmlns:p14="http://schemas.microsoft.com/office/powerpoint/2010/main" val="91688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Longitude latitude coordinates">
            <a:extLst>
              <a:ext uri="{FF2B5EF4-FFF2-40B4-BE49-F238E27FC236}">
                <a16:creationId xmlns:a16="http://schemas.microsoft.com/office/drawing/2014/main" id="{C5D9FA54-C36D-28C7-9C83-E65BAF5D920A}"/>
              </a:ext>
            </a:extLst>
          </p:cNvPr>
          <p:cNvPicPr>
            <a:picLocks noGrp="1" noChangeAspect="1"/>
          </p:cNvPicPr>
          <p:nvPr>
            <p:ph idx="1"/>
          </p:nvPr>
        </p:nvPicPr>
        <p:blipFill>
          <a:blip r:embed="rId2"/>
          <a:srcRect l="2968" t="2574" r="6720"/>
          <a:stretch>
            <a:fillRect/>
          </a:stretch>
        </p:blipFill>
        <p:spPr>
          <a:xfrm>
            <a:off x="7098712" y="934472"/>
            <a:ext cx="5180373" cy="2794226"/>
          </a:xfrm>
          <a:prstGeom prst="rect">
            <a:avLst/>
          </a:prstGeom>
        </p:spPr>
      </p:pic>
      <p:sp>
        <p:nvSpPr>
          <p:cNvPr id="7" name="Title 6">
            <a:extLst>
              <a:ext uri="{FF2B5EF4-FFF2-40B4-BE49-F238E27FC236}">
                <a16:creationId xmlns:a16="http://schemas.microsoft.com/office/drawing/2014/main" id="{0E72C6EA-45B3-22DD-E6B8-145B0D0D627A}"/>
              </a:ext>
            </a:extLst>
          </p:cNvPr>
          <p:cNvSpPr>
            <a:spLocks noGrp="1"/>
          </p:cNvSpPr>
          <p:nvPr>
            <p:ph type="title"/>
          </p:nvPr>
        </p:nvSpPr>
        <p:spPr>
          <a:xfrm>
            <a:off x="838200" y="681037"/>
            <a:ext cx="10515600" cy="1009651"/>
          </a:xfrm>
        </p:spPr>
        <p:txBody>
          <a:bodyPr>
            <a:normAutofit/>
          </a:bodyPr>
          <a:lstStyle/>
          <a:p>
            <a:r>
              <a:rPr lang="en-US" sz="3200" dirty="0" b="1">
                <a:latin typeface="Calibri"/>
                <a:ea typeface="Calibri"/>
                <a:cs typeface="Calibri"/>
              </a:rPr>
              <a:t>Geographic Coordinate System</a:t>
            </a:r>
          </a:p>
        </p:txBody>
      </p:sp>
      <p:sp>
        <p:nvSpPr>
          <p:cNvPr id="10" name="TextBox 9">
            <a:extLst>
              <a:ext uri="{FF2B5EF4-FFF2-40B4-BE49-F238E27FC236}">
                <a16:creationId xmlns:a16="http://schemas.microsoft.com/office/drawing/2014/main" id="{383D5D0E-7972-3560-3F62-363E7B13BB65}"/>
              </a:ext>
            </a:extLst>
          </p:cNvPr>
          <p:cNvSpPr txBox="1"/>
          <p:nvPr/>
        </p:nvSpPr>
        <p:spPr>
          <a:xfrm>
            <a:off x="578169" y="1862466"/>
            <a:ext cx="6769688" cy="1959511"/>
          </a:xfrm>
          <a:prstGeom prst="rect">
            <a:avLst/>
          </a:prstGeom>
          <a:noFill/>
        </p:spPr>
        <p:txBody>
          <a:bodyPr wrap="square">
            <a:spAutoFit/>
          </a:bodyPr>
          <a:lstStyle/>
          <a:p>
            <a:pPr indent="0" algn="l">
              <a:spcBef>
                <a:spcPts val="750"/>
              </a:spcBef>
              <a:spcAft>
                <a:spcPts val="750"/>
              </a:spcAft>
              <a:buNone/>
            </a:pPr>
            <a:r>
              <a:rPr lang="en-US" b="0" i="0" dirty="0" sz="1800">
                <a:solidFill>
                  <a:srgbClr val="141414"/>
                </a:solidFill>
                <a:effectLst/>
                <a:latin typeface="Calibri"/>
                <a:ea typeface="Calibri"/>
                <a:cs typeface="Calibri"/>
              </a:rPr>
              <a:t xml:space="preserve">A Geographic Coordinate System is a 3D reference framework that locates points on a model of the Earth using angular measurements from the Earth’s center to the surface.</a:t>
            </a:r>
          </a:p>
          <a:p>
            <a:pPr indent="0" algn="l">
              <a:spcBef>
                <a:spcPts val="750"/>
              </a:spcBef>
              <a:spcAft>
                <a:spcPts val="750"/>
              </a:spcAft>
              <a:buNone/>
            </a:pPr>
            <a:r>
              <a:rPr lang="en-US" b="0" i="0" dirty="0" sz="1800">
                <a:solidFill>
                  <a:srgbClr val="141414"/>
                </a:solidFill>
                <a:effectLst/>
                <a:latin typeface="Calibri"/>
                <a:ea typeface="Calibri"/>
                <a:cs typeface="Calibri"/>
              </a:rPr>
              <a:t xml:space="preserve">It is spherical / ellipsoidal, not flat. Its grid is the graticule: lines of latitude and longitude.</a:t>
            </a:r>
          </a:p>
        </p:txBody>
      </p:sp>
      <p:pic>
        <p:nvPicPr>
          <p:cNvPr id="11" name="Picture 10" descr="Medium">
            <a:extLst>
              <a:ext uri="{FF2B5EF4-FFF2-40B4-BE49-F238E27FC236}">
                <a16:creationId xmlns:a16="http://schemas.microsoft.com/office/drawing/2014/main" id="{FA58765F-6F4C-9688-5CB5-63726C469655}"/>
              </a:ext>
            </a:extLst>
          </p:cNvPr>
          <p:cNvPicPr>
            <a:picLocks noChangeAspect="1"/>
          </p:cNvPicPr>
          <p:nvPr/>
        </p:nvPicPr>
        <p:blipFill>
          <a:blip r:embed="rId3"/>
          <a:srcRect l="4645" r="3267" b="7425"/>
          <a:stretch>
            <a:fillRect/>
          </a:stretch>
        </p:blipFill>
        <p:spPr>
          <a:xfrm>
            <a:off x="8300969" y="3728698"/>
            <a:ext cx="2775857" cy="2982577"/>
          </a:xfrm>
          <a:prstGeom prst="rect">
            <a:avLst/>
          </a:prstGeom>
        </p:spPr>
      </p:pic>
      <p:sp>
        <p:nvSpPr>
          <p:cNvPr id="13" name="TextBox 12">
            <a:extLst>
              <a:ext uri="{FF2B5EF4-FFF2-40B4-BE49-F238E27FC236}">
                <a16:creationId xmlns:a16="http://schemas.microsoft.com/office/drawing/2014/main" id="{5EEE089D-792C-E533-A085-BA223DB2B950}"/>
              </a:ext>
            </a:extLst>
          </p:cNvPr>
          <p:cNvSpPr txBox="1"/>
          <p:nvPr/>
        </p:nvSpPr>
        <p:spPr>
          <a:xfrm>
            <a:off x="729344" y="3993755"/>
            <a:ext cx="6369365" cy="1856919"/>
          </a:xfrm>
          <a:prstGeom prst="rect">
            <a:avLst/>
          </a:prstGeom>
          <a:noFill/>
        </p:spPr>
        <p:txBody>
          <a:bodyPr wrap="square">
            <a:spAutoFit/>
          </a:bodyPr>
          <a:lstStyle/>
          <a:p>
            <a:pPr indent="0" algn="l">
              <a:spcBef>
                <a:spcPts val="750"/>
              </a:spcBef>
              <a:spcAft>
                <a:spcPts val="750"/>
              </a:spcAft>
              <a:buNone/>
            </a:pPr>
            <a:r>
              <a:rPr lang="en-US" dirty="0" sz="1800">
                <a:solidFill>
                  <a:srgbClr val="141414"/>
                </a:solidFill>
                <a:latin typeface="Calibri"/>
                <a:ea typeface="Calibri"/>
                <a:cs typeface="Calibri"/>
              </a:rPr>
              <a:t>A GCS has three parts:</a:t>
            </a:r>
          </a:p>
          <a:p>
            <a:pPr marL="342900" indent="-342900" algn="l">
              <a:buAutoNum type="arabicPeriod"/>
            </a:pPr>
            <a:r>
              <a:rPr lang="en-US" dirty="0" sz="1800">
                <a:solidFill>
                  <a:srgbClr val="141414"/>
                </a:solidFill>
                <a:latin typeface="Calibri"/>
                <a:ea typeface="Calibri"/>
                <a:cs typeface="Calibri"/>
              </a:rPr>
              <a:t>Datum</a:t>
            </a:r>
          </a:p>
          <a:p>
            <a:pPr marL="342900" indent="-342900">
              <a:buFontTx/>
              <a:buAutoNum type="arabicPeriod"/>
            </a:pPr>
            <a:r>
              <a:rPr lang="en-US" dirty="0" sz="1800">
                <a:solidFill>
                  <a:srgbClr val="141414"/>
                </a:solidFill>
                <a:latin typeface="Calibri"/>
                <a:ea typeface="Calibri"/>
                <a:cs typeface="Calibri"/>
              </a:rPr>
              <a:t>2. Prime meridian; The prime meridian is the line defined as 0° longitude.</a:t>
            </a:r>
          </a:p>
          <a:p>
            <a:pPr marL="342900" indent="-342900" algn="l">
              <a:buAutoNum type="arabicPeriod"/>
            </a:pPr>
            <a:r>
              <a:rPr lang="en-US" dirty="0" sz="1800">
                <a:solidFill>
                  <a:srgbClr val="141414"/>
                </a:solidFill>
                <a:latin typeface="Calibri"/>
                <a:ea typeface="Calibri"/>
                <a:cs typeface="Calibri"/>
              </a:rPr>
              <a:t>3. Angular unit; The unit of a GCS is an angle, usually:</a:t>
            </a:r>
          </a:p>
          <a:p>
            <a:pPr algn="l"/>
            <a:r>
              <a:rPr lang="en-US" dirty="0" sz="1800">
                <a:solidFill>
                  <a:srgbClr val="141414"/>
                </a:solidFill>
                <a:latin typeface="Calibri"/>
                <a:ea typeface="Calibri"/>
                <a:cs typeface="Calibri"/>
              </a:rPr>
              <a:t>	decimal degrees (34.5289°) — most common in GIS</a:t>
            </a:r>
          </a:p>
        </p:txBody>
      </p:sp>
      <p:sp>
        <p:nvSpPr>
          <p:cNvPr id="14" name="TextBox 1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23  /  51</a:t>
            </a:r>
          </a:p>
        </p:txBody>
      </p:sp>
    </p:spTree>
    <p:extLst>
      <p:ext uri="{BB962C8B-B14F-4D97-AF65-F5344CB8AC3E}">
        <p14:creationId xmlns:p14="http://schemas.microsoft.com/office/powerpoint/2010/main" val="2445410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C35A80-227F-1F8E-1638-D02499A2371B}"/>
              </a:ext>
            </a:extLst>
          </p:cNvPr>
          <p:cNvSpPr>
            <a:spLocks noGrp="1"/>
          </p:cNvSpPr>
          <p:nvPr>
            <p:ph idx="1"/>
          </p:nvPr>
        </p:nvSpPr>
        <p:spPr>
          <a:xfrm>
            <a:off x="838200" y="1825625"/>
            <a:ext cx="11353800" cy="4351338"/>
          </a:xfrm>
        </p:spPr>
        <p:txBody>
          <a:bodyPr/>
          <a:lstStyle/>
          <a:p>
            <a:r>
              <a:rPr lang="en-US" sz="1800" dirty="0">
                <a:latin typeface="Calibri"/>
                <a:ea typeface="Calibri"/>
                <a:cs typeface="Calibri"/>
              </a:rPr>
              <a:t xml:space="preserve">A Projected Coordinate System is a flat, 2D Cartesian grid created by applying a map projection to a geographic coordinate system.</a:t>
            </a:r>
          </a:p>
          <a:p>
            <a:r>
              <a:rPr lang="en-US" sz="1800" dirty="0">
                <a:latin typeface="Calibri"/>
                <a:ea typeface="Calibri"/>
                <a:cs typeface="Calibri"/>
              </a:rPr>
              <a:t xml:space="preserve">It locates points using linear units (usually meters) from an origin: easting (X) and northing (Y).</a:t>
            </a:r>
          </a:p>
          <a:p>
            <a:pPr marL="0" indent="0">
              <a:buNone/>
            </a:pPr>
            <a:endParaRPr lang="en-US" dirty="0"/>
          </a:p>
        </p:txBody>
      </p:sp>
      <p:sp>
        <p:nvSpPr>
          <p:cNvPr id="4" name="Title 6">
            <a:extLst>
              <a:ext uri="{FF2B5EF4-FFF2-40B4-BE49-F238E27FC236}">
                <a16:creationId xmlns:a16="http://schemas.microsoft.com/office/drawing/2014/main" id="{7AF861E9-211F-B83E-EBFA-11CF48CDCE8B}"/>
              </a:ext>
            </a:extLst>
          </p:cNvPr>
          <p:cNvSpPr>
            <a:spLocks noGrp="1"/>
          </p:cNvSpPr>
          <p:nvPr>
            <p:ph type="title"/>
          </p:nvPr>
        </p:nvSpPr>
        <p:spPr>
          <a:xfrm>
            <a:off x="838200" y="681037"/>
            <a:ext cx="10515600" cy="1009651"/>
          </a:xfrm>
        </p:spPr>
        <p:txBody>
          <a:bodyPr>
            <a:normAutofit/>
          </a:bodyPr>
          <a:lstStyle/>
          <a:p>
            <a:r>
              <a:rPr lang="en-US" sz="3200" dirty="0" b="1">
                <a:latin typeface="Calibri"/>
                <a:ea typeface="Calibri"/>
                <a:cs typeface="Calibri"/>
                <a:highlight>
                  <a:srgbClr val="FFFF00"/>
                </a:highlight>
              </a:rPr>
              <a:t xml:space="preserve">Projected Coordinate System</a:t>
            </a:r>
          </a:p>
        </p:txBody>
      </p:sp>
      <p:pic>
        <p:nvPicPr>
          <p:cNvPr id="5" name="Picture 4" descr="Utm Projection Coordinate Reference Systems">
            <a:extLst>
              <a:ext uri="{FF2B5EF4-FFF2-40B4-BE49-F238E27FC236}">
                <a16:creationId xmlns:a16="http://schemas.microsoft.com/office/drawing/2014/main" id="{DBC342EE-9474-9096-9EB6-8DDF2F221BAC}"/>
              </a:ext>
            </a:extLst>
          </p:cNvPr>
          <p:cNvPicPr>
            <a:picLocks noChangeAspect="1"/>
          </p:cNvPicPr>
          <p:nvPr/>
        </p:nvPicPr>
        <p:blipFill>
          <a:blip r:embed="rId2"/>
          <a:stretch>
            <a:fillRect/>
          </a:stretch>
        </p:blipFill>
        <p:spPr>
          <a:xfrm>
            <a:off x="5328160" y="2796540"/>
            <a:ext cx="6881616" cy="3515359"/>
          </a:xfrm>
          <a:prstGeom prst="rect">
            <a:avLst/>
          </a:prstGeom>
        </p:spPr>
      </p:pic>
      <p:sp>
        <p:nvSpPr>
          <p:cNvPr id="7" name="TextBox 6">
            <a:extLst>
              <a:ext uri="{FF2B5EF4-FFF2-40B4-BE49-F238E27FC236}">
                <a16:creationId xmlns:a16="http://schemas.microsoft.com/office/drawing/2014/main" id="{80FBEA2B-11B2-EB4A-FAD0-78E0348F3BD6}"/>
              </a:ext>
            </a:extLst>
          </p:cNvPr>
          <p:cNvSpPr txBox="1"/>
          <p:nvPr/>
        </p:nvSpPr>
        <p:spPr>
          <a:xfrm>
            <a:off x="838200" y="3157772"/>
            <a:ext cx="3233057" cy="3693319"/>
          </a:xfrm>
          <a:prstGeom prst="rect">
            <a:avLst/>
          </a:prstGeom>
          <a:noFill/>
        </p:spPr>
        <p:txBody>
          <a:bodyPr wrap="square">
            <a:spAutoFit/>
          </a:bodyPr>
          <a:lstStyle/>
          <a:p>
            <a:r>
              <a:rPr lang="en-US" dirty="0" sz="1800">
                <a:latin typeface="Calibri"/>
                <a:ea typeface="Calibri"/>
                <a:cs typeface="Calibri"/>
              </a:rPr>
              <a:t>What a PCS is made of:</a:t>
            </a:r>
          </a:p>
          <a:p>
            <a:pPr marL="285750" indent="-285750">
              <a:buFont typeface="Arial" panose="020B0604020202020204" pitchFamily="34" charset="0"/>
              <a:buChar char="•"/>
            </a:pPr>
            <a:r>
              <a:rPr lang="en-US" dirty="0" sz="1800">
                <a:latin typeface="Calibri"/>
                <a:ea typeface="Calibri"/>
                <a:cs typeface="Calibri"/>
              </a:rPr>
              <a:t xml:space="preserve">Every PCS contains a GCS; Example: WGS 	84 / UTM zone 	42N contains the 	GCS WGS 84.</a:t>
            </a:r>
          </a:p>
          <a:p>
            <a:pPr marL="285750" indent="-285750">
              <a:buFont typeface="Arial" panose="020B0604020202020204" pitchFamily="34" charset="0"/>
              <a:buChar char="•"/>
            </a:pPr>
            <a:r>
              <a:rPr lang="en-US" dirty="0" sz="1800">
                <a:latin typeface="Calibri"/>
                <a:ea typeface="Calibri"/>
                <a:cs typeface="Calibri"/>
              </a:rPr>
              <a:t>A map projection, UTM.</a:t>
            </a:r>
          </a:p>
          <a:p>
            <a:pPr marL="285750" indent="-285750">
              <a:buFont typeface="Arial" panose="020B0604020202020204" pitchFamily="34" charset="0"/>
              <a:buChar char="•"/>
            </a:pPr>
            <a:r>
              <a:rPr lang="en-US" dirty="0" sz="1800">
                <a:latin typeface="Calibri"/>
                <a:ea typeface="Calibri"/>
                <a:cs typeface="Calibri"/>
              </a:rPr>
              <a:t>A linear unit, usually meters. Sometimes US survey feet or international feet.</a:t>
            </a:r>
          </a:p>
          <a:p>
            <a:endParaRPr lang="en-US" dirty="0"/>
          </a:p>
          <a:p>
            <a:br>
              <a:rPr lang="en-US" dirty="0"/>
            </a:br>
            <a:endParaRPr lang="en-US" dirty="0"/>
          </a:p>
        </p:txBody>
      </p:sp>
      <p:sp>
        <p:nvSpPr>
          <p:cNvPr id="8" name="TextBox 7"/>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24  /  51</a:t>
            </a:r>
          </a:p>
        </p:txBody>
      </p:sp>
    </p:spTree>
    <p:extLst>
      <p:ext uri="{BB962C8B-B14F-4D97-AF65-F5344CB8AC3E}">
        <p14:creationId xmlns:p14="http://schemas.microsoft.com/office/powerpoint/2010/main" val="2675625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9147E-7DED-E884-D1AD-C418406CC796}"/>
              </a:ext>
            </a:extLst>
          </p:cNvPr>
          <p:cNvSpPr>
            <a:spLocks noGrp="1"/>
          </p:cNvSpPr>
          <p:nvPr>
            <p:ph type="title"/>
          </p:nvPr>
        </p:nvSpPr>
        <p:spPr/>
        <p:txBody>
          <a:bodyPr/>
          <a:lstStyle/>
          <a:p>
            <a:r>
              <a:rPr lang="en-US" dirty="0" sz="3200" b="1">
                <a:latin typeface="Calibri"/>
                <a:ea typeface="Calibri"/>
                <a:cs typeface="Calibri"/>
                <a:highlight>
                  <a:srgbClr val="FFFF00"/>
                </a:highlight>
              </a:rPr>
              <a:t xml:space="preserve">Introduction to ArcGIS Pro</a:t>
            </a:r>
          </a:p>
        </p:txBody>
      </p:sp>
      <p:sp>
        <p:nvSpPr>
          <p:cNvPr id="3" name="Content Placeholder 2">
            <a:extLst>
              <a:ext uri="{FF2B5EF4-FFF2-40B4-BE49-F238E27FC236}">
                <a16:creationId xmlns:a16="http://schemas.microsoft.com/office/drawing/2014/main" id="{BFB4E86F-2C08-3082-5111-BB2E0EA9614D}"/>
              </a:ext>
            </a:extLst>
          </p:cNvPr>
          <p:cNvSpPr>
            <a:spLocks noGrp="1"/>
          </p:cNvSpPr>
          <p:nvPr>
            <p:ph idx="1"/>
          </p:nvPr>
        </p:nvSpPr>
        <p:spPr/>
        <p:txBody>
          <a:bodyPr>
            <a:normAutofit lnSpcReduction="10000"/>
          </a:bodyPr>
          <a:lstStyle/>
          <a:p>
            <a:r>
              <a:rPr lang="en-US" dirty="0" sz="1800">
                <a:latin typeface="Calibri"/>
                <a:ea typeface="Calibri"/>
                <a:cs typeface="Calibri"/>
              </a:rPr>
              <a:t>ArcGIS Pro is Esri’s professional desktop GIS application. It is the replacement for ArcMap, ArcCatalog, </a:t>
            </a:r>
            <a:r>
              <a:rPr lang="en-US" dirty="0" err="1" sz="1800">
                <a:latin typeface="Calibri"/>
                <a:ea typeface="Calibri"/>
                <a:cs typeface="Calibri"/>
              </a:rPr>
              <a:t>ArcScene</a:t>
            </a:r>
            <a:r>
              <a:rPr lang="en-US" dirty="0" sz="1800">
                <a:latin typeface="Calibri"/>
                <a:ea typeface="Calibri"/>
                <a:cs typeface="Calibri"/>
              </a:rPr>
              <a:t>, and </a:t>
            </a:r>
            <a:r>
              <a:rPr lang="en-US" dirty="0" err="1" sz="1800">
                <a:latin typeface="Calibri"/>
                <a:ea typeface="Calibri"/>
                <a:cs typeface="Calibri"/>
              </a:rPr>
              <a:t>ArcGlobe</a:t>
            </a:r>
            <a:r>
              <a:rPr lang="en-US" dirty="0" sz="1800">
                <a:latin typeface="Calibri"/>
                <a:ea typeface="Calibri"/>
                <a:cs typeface="Calibri"/>
              </a:rPr>
              <a:t> — all in one program. It is designed to run on 64-bit computers.</a:t>
            </a:r>
          </a:p>
          <a:p>
            <a:r>
              <a:rPr lang="en-US" dirty="0" sz="1800">
                <a:latin typeface="Calibri"/>
                <a:ea typeface="Calibri"/>
                <a:cs typeface="Calibri"/>
              </a:rPr>
              <a:t>With ArcGIS Pro we can do:</a:t>
            </a:r>
          </a:p>
          <a:p>
            <a:pPr marL="0" indent="0">
              <a:buNone/>
            </a:pPr>
            <a:r>
              <a:rPr lang="en-US" dirty="0" sz="1800">
                <a:latin typeface="Calibri"/>
                <a:ea typeface="Calibri"/>
                <a:cs typeface="Calibri"/>
              </a:rPr>
              <a:t>	View and edit maps in 2D and 3D	</a:t>
            </a:r>
          </a:p>
          <a:p>
            <a:pPr marL="0" indent="0">
              <a:buNone/>
            </a:pPr>
            <a:r>
              <a:rPr lang="en-US" dirty="0" sz="1800">
                <a:latin typeface="Calibri"/>
                <a:ea typeface="Calibri"/>
                <a:cs typeface="Calibri"/>
              </a:rPr>
              <a:t xml:space="preserve">	Manage GIS data (shapefiles, geodatabases, </a:t>
            </a:r>
            <a:r>
              <a:rPr lang="en-US" dirty="0" sz="1800">
                <a:latin typeface="Calibri"/>
                <a:ea typeface="Calibri"/>
                <a:cs typeface="Calibri"/>
                <a:highlight>
                  <a:srgbClr val="FFFF00"/>
                </a:highlight>
              </a:rPr>
              <a:t xml:space="preserve">services)
Analyze spatial data</a:t>
            </a:r>
            <a:r>
              <a:rPr lang="en-US" dirty="0" sz="1800">
                <a:latin typeface="Calibri"/>
                <a:ea typeface="Calibri"/>
                <a:cs typeface="Calibri"/>
              </a:rPr>
              <a:t xml:space="preserve"> (buffers, overlays, traces)	</a:t>
            </a:r>
          </a:p>
          <a:p>
            <a:pPr marL="0" indent="0">
              <a:buNone/>
            </a:pPr>
            <a:r>
              <a:rPr lang="en-US" dirty="0" sz="1800">
                <a:latin typeface="Calibri"/>
                <a:ea typeface="Calibri"/>
                <a:cs typeface="Calibri"/>
              </a:rPr>
              <a:t>	Design print layouts</a:t>
            </a:r>
          </a:p>
          <a:p>
            <a:pPr marL="0" indent="0">
              <a:buNone/>
            </a:pPr>
            <a:r>
              <a:rPr lang="en-US" dirty="0" sz="1800">
                <a:latin typeface="Calibri"/>
                <a:ea typeface="Calibri"/>
                <a:cs typeface="Calibri"/>
              </a:rPr>
              <a:t>	Share maps to ArcGIS Online or ArcGIS Enterprise</a:t>
            </a:r>
          </a:p>
          <a:p>
            <a:pPr marL="0" indent="0">
              <a:buNone/>
            </a:pPr>
            <a:r>
              <a:rPr lang="en-US" dirty="0" sz="1800">
                <a:latin typeface="Calibri"/>
                <a:ea typeface="Calibri"/>
                <a:cs typeface="Calibri"/>
              </a:rPr>
              <a:t>	Work with modern datasets such as Utility Network.</a:t>
            </a:r>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26  /  51</a:t>
            </a:r>
          </a:p>
        </p:txBody>
      </p:sp>
    </p:spTree>
    <p:extLst>
      <p:ext uri="{BB962C8B-B14F-4D97-AF65-F5344CB8AC3E}">
        <p14:creationId xmlns:p14="http://schemas.microsoft.com/office/powerpoint/2010/main" val="6796425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10149-F3F7-FD70-5F1A-863423E36347}"/>
              </a:ext>
            </a:extLst>
          </p:cNvPr>
          <p:cNvSpPr>
            <a:spLocks noGrp="1"/>
          </p:cNvSpPr>
          <p:nvPr>
            <p:ph type="title"/>
          </p:nvPr>
        </p:nvSpPr>
        <p:spPr>
          <a:xfrm>
            <a:off x="446314" y="365125"/>
            <a:ext cx="12725400" cy="1325563"/>
          </a:xfrm>
        </p:spPr>
        <p:txBody>
          <a:bodyPr/>
          <a:lstStyle/>
          <a:p>
            <a:r>
              <a:rPr lang="en-US" dirty="0" sz="3200" b="1">
                <a:latin typeface="Calibri"/>
                <a:ea typeface="Calibri"/>
                <a:cs typeface="Calibri"/>
              </a:rPr>
              <a:t>Managing Vector Data in ArcGIS Pro</a:t>
            </a:r>
          </a:p>
        </p:txBody>
      </p:sp>
      <p:sp>
        <p:nvSpPr>
          <p:cNvPr id="3" name="Content Placeholder 2">
            <a:extLst>
              <a:ext uri="{FF2B5EF4-FFF2-40B4-BE49-F238E27FC236}">
                <a16:creationId xmlns:a16="http://schemas.microsoft.com/office/drawing/2014/main" id="{10DE6F25-0190-B43D-8B25-82C1F8213CCE}"/>
              </a:ext>
            </a:extLst>
          </p:cNvPr>
          <p:cNvSpPr>
            <a:spLocks noGrp="1"/>
          </p:cNvSpPr>
          <p:nvPr>
            <p:ph idx="1"/>
          </p:nvPr>
        </p:nvSpPr>
        <p:spPr>
          <a:xfrm>
            <a:off x="687038" y="1475849"/>
            <a:ext cx="6487886" cy="4351338"/>
          </a:xfrm>
        </p:spPr>
        <p:txBody>
          <a:bodyPr>
            <a:normAutofit fontScale="92500" lnSpcReduction="10000"/>
          </a:bodyPr>
          <a:lstStyle/>
          <a:p>
            <a:pPr marL="0" indent="0">
              <a:buNone/>
            </a:pPr>
            <a:r>
              <a:rPr lang="en-US" dirty="0" sz="1800">
                <a:latin typeface="Calibri"/>
                <a:ea typeface="Calibri"/>
                <a:cs typeface="Calibri"/>
                <a:highlight>
                  <a:srgbClr val="FFFF00"/>
                </a:highlight>
              </a:rPr>
              <a:t xml:space="preserve">As previously described, the vector data</a:t>
            </a:r>
            <a:r>
              <a:rPr lang="en-US" dirty="0" sz="1800">
                <a:latin typeface="Calibri"/>
                <a:ea typeface="Calibri"/>
                <a:cs typeface="Calibri"/>
              </a:rPr>
              <a:t xml:space="preserve"> model is designed to handle the storage of discrete objects on the earth’s surface, such as sampling sites, roads, or parcels. </a:t>
            </a:r>
            <a:r>
              <a:rPr lang="en-US" dirty="0" sz="1800">
                <a:latin typeface="Calibri"/>
                <a:ea typeface="Calibri"/>
                <a:cs typeface="Calibri"/>
                <a:highlight>
                  <a:srgbClr val="FFFF00"/>
                </a:highlight>
              </a:rPr>
              <a:t xml:space="preserve">Vector data uses a series</a:t>
            </a:r>
            <a:r>
              <a:rPr lang="en-US" dirty="0" sz="1800">
                <a:latin typeface="Calibri"/>
                <a:ea typeface="Calibri"/>
                <a:cs typeface="Calibri"/>
              </a:rPr>
              <a:t xml:space="preserve"> of x-y locations to store information as points, lines, or polygons.</a:t>
            </a:r>
          </a:p>
          <a:p>
            <a:pPr marL="0" indent="0">
              <a:buNone/>
            </a:pPr>
            <a:r>
              <a:rPr lang="en-US" dirty="0" sz="1800">
                <a:latin typeface="Calibri"/>
                <a:ea typeface="Calibri"/>
                <a:cs typeface="Calibri"/>
              </a:rPr>
              <a:t>ArcGIS can read a variety of GIS file formats; some are native to ArcGIS, and some originate from other sources. In addition, some may be local, and some may be hosted as online data from</a:t>
            </a:r>
          </a:p>
          <a:p>
            <a:pPr marL="0" indent="0">
              <a:buNone/>
            </a:pPr>
            <a:r>
              <a:rPr lang="en-US" dirty="0" sz="1800">
                <a:latin typeface="Calibri"/>
                <a:ea typeface="Calibri"/>
                <a:cs typeface="Calibri"/>
              </a:rPr>
              <a:t>ArcGIS Portal.</a:t>
            </a:r>
          </a:p>
          <a:p>
            <a:endParaRPr lang="en-US" dirty="0"/>
          </a:p>
        </p:txBody>
      </p:sp>
      <p:pic>
        <p:nvPicPr>
          <p:cNvPr id="10" name="Picture 9">
            <a:extLst>
              <a:ext uri="{FF2B5EF4-FFF2-40B4-BE49-F238E27FC236}">
                <a16:creationId xmlns:a16="http://schemas.microsoft.com/office/drawing/2014/main" id="{0B97D981-290A-95D8-E008-FDCAA3101574}"/>
              </a:ext>
            </a:extLst>
          </p:cNvPr>
          <p:cNvPicPr>
            <a:picLocks noChangeAspect="1"/>
          </p:cNvPicPr>
          <p:nvPr/>
        </p:nvPicPr>
        <p:blipFill>
          <a:blip r:embed="rId2"/>
          <a:stretch>
            <a:fillRect/>
          </a:stretch>
        </p:blipFill>
        <p:spPr>
          <a:xfrm>
            <a:off x="7328563" y="1475850"/>
            <a:ext cx="4776352" cy="4351337"/>
          </a:xfrm>
          <a:prstGeom prst="rect">
            <a:avLst/>
          </a:prstGeom>
          <a:ln>
            <a:solidFill>
              <a:srgbClr val="002060"/>
            </a:solidFill>
          </a:ln>
        </p:spPr>
      </p:pic>
      <p:sp>
        <p:nvSpPr>
          <p:cNvPr id="11" name="TextBox 10"/>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27  /  51</a:t>
            </a:r>
          </a:p>
        </p:txBody>
      </p:sp>
    </p:spTree>
    <p:extLst>
      <p:ext uri="{BB962C8B-B14F-4D97-AF65-F5344CB8AC3E}">
        <p14:creationId xmlns:p14="http://schemas.microsoft.com/office/powerpoint/2010/main" val="4204039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9711B-F5D4-6496-2011-F3ADDA90D91E}"/>
              </a:ext>
            </a:extLst>
          </p:cNvPr>
          <p:cNvSpPr>
            <a:spLocks noGrp="1"/>
          </p:cNvSpPr>
          <p:nvPr>
            <p:ph type="title"/>
          </p:nvPr>
        </p:nvSpPr>
        <p:spPr/>
        <p:txBody>
          <a:bodyPr/>
          <a:lstStyle/>
          <a:p>
            <a:r>
              <a:rPr lang="en-US" dirty="0" sz="3200" b="1">
                <a:latin typeface="Calibri"/>
                <a:ea typeface="Calibri"/>
                <a:cs typeface="Calibri"/>
              </a:rPr>
              <a:t>Geodatabase</a:t>
            </a:r>
          </a:p>
        </p:txBody>
      </p:sp>
      <p:sp>
        <p:nvSpPr>
          <p:cNvPr id="3" name="Content Placeholder 2">
            <a:extLst>
              <a:ext uri="{FF2B5EF4-FFF2-40B4-BE49-F238E27FC236}">
                <a16:creationId xmlns:a16="http://schemas.microsoft.com/office/drawing/2014/main" id="{30453375-F36B-07A4-3889-C56B3ACA51D8}"/>
              </a:ext>
            </a:extLst>
          </p:cNvPr>
          <p:cNvSpPr>
            <a:spLocks noGrp="1"/>
          </p:cNvSpPr>
          <p:nvPr>
            <p:ph idx="1"/>
          </p:nvPr>
        </p:nvSpPr>
        <p:spPr/>
        <p:txBody>
          <a:bodyPr>
            <a:normAutofit/>
          </a:bodyPr>
          <a:lstStyle/>
          <a:p>
            <a:pPr marL="0" indent="0">
              <a:buNone/>
            </a:pPr>
            <a:r>
              <a:rPr lang="en-US" dirty="0" sz="1800">
                <a:latin typeface="Calibri"/>
                <a:ea typeface="Calibri"/>
                <a:cs typeface="Calibri"/>
              </a:rPr>
              <a:t>In ArcGIS, the geodatabase is the native container for GIS data, it is Esri’s database for storing, querying, and managing spatial and nonspatial GIS data in one place.</a:t>
            </a:r>
          </a:p>
          <a:p>
            <a:pPr marL="0" indent="0">
              <a:buNone/>
            </a:pPr>
            <a:r>
              <a:rPr lang="en-US" dirty="0" sz="1800">
                <a:latin typeface="Calibri"/>
                <a:ea typeface="Calibri"/>
                <a:cs typeface="Calibri"/>
              </a:rPr>
              <a:t>It is more than a folder of shapefiles. It can store:</a:t>
            </a:r>
          </a:p>
          <a:p>
            <a:pPr lvl="1"/>
            <a:r>
              <a:rPr lang="en-US" dirty="0" sz="1800">
                <a:latin typeface="Calibri"/>
                <a:ea typeface="Calibri"/>
                <a:cs typeface="Calibri"/>
              </a:rPr>
              <a:t>geometry (points, lines, polygons)</a:t>
            </a:r>
          </a:p>
          <a:p>
            <a:pPr lvl="1"/>
            <a:r>
              <a:rPr lang="en-US" dirty="0" sz="1800">
                <a:latin typeface="Calibri"/>
                <a:ea typeface="Calibri"/>
                <a:cs typeface="Calibri"/>
              </a:rPr>
              <a:t>Feature class, feature dataset</a:t>
            </a:r>
          </a:p>
          <a:p>
            <a:pPr lvl="1"/>
            <a:r>
              <a:rPr lang="en-US" dirty="0" sz="1800">
                <a:latin typeface="Calibri"/>
                <a:ea typeface="Calibri"/>
                <a:cs typeface="Calibri"/>
              </a:rPr>
              <a:t>attributes</a:t>
            </a:r>
          </a:p>
          <a:p>
            <a:pPr lvl="1"/>
            <a:r>
              <a:rPr lang="en-US" dirty="0" sz="1800">
                <a:latin typeface="Calibri"/>
                <a:ea typeface="Calibri"/>
                <a:cs typeface="Calibri"/>
              </a:rPr>
              <a:t>rules (domains, subtypes)</a:t>
            </a:r>
          </a:p>
          <a:p>
            <a:pPr lvl="1"/>
            <a:r>
              <a:rPr lang="en-US" dirty="0" sz="1800">
                <a:latin typeface="Calibri"/>
                <a:ea typeface="Calibri"/>
                <a:cs typeface="Calibri"/>
              </a:rPr>
              <a:t>relationships</a:t>
            </a:r>
          </a:p>
          <a:p>
            <a:pPr lvl="1"/>
            <a:r>
              <a:rPr lang="en-US" dirty="0" sz="1800">
                <a:latin typeface="Calibri"/>
                <a:ea typeface="Calibri"/>
                <a:cs typeface="Calibri"/>
              </a:rPr>
              <a:t>networks, topology, parcel fabric</a:t>
            </a:r>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28  /  51</a:t>
            </a:r>
          </a:p>
        </p:txBody>
      </p:sp>
    </p:spTree>
    <p:extLst>
      <p:ext uri="{BB962C8B-B14F-4D97-AF65-F5344CB8AC3E}">
        <p14:creationId xmlns:p14="http://schemas.microsoft.com/office/powerpoint/2010/main" val="3709155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2707F-31F9-3F5D-82CC-223344D5877E}"/>
              </a:ext>
            </a:extLst>
          </p:cNvPr>
          <p:cNvSpPr>
            <a:spLocks noGrp="1"/>
          </p:cNvSpPr>
          <p:nvPr>
            <p:ph type="title"/>
          </p:nvPr>
        </p:nvSpPr>
        <p:spPr/>
        <p:txBody>
          <a:bodyPr/>
          <a:lstStyle/>
          <a:p>
            <a:r>
              <a:rPr lang="en-US" dirty="0" sz="3200" b="1">
                <a:latin typeface="Calibri"/>
                <a:ea typeface="Calibri"/>
                <a:cs typeface="Calibri"/>
                <a:highlight>
                  <a:srgbClr val="FFFF00"/>
                </a:highlight>
              </a:rPr>
              <a:t xml:space="preserve">Types of Geodatabases</a:t>
            </a:r>
          </a:p>
        </p:txBody>
      </p:sp>
      <p:sp>
        <p:nvSpPr>
          <p:cNvPr id="3" name="Content Placeholder 2">
            <a:extLst>
              <a:ext uri="{FF2B5EF4-FFF2-40B4-BE49-F238E27FC236}">
                <a16:creationId xmlns:a16="http://schemas.microsoft.com/office/drawing/2014/main" id="{FAE77297-FA03-4A18-6657-6505A8CEFE3D}"/>
              </a:ext>
            </a:extLst>
          </p:cNvPr>
          <p:cNvSpPr>
            <a:spLocks noGrp="1"/>
          </p:cNvSpPr>
          <p:nvPr>
            <p:ph idx="1"/>
          </p:nvPr>
        </p:nvSpPr>
        <p:spPr/>
        <p:txBody>
          <a:bodyPr>
            <a:normAutofit fontScale="85000" lnSpcReduction="10000"/>
          </a:bodyPr>
          <a:lstStyle/>
          <a:p>
            <a:r>
              <a:rPr lang="en-US" sz="1800" dirty="0">
                <a:latin typeface="Calibri"/>
                <a:ea typeface="Calibri"/>
                <a:cs typeface="Calibri"/>
              </a:rPr>
              <a:t>There are three types of geodatabases used by ArcGIS. </a:t>
            </a:r>
          </a:p>
          <a:p>
            <a:r>
              <a:rPr lang="en-US" b="1" dirty="0" sz="1800">
                <a:latin typeface="Calibri"/>
                <a:ea typeface="Calibri"/>
                <a:cs typeface="Calibri"/>
              </a:rPr>
              <a:t>A personal geodatabase </a:t>
            </a:r>
            <a:r>
              <a:rPr lang="en-US" dirty="0" sz="1800">
                <a:latin typeface="Calibri"/>
                <a:ea typeface="Calibri"/>
                <a:cs typeface="Calibri"/>
              </a:rPr>
              <a:t>is stored in a single Microsoft Access file. This file is limited to 2 GB in size and works only in the Windows operating system. ArcGIS Pro does not recognize this format, and it must be upgraded to a file geodatabase in ArcCatalog before it can be used with Pro. </a:t>
            </a:r>
          </a:p>
          <a:p>
            <a:r>
              <a:rPr lang="en-US" b="1" dirty="0" sz="1800">
                <a:latin typeface="Calibri"/>
                <a:ea typeface="Calibri"/>
                <a:cs typeface="Calibri"/>
              </a:rPr>
              <a:t>A file geodatabase </a:t>
            </a:r>
            <a:r>
              <a:rPr lang="en-US" dirty="0" sz="1800">
                <a:latin typeface="Calibri"/>
                <a:ea typeface="Calibri"/>
                <a:cs typeface="Calibri"/>
              </a:rPr>
              <a:t>is stored in a system folder, and each file can be up to 1 TB in size. File geodatabases can be accessed by multiple operating systems, including Linux and Unix. </a:t>
            </a:r>
          </a:p>
          <a:p>
            <a:r>
              <a:rPr lang="en-US" b="1" dirty="0" sz="1800">
                <a:latin typeface="Calibri"/>
                <a:ea typeface="Calibri"/>
                <a:cs typeface="Calibri"/>
              </a:rPr>
              <a:t>An enterprise geodatabase </a:t>
            </a:r>
            <a:r>
              <a:rPr lang="en-US" dirty="0" sz="1800">
                <a:latin typeface="Calibri"/>
                <a:ea typeface="Calibri"/>
                <a:cs typeface="Calibri"/>
              </a:rPr>
              <a:t>stores GIS data within a commercial relational database management system (RDBMS), such as Oracle® or SQL Server®. Enterprise geodatabases are designed to meet security and management needs for large data sets edited by many simultaneous users.</a:t>
            </a:r>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29  /  51</a:t>
            </a:r>
          </a:p>
        </p:txBody>
      </p:sp>
    </p:spTree>
    <p:extLst>
      <p:ext uri="{BB962C8B-B14F-4D97-AF65-F5344CB8AC3E}">
        <p14:creationId xmlns:p14="http://schemas.microsoft.com/office/powerpoint/2010/main" val="432793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2B1C-6FF2-CDE3-DF59-A465F8FBBAA4}"/>
              </a:ext>
            </a:extLst>
          </p:cNvPr>
          <p:cNvSpPr>
            <a:spLocks noGrp="1"/>
          </p:cNvSpPr>
          <p:nvPr>
            <p:ph type="title"/>
          </p:nvPr>
        </p:nvSpPr>
        <p:spPr/>
        <p:txBody>
          <a:bodyPr/>
          <a:lstStyle/>
          <a:p>
            <a:r>
              <a:rPr lang="en-US" dirty="0" sz="3200" b="1">
                <a:latin typeface="Calibri"/>
                <a:ea typeface="Calibri"/>
                <a:cs typeface="Calibri"/>
                <a:highlight>
                  <a:srgbClr val="FFFF00"/>
                </a:highlight>
              </a:rPr>
              <a:t xml:space="preserve">Other GIS Data Types</a:t>
            </a:r>
          </a:p>
        </p:txBody>
      </p:sp>
      <p:sp>
        <p:nvSpPr>
          <p:cNvPr id="3" name="Content Placeholder 2">
            <a:extLst>
              <a:ext uri="{FF2B5EF4-FFF2-40B4-BE49-F238E27FC236}">
                <a16:creationId xmlns:a16="http://schemas.microsoft.com/office/drawing/2014/main" id="{59088EAC-8EEA-2D97-CD77-0AD40BC29E7A}"/>
              </a:ext>
            </a:extLst>
          </p:cNvPr>
          <p:cNvSpPr>
            <a:spLocks noGrp="1"/>
          </p:cNvSpPr>
          <p:nvPr>
            <p:ph idx="1"/>
          </p:nvPr>
        </p:nvSpPr>
        <p:spPr>
          <a:xfrm>
            <a:off x="272142" y="1455510"/>
            <a:ext cx="6515101" cy="4694918"/>
          </a:xfrm>
        </p:spPr>
        <p:txBody>
          <a:bodyPr>
            <a:normAutofit fontScale="92500" lnSpcReduction="20000"/>
          </a:bodyPr>
          <a:lstStyle/>
          <a:p>
            <a:r>
              <a:rPr lang="en-US" b="1" dirty="0" sz="1800">
                <a:latin typeface="Calibri"/>
                <a:ea typeface="Calibri"/>
                <a:cs typeface="Calibri"/>
              </a:rPr>
              <a:t xml:space="preserve">Shapefile: A shapefile is a spaghetti data format containing a feature class composed of points, lines, or polygons. The table attributes are stored in </a:t>
            </a:r>
            <a:r>
              <a:rPr lang="en-US" b="1" dirty="0" sz="1800">
                <a:latin typeface="Calibri"/>
                <a:ea typeface="Calibri"/>
                <a:cs typeface="Calibri"/>
                <a:highlight>
                  <a:srgbClr val="FFFF00"/>
                </a:highlight>
              </a:rPr>
              <a:t xml:space="preserve">a dBase file. Shapefiles cannot store domains, subtypes, relationship classes, or topology.</a:t>
            </a:r>
          </a:p>
          <a:p>
            <a:endParaRPr lang="en-US" dirty="0"/>
          </a:p>
          <a:p>
            <a:r>
              <a:rPr lang="en-US" b="1" dirty="0" sz="1800">
                <a:latin typeface="Calibri"/>
                <a:ea typeface="Calibri"/>
                <a:cs typeface="Calibri"/>
              </a:rPr>
              <a:t>Feature class: </a:t>
            </a:r>
            <a:r>
              <a:rPr lang="en-US" dirty="0" sz="1800">
                <a:latin typeface="Calibri"/>
                <a:ea typeface="Calibri"/>
                <a:cs typeface="Calibri"/>
              </a:rPr>
              <a:t>A feature class is a collection of geographic features that all have:</a:t>
            </a:r>
          </a:p>
          <a:p>
            <a:pPr lvl="1"/>
            <a:r>
              <a:rPr lang="en-US" dirty="0" sz="1800">
                <a:latin typeface="Calibri"/>
                <a:ea typeface="Calibri"/>
                <a:cs typeface="Calibri"/>
              </a:rPr>
              <a:t>the same geometry type (all points, or all lines, or all polygons)</a:t>
            </a:r>
          </a:p>
          <a:p>
            <a:pPr lvl="1"/>
            <a:r>
              <a:rPr lang="en-US" dirty="0" sz="1800">
                <a:latin typeface="Calibri"/>
                <a:ea typeface="Calibri"/>
                <a:cs typeface="Calibri"/>
              </a:rPr>
              <a:t>the same attribute fields</a:t>
            </a:r>
          </a:p>
          <a:p>
            <a:pPr lvl="1"/>
            <a:r>
              <a:rPr lang="en-US" dirty="0" sz="1800">
                <a:latin typeface="Calibri"/>
                <a:ea typeface="Calibri"/>
                <a:cs typeface="Calibri"/>
              </a:rPr>
              <a:t>the same spatial reference (same datum + coordinate system)</a:t>
            </a:r>
          </a:p>
          <a:p>
            <a:pPr lvl="1"/>
            <a:endParaRPr lang="en-US" dirty="0"/>
          </a:p>
        </p:txBody>
      </p:sp>
      <p:pic>
        <p:nvPicPr>
          <p:cNvPr id="5" name="Picture 4">
            <a:extLst>
              <a:ext uri="{FF2B5EF4-FFF2-40B4-BE49-F238E27FC236}">
                <a16:creationId xmlns:a16="http://schemas.microsoft.com/office/drawing/2014/main" id="{BCED716A-9ED4-846D-E1FD-DF45DA73984B}"/>
              </a:ext>
            </a:extLst>
          </p:cNvPr>
          <p:cNvPicPr>
            <a:picLocks noChangeAspect="1"/>
          </p:cNvPicPr>
          <p:nvPr/>
        </p:nvPicPr>
        <p:blipFill>
          <a:blip r:embed="rId2"/>
          <a:stretch>
            <a:fillRect/>
          </a:stretch>
        </p:blipFill>
        <p:spPr>
          <a:xfrm>
            <a:off x="6689272" y="1799319"/>
            <a:ext cx="5404757" cy="3603171"/>
          </a:xfrm>
          <a:prstGeom prst="rect">
            <a:avLst/>
          </a:prstGeom>
        </p:spPr>
      </p:pic>
      <p:sp>
        <p:nvSpPr>
          <p:cNvPr id="6" name="TextBox 5"/>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30  /  51</a:t>
            </a:r>
          </a:p>
        </p:txBody>
      </p:sp>
    </p:spTree>
    <p:extLst>
      <p:ext uri="{BB962C8B-B14F-4D97-AF65-F5344CB8AC3E}">
        <p14:creationId xmlns:p14="http://schemas.microsoft.com/office/powerpoint/2010/main" val="34187290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D22FA1E-E02A-4FC5-BBA6-577D6DA0C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05D27520-F270-4F3D-A46E-76A337B6E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6315529 w 12192000"/>
              <a:gd name="connsiteY0" fmla="*/ 4323896 h 6858000"/>
              <a:gd name="connsiteX1" fmla="*/ 6295588 w 12192000"/>
              <a:gd name="connsiteY1" fmla="*/ 4367579 h 6858000"/>
              <a:gd name="connsiteX2" fmla="*/ 6219229 w 12192000"/>
              <a:gd name="connsiteY2" fmla="*/ 4436818 h 6858000"/>
              <a:gd name="connsiteX3" fmla="*/ 6065687 w 12192000"/>
              <a:gd name="connsiteY3" fmla="*/ 4637204 h 6858000"/>
              <a:gd name="connsiteX4" fmla="*/ 5727387 w 12192000"/>
              <a:gd name="connsiteY4" fmla="*/ 5460076 h 6858000"/>
              <a:gd name="connsiteX5" fmla="*/ 5620972 w 12192000"/>
              <a:gd name="connsiteY5" fmla="*/ 5725836 h 6858000"/>
              <a:gd name="connsiteX6" fmla="*/ 5707795 w 12192000"/>
              <a:gd name="connsiteY6" fmla="*/ 5790089 h 6858000"/>
              <a:gd name="connsiteX7" fmla="*/ 5554627 w 12192000"/>
              <a:gd name="connsiteY7" fmla="*/ 6078873 h 6858000"/>
              <a:gd name="connsiteX8" fmla="*/ 5373489 w 12192000"/>
              <a:gd name="connsiteY8" fmla="*/ 6402408 h 6858000"/>
              <a:gd name="connsiteX9" fmla="*/ 5099999 w 12192000"/>
              <a:gd name="connsiteY9" fmla="*/ 6827527 h 6858000"/>
              <a:gd name="connsiteX10" fmla="*/ 5078133 w 12192000"/>
              <a:gd name="connsiteY10" fmla="*/ 6857998 h 6858000"/>
              <a:gd name="connsiteX11" fmla="*/ 9179960 w 12192000"/>
              <a:gd name="connsiteY11" fmla="*/ 6857998 h 6858000"/>
              <a:gd name="connsiteX12" fmla="*/ 9179960 w 12192000"/>
              <a:gd name="connsiteY12" fmla="*/ 4323896 h 6858000"/>
              <a:gd name="connsiteX13" fmla="*/ 0 w 12192000"/>
              <a:gd name="connsiteY13" fmla="*/ 0 h 6858000"/>
              <a:gd name="connsiteX14" fmla="*/ 5872711 w 12192000"/>
              <a:gd name="connsiteY14" fmla="*/ 0 h 6858000"/>
              <a:gd name="connsiteX15" fmla="*/ 5885421 w 12192000"/>
              <a:gd name="connsiteY15" fmla="*/ 20207 h 6858000"/>
              <a:gd name="connsiteX16" fmla="*/ 5925300 w 12192000"/>
              <a:gd name="connsiteY16" fmla="*/ 48911 h 6858000"/>
              <a:gd name="connsiteX17" fmla="*/ 5940039 w 12192000"/>
              <a:gd name="connsiteY17" fmla="*/ 101212 h 6858000"/>
              <a:gd name="connsiteX18" fmla="*/ 5969942 w 12192000"/>
              <a:gd name="connsiteY18" fmla="*/ 311282 h 6858000"/>
              <a:gd name="connsiteX19" fmla="*/ 5961238 w 12192000"/>
              <a:gd name="connsiteY19" fmla="*/ 357643 h 6858000"/>
              <a:gd name="connsiteX20" fmla="*/ 5917195 w 12192000"/>
              <a:gd name="connsiteY20" fmla="*/ 420369 h 6858000"/>
              <a:gd name="connsiteX21" fmla="*/ 5882753 w 12192000"/>
              <a:gd name="connsiteY21" fmla="*/ 556832 h 6858000"/>
              <a:gd name="connsiteX22" fmla="*/ 5814490 w 12192000"/>
              <a:gd name="connsiteY22" fmla="*/ 757416 h 6858000"/>
              <a:gd name="connsiteX23" fmla="*/ 5780064 w 12192000"/>
              <a:gd name="connsiteY23" fmla="*/ 817804 h 6858000"/>
              <a:gd name="connsiteX24" fmla="*/ 5808232 w 12192000"/>
              <a:gd name="connsiteY24" fmla="*/ 850533 h 6858000"/>
              <a:gd name="connsiteX25" fmla="*/ 5906473 w 12192000"/>
              <a:gd name="connsiteY25" fmla="*/ 1076571 h 6858000"/>
              <a:gd name="connsiteX26" fmla="*/ 5778623 w 12192000"/>
              <a:gd name="connsiteY26" fmla="*/ 1369280 h 6858000"/>
              <a:gd name="connsiteX27" fmla="*/ 5710841 w 12192000"/>
              <a:gd name="connsiteY27" fmla="*/ 1462628 h 6858000"/>
              <a:gd name="connsiteX28" fmla="*/ 5846774 w 12192000"/>
              <a:gd name="connsiteY28" fmla="*/ 1455933 h 6858000"/>
              <a:gd name="connsiteX29" fmla="*/ 5897329 w 12192000"/>
              <a:gd name="connsiteY29" fmla="*/ 1553073 h 6858000"/>
              <a:gd name="connsiteX30" fmla="*/ 5919735 w 12192000"/>
              <a:gd name="connsiteY30" fmla="*/ 1602736 h 6858000"/>
              <a:gd name="connsiteX31" fmla="*/ 6057874 w 12192000"/>
              <a:gd name="connsiteY31" fmla="*/ 1910648 h 6858000"/>
              <a:gd name="connsiteX32" fmla="*/ 6039719 w 12192000"/>
              <a:gd name="connsiteY32" fmla="*/ 2010547 h 6858000"/>
              <a:gd name="connsiteX33" fmla="*/ 5841713 w 12192000"/>
              <a:gd name="connsiteY33" fmla="*/ 2520599 h 6858000"/>
              <a:gd name="connsiteX34" fmla="*/ 6071734 w 12192000"/>
              <a:gd name="connsiteY34" fmla="*/ 2593468 h 6858000"/>
              <a:gd name="connsiteX35" fmla="*/ 6092050 w 12192000"/>
              <a:gd name="connsiteY35" fmla="*/ 2806646 h 6858000"/>
              <a:gd name="connsiteX36" fmla="*/ 6215122 w 12192000"/>
              <a:gd name="connsiteY36" fmla="*/ 3021197 h 6858000"/>
              <a:gd name="connsiteX37" fmla="*/ 6338100 w 12192000"/>
              <a:gd name="connsiteY37" fmla="*/ 3178087 h 6858000"/>
              <a:gd name="connsiteX38" fmla="*/ 6343927 w 12192000"/>
              <a:gd name="connsiteY38" fmla="*/ 3194685 h 6858000"/>
              <a:gd name="connsiteX39" fmla="*/ 6343850 w 12192000"/>
              <a:gd name="connsiteY39" fmla="*/ 3201174 h 6858000"/>
              <a:gd name="connsiteX40" fmla="*/ 6366375 w 12192000"/>
              <a:gd name="connsiteY40" fmla="*/ 3271251 h 6858000"/>
              <a:gd name="connsiteX41" fmla="*/ 6369430 w 12192000"/>
              <a:gd name="connsiteY41" fmla="*/ 3276240 h 6858000"/>
              <a:gd name="connsiteX42" fmla="*/ 6392405 w 12192000"/>
              <a:gd name="connsiteY42" fmla="*/ 3360437 h 6858000"/>
              <a:gd name="connsiteX43" fmla="*/ 6397993 w 12192000"/>
              <a:gd name="connsiteY43" fmla="*/ 3390203 h 6858000"/>
              <a:gd name="connsiteX44" fmla="*/ 6394652 w 12192000"/>
              <a:gd name="connsiteY44" fmla="*/ 3402205 h 6858000"/>
              <a:gd name="connsiteX45" fmla="*/ 6366662 w 12192000"/>
              <a:gd name="connsiteY45" fmla="*/ 3442044 h 6858000"/>
              <a:gd name="connsiteX46" fmla="*/ 6320915 w 12192000"/>
              <a:gd name="connsiteY46" fmla="*/ 3701547 h 6858000"/>
              <a:gd name="connsiteX47" fmla="*/ 6364618 w 12192000"/>
              <a:gd name="connsiteY47" fmla="*/ 3743844 h 6858000"/>
              <a:gd name="connsiteX48" fmla="*/ 6370409 w 12192000"/>
              <a:gd name="connsiteY48" fmla="*/ 3754454 h 6858000"/>
              <a:gd name="connsiteX49" fmla="*/ 6373773 w 12192000"/>
              <a:gd name="connsiteY49" fmla="*/ 3768237 h 6858000"/>
              <a:gd name="connsiteX50" fmla="*/ 6375298 w 12192000"/>
              <a:gd name="connsiteY50" fmla="*/ 3796540 h 6858000"/>
              <a:gd name="connsiteX51" fmla="*/ 6253487 w 12192000"/>
              <a:gd name="connsiteY51" fmla="*/ 3856948 h 6858000"/>
              <a:gd name="connsiteX52" fmla="*/ 6385416 w 12192000"/>
              <a:gd name="connsiteY52" fmla="*/ 4014409 h 6858000"/>
              <a:gd name="connsiteX53" fmla="*/ 6374795 w 12192000"/>
              <a:gd name="connsiteY53" fmla="*/ 4038554 h 6858000"/>
              <a:gd name="connsiteX54" fmla="*/ 6351015 w 12192000"/>
              <a:gd name="connsiteY54" fmla="*/ 4150489 h 6858000"/>
              <a:gd name="connsiteX55" fmla="*/ 6340821 w 12192000"/>
              <a:gd name="connsiteY55" fmla="*/ 4212706 h 6858000"/>
              <a:gd name="connsiteX56" fmla="*/ 12191999 w 12192000"/>
              <a:gd name="connsiteY56" fmla="*/ 4212706 h 6858000"/>
              <a:gd name="connsiteX57" fmla="*/ 12191999 w 12192000"/>
              <a:gd name="connsiteY57" fmla="*/ 0 h 6858000"/>
              <a:gd name="connsiteX58" fmla="*/ 12192000 w 12192000"/>
              <a:gd name="connsiteY58" fmla="*/ 0 h 6858000"/>
              <a:gd name="connsiteX59" fmla="*/ 12192000 w 12192000"/>
              <a:gd name="connsiteY59" fmla="*/ 6858000 h 6858000"/>
              <a:gd name="connsiteX60" fmla="*/ 12191999 w 12192000"/>
              <a:gd name="connsiteY60" fmla="*/ 6858000 h 6858000"/>
              <a:gd name="connsiteX61" fmla="*/ 12191999 w 12192000"/>
              <a:gd name="connsiteY61" fmla="*/ 4323902 h 6858000"/>
              <a:gd name="connsiteX62" fmla="*/ 9307672 w 12192000"/>
              <a:gd name="connsiteY62" fmla="*/ 4323902 h 6858000"/>
              <a:gd name="connsiteX63" fmla="*/ 9307672 w 12192000"/>
              <a:gd name="connsiteY63" fmla="*/ 6858000 h 6858000"/>
              <a:gd name="connsiteX64" fmla="*/ 0 w 12192000"/>
              <a:gd name="connsiteY6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2192000" h="6858000">
                <a:moveTo>
                  <a:pt x="6315529" y="4323896"/>
                </a:moveTo>
                <a:lnTo>
                  <a:pt x="6295588" y="4367579"/>
                </a:lnTo>
                <a:cubicBezTo>
                  <a:pt x="6278024" y="4397022"/>
                  <a:pt x="6253813" y="4421099"/>
                  <a:pt x="6219229" y="4436818"/>
                </a:cubicBezTo>
                <a:cubicBezTo>
                  <a:pt x="6148079" y="4469666"/>
                  <a:pt x="6116436" y="4572066"/>
                  <a:pt x="6065687" y="4637204"/>
                </a:cubicBezTo>
                <a:cubicBezTo>
                  <a:pt x="5888713" y="4862696"/>
                  <a:pt x="5773979" y="5125824"/>
                  <a:pt x="5727387" y="5460076"/>
                </a:cubicBezTo>
                <a:cubicBezTo>
                  <a:pt x="5714326" y="5552523"/>
                  <a:pt x="5656974" y="5638673"/>
                  <a:pt x="5620972" y="5725836"/>
                </a:cubicBezTo>
                <a:cubicBezTo>
                  <a:pt x="5641553" y="5779043"/>
                  <a:pt x="5738619" y="5631221"/>
                  <a:pt x="5707795" y="5790089"/>
                </a:cubicBezTo>
                <a:cubicBezTo>
                  <a:pt x="5684453" y="5909876"/>
                  <a:pt x="5617437" y="5996827"/>
                  <a:pt x="5554627" y="6078873"/>
                </a:cubicBezTo>
                <a:cubicBezTo>
                  <a:pt x="5482491" y="6172498"/>
                  <a:pt x="5402203" y="6253366"/>
                  <a:pt x="5373489" y="6402408"/>
                </a:cubicBezTo>
                <a:cubicBezTo>
                  <a:pt x="5371924" y="6410357"/>
                  <a:pt x="5276557" y="6577417"/>
                  <a:pt x="5099999" y="6827527"/>
                </a:cubicBezTo>
                <a:lnTo>
                  <a:pt x="5078133" y="6857998"/>
                </a:lnTo>
                <a:lnTo>
                  <a:pt x="9179960" y="6857998"/>
                </a:lnTo>
                <a:lnTo>
                  <a:pt x="9179960" y="4323896"/>
                </a:lnTo>
                <a:close/>
                <a:moveTo>
                  <a:pt x="0" y="0"/>
                </a:moveTo>
                <a:lnTo>
                  <a:pt x="5872711" y="0"/>
                </a:lnTo>
                <a:lnTo>
                  <a:pt x="5885421" y="20207"/>
                </a:lnTo>
                <a:cubicBezTo>
                  <a:pt x="5896481" y="32882"/>
                  <a:pt x="5909484" y="42864"/>
                  <a:pt x="5925300" y="48911"/>
                </a:cubicBezTo>
                <a:cubicBezTo>
                  <a:pt x="5940498" y="54526"/>
                  <a:pt x="5945509" y="75042"/>
                  <a:pt x="5940039" y="101212"/>
                </a:cubicBezTo>
                <a:cubicBezTo>
                  <a:pt x="5921950" y="187894"/>
                  <a:pt x="5936667" y="254951"/>
                  <a:pt x="5969942" y="311282"/>
                </a:cubicBezTo>
                <a:cubicBezTo>
                  <a:pt x="5981709" y="330926"/>
                  <a:pt x="5977292" y="344422"/>
                  <a:pt x="5961238" y="357643"/>
                </a:cubicBezTo>
                <a:cubicBezTo>
                  <a:pt x="5942802" y="372223"/>
                  <a:pt x="5928461" y="393565"/>
                  <a:pt x="5917195" y="420369"/>
                </a:cubicBezTo>
                <a:cubicBezTo>
                  <a:pt x="5898701" y="463685"/>
                  <a:pt x="5889992" y="510050"/>
                  <a:pt x="5882753" y="556832"/>
                </a:cubicBezTo>
                <a:cubicBezTo>
                  <a:pt x="5871511" y="630206"/>
                  <a:pt x="5858246" y="700969"/>
                  <a:pt x="5814490" y="757416"/>
                </a:cubicBezTo>
                <a:cubicBezTo>
                  <a:pt x="5801465" y="774559"/>
                  <a:pt x="5791019" y="796511"/>
                  <a:pt x="5780064" y="817804"/>
                </a:cubicBezTo>
                <a:cubicBezTo>
                  <a:pt x="5783558" y="836359"/>
                  <a:pt x="5792196" y="849005"/>
                  <a:pt x="5808232" y="850533"/>
                </a:cubicBezTo>
                <a:cubicBezTo>
                  <a:pt x="5910296" y="860624"/>
                  <a:pt x="5905771" y="962632"/>
                  <a:pt x="5906473" y="1076571"/>
                </a:cubicBezTo>
                <a:cubicBezTo>
                  <a:pt x="5907545" y="1217584"/>
                  <a:pt x="5849973" y="1296799"/>
                  <a:pt x="5778623" y="1369280"/>
                </a:cubicBezTo>
                <a:cubicBezTo>
                  <a:pt x="5754207" y="1393852"/>
                  <a:pt x="5718605" y="1401742"/>
                  <a:pt x="5710841" y="1462628"/>
                </a:cubicBezTo>
                <a:cubicBezTo>
                  <a:pt x="5753463" y="1508141"/>
                  <a:pt x="5802053" y="1451295"/>
                  <a:pt x="5846774" y="1455933"/>
                </a:cubicBezTo>
                <a:cubicBezTo>
                  <a:pt x="5883727" y="1460129"/>
                  <a:pt x="5943609" y="1438568"/>
                  <a:pt x="5897329" y="1553073"/>
                </a:cubicBezTo>
                <a:cubicBezTo>
                  <a:pt x="5883856" y="1586627"/>
                  <a:pt x="5901366" y="1604100"/>
                  <a:pt x="5919735" y="1602736"/>
                </a:cubicBezTo>
                <a:cubicBezTo>
                  <a:pt x="6068526" y="1589022"/>
                  <a:pt x="6006837" y="1813624"/>
                  <a:pt x="6057874" y="1910648"/>
                </a:cubicBezTo>
                <a:cubicBezTo>
                  <a:pt x="6072264" y="1936644"/>
                  <a:pt x="6059978" y="1992417"/>
                  <a:pt x="6039719" y="2010547"/>
                </a:cubicBezTo>
                <a:cubicBezTo>
                  <a:pt x="5911143" y="2127229"/>
                  <a:pt x="5899692" y="2331836"/>
                  <a:pt x="5841713" y="2520599"/>
                </a:cubicBezTo>
                <a:cubicBezTo>
                  <a:pt x="5912636" y="2572423"/>
                  <a:pt x="5995799" y="2566926"/>
                  <a:pt x="6071734" y="2593468"/>
                </a:cubicBezTo>
                <a:cubicBezTo>
                  <a:pt x="6150607" y="2620843"/>
                  <a:pt x="6151703" y="2655507"/>
                  <a:pt x="6092050" y="2806646"/>
                </a:cubicBezTo>
                <a:cubicBezTo>
                  <a:pt x="6259331" y="2795420"/>
                  <a:pt x="6259331" y="2795420"/>
                  <a:pt x="6215122" y="3021197"/>
                </a:cubicBezTo>
                <a:cubicBezTo>
                  <a:pt x="6259035" y="3016573"/>
                  <a:pt x="6302431" y="3085300"/>
                  <a:pt x="6338100" y="3178087"/>
                </a:cubicBezTo>
                <a:lnTo>
                  <a:pt x="6343927" y="3194685"/>
                </a:lnTo>
                <a:lnTo>
                  <a:pt x="6343850" y="3201174"/>
                </a:lnTo>
                <a:cubicBezTo>
                  <a:pt x="6346866" y="3232770"/>
                  <a:pt x="6355995" y="3253323"/>
                  <a:pt x="6366375" y="3271251"/>
                </a:cubicBezTo>
                <a:lnTo>
                  <a:pt x="6369430" y="3276240"/>
                </a:lnTo>
                <a:lnTo>
                  <a:pt x="6392405" y="3360437"/>
                </a:lnTo>
                <a:lnTo>
                  <a:pt x="6397993" y="3390203"/>
                </a:lnTo>
                <a:lnTo>
                  <a:pt x="6394652" y="3402205"/>
                </a:lnTo>
                <a:cubicBezTo>
                  <a:pt x="6388505" y="3414621"/>
                  <a:pt x="6379344" y="3427747"/>
                  <a:pt x="6366662" y="3442044"/>
                </a:cubicBezTo>
                <a:cubicBezTo>
                  <a:pt x="6239481" y="3584662"/>
                  <a:pt x="6224938" y="3605480"/>
                  <a:pt x="6320915" y="3701547"/>
                </a:cubicBezTo>
                <a:lnTo>
                  <a:pt x="6364618" y="3743844"/>
                </a:lnTo>
                <a:lnTo>
                  <a:pt x="6370409" y="3754454"/>
                </a:lnTo>
                <a:lnTo>
                  <a:pt x="6373773" y="3768237"/>
                </a:lnTo>
                <a:cubicBezTo>
                  <a:pt x="6374277" y="3777528"/>
                  <a:pt x="6374207" y="3788146"/>
                  <a:pt x="6375298" y="3796540"/>
                </a:cubicBezTo>
                <a:cubicBezTo>
                  <a:pt x="6339717" y="3831045"/>
                  <a:pt x="6294642" y="3774365"/>
                  <a:pt x="6253487" y="3856948"/>
                </a:cubicBezTo>
                <a:lnTo>
                  <a:pt x="6385416" y="4014409"/>
                </a:lnTo>
                <a:lnTo>
                  <a:pt x="6374795" y="4038554"/>
                </a:lnTo>
                <a:cubicBezTo>
                  <a:pt x="6363579" y="4073249"/>
                  <a:pt x="6356895" y="4111559"/>
                  <a:pt x="6351015" y="4150489"/>
                </a:cubicBezTo>
                <a:lnTo>
                  <a:pt x="6340821" y="4212706"/>
                </a:lnTo>
                <a:lnTo>
                  <a:pt x="12191999" y="4212706"/>
                </a:lnTo>
                <a:lnTo>
                  <a:pt x="12191999" y="0"/>
                </a:lnTo>
                <a:lnTo>
                  <a:pt x="12192000" y="0"/>
                </a:lnTo>
                <a:lnTo>
                  <a:pt x="12192000" y="6858000"/>
                </a:lnTo>
                <a:lnTo>
                  <a:pt x="12191999" y="6858000"/>
                </a:lnTo>
                <a:lnTo>
                  <a:pt x="12191999" y="4323902"/>
                </a:lnTo>
                <a:lnTo>
                  <a:pt x="9307672" y="4323902"/>
                </a:lnTo>
                <a:lnTo>
                  <a:pt x="9307672" y="6858000"/>
                </a:lnTo>
                <a:lnTo>
                  <a:pt x="0" y="6858000"/>
                </a:lnTo>
                <a:close/>
              </a:path>
            </a:pathLst>
          </a:custGeom>
          <a:solidFill>
            <a:schemeClr val="bg2">
              <a:alpha val="50000"/>
            </a:schemeClr>
          </a:solidFill>
          <a:ln w="32707" cap="flat">
            <a:noFill/>
            <a:prstDash val="solid"/>
            <a:miter/>
          </a:ln>
        </p:spPr>
        <p:txBody>
          <a:bodyPr rtlCol="0" anchor="ctr"/>
          <a:lstStyle/>
          <a:p>
            <a:pPr defTabSz="457200"/>
            <a:endParaRPr lang="en-US">
              <a:solidFill>
                <a:schemeClr val="tx1"/>
              </a:solidFill>
            </a:endParaRPr>
          </a:p>
        </p:txBody>
      </p:sp>
      <p:sp>
        <p:nvSpPr>
          <p:cNvPr id="2" name="Title 1">
            <a:extLst>
              <a:ext uri="{FF2B5EF4-FFF2-40B4-BE49-F238E27FC236}">
                <a16:creationId xmlns:a16="http://schemas.microsoft.com/office/drawing/2014/main" id="{C8929D5F-0C1F-B657-5E88-0E08CCC85F15}"/>
              </a:ext>
            </a:extLst>
          </p:cNvPr>
          <p:cNvSpPr>
            <a:spLocks noGrp="1"/>
          </p:cNvSpPr>
          <p:nvPr>
            <p:ph type="title"/>
          </p:nvPr>
        </p:nvSpPr>
        <p:spPr>
          <a:xfrm>
            <a:off x="838200" y="365125"/>
            <a:ext cx="4347949" cy="2137273"/>
          </a:xfrm>
        </p:spPr>
        <p:txBody>
          <a:bodyPr anchor="b">
            <a:normAutofit/>
          </a:bodyPr>
          <a:lstStyle/>
          <a:p>
            <a:r>
              <a:rPr lang="en-US" sz="3200" b="1">
                <a:latin typeface="Calibri"/>
                <a:ea typeface="Calibri"/>
                <a:cs typeface="Calibri"/>
                <a:highlight>
                  <a:srgbClr val="FFFF00"/>
                </a:highlight>
              </a:rPr>
              <a:t xml:space="preserve">Feature Dataset</a:t>
            </a:r>
          </a:p>
        </p:txBody>
      </p:sp>
      <p:sp>
        <p:nvSpPr>
          <p:cNvPr id="3" name="Content Placeholder 2">
            <a:extLst>
              <a:ext uri="{FF2B5EF4-FFF2-40B4-BE49-F238E27FC236}">
                <a16:creationId xmlns:a16="http://schemas.microsoft.com/office/drawing/2014/main" id="{EB4FAED4-2EC7-ADB6-0EC8-AEA1D5212C43}"/>
              </a:ext>
            </a:extLst>
          </p:cNvPr>
          <p:cNvSpPr>
            <a:spLocks noGrp="1"/>
          </p:cNvSpPr>
          <p:nvPr>
            <p:ph idx="1"/>
          </p:nvPr>
        </p:nvSpPr>
        <p:spPr>
          <a:xfrm>
            <a:off x="838200" y="2681785"/>
            <a:ext cx="4347948" cy="3495178"/>
          </a:xfrm>
        </p:spPr>
        <p:txBody>
          <a:bodyPr>
            <a:normAutofit/>
          </a:bodyPr>
          <a:lstStyle/>
          <a:p>
            <a:r>
              <a:rPr lang="en-US" sz="1800" b="1">
                <a:latin typeface="Calibri"/>
                <a:ea typeface="Calibri"/>
                <a:cs typeface="Calibri"/>
              </a:rPr>
              <a:t>Feature dataset</a:t>
            </a:r>
            <a:r>
              <a:rPr lang="en-US" sz="1800">
                <a:latin typeface="Calibri"/>
                <a:ea typeface="Calibri"/>
                <a:cs typeface="Calibri"/>
              </a:rPr>
              <a:t>: A feature dataset is a container inside a geodatabase that holds related feature classes sharing one coordinate system.</a:t>
            </a:r>
          </a:p>
        </p:txBody>
      </p:sp>
      <p:pic>
        <p:nvPicPr>
          <p:cNvPr id="9" name="Picture 8">
            <a:extLst>
              <a:ext uri="{FF2B5EF4-FFF2-40B4-BE49-F238E27FC236}">
                <a16:creationId xmlns:a16="http://schemas.microsoft.com/office/drawing/2014/main" id="{5941953D-4ECE-A07C-9F45-0E7280DA39F1}"/>
              </a:ext>
            </a:extLst>
          </p:cNvPr>
          <p:cNvPicPr>
            <a:picLocks noChangeAspect="1"/>
          </p:cNvPicPr>
          <p:nvPr/>
        </p:nvPicPr>
        <p:blipFill>
          <a:blip r:embed="rId2"/>
          <a:stretch>
            <a:fillRect/>
          </a:stretch>
        </p:blipFill>
        <p:spPr>
          <a:xfrm>
            <a:off x="6777309" y="563626"/>
            <a:ext cx="4797354" cy="3202233"/>
          </a:xfrm>
          <a:prstGeom prst="rect">
            <a:avLst/>
          </a:prstGeom>
        </p:spPr>
      </p:pic>
      <p:pic>
        <p:nvPicPr>
          <p:cNvPr id="7" name="Picture 6">
            <a:extLst>
              <a:ext uri="{FF2B5EF4-FFF2-40B4-BE49-F238E27FC236}">
                <a16:creationId xmlns:a16="http://schemas.microsoft.com/office/drawing/2014/main" id="{EA825D8C-3524-6C0B-EE6A-441076ECBF39}"/>
              </a:ext>
            </a:extLst>
          </p:cNvPr>
          <p:cNvPicPr>
            <a:picLocks noChangeAspect="1"/>
          </p:cNvPicPr>
          <p:nvPr/>
        </p:nvPicPr>
        <p:blipFill>
          <a:blip r:embed="rId3"/>
          <a:stretch>
            <a:fillRect/>
          </a:stretch>
        </p:blipFill>
        <p:spPr>
          <a:xfrm>
            <a:off x="4847885" y="4356273"/>
            <a:ext cx="3858847" cy="2000077"/>
          </a:xfrm>
          <a:prstGeom prst="rect">
            <a:avLst/>
          </a:prstGeom>
        </p:spPr>
      </p:pic>
      <p:pic>
        <p:nvPicPr>
          <p:cNvPr id="5" name="Picture 4">
            <a:extLst>
              <a:ext uri="{FF2B5EF4-FFF2-40B4-BE49-F238E27FC236}">
                <a16:creationId xmlns:a16="http://schemas.microsoft.com/office/drawing/2014/main" id="{EA44E5E4-F89A-E469-DCF2-72349B5CC307}"/>
              </a:ext>
            </a:extLst>
          </p:cNvPr>
          <p:cNvPicPr>
            <a:picLocks noChangeAspect="1"/>
          </p:cNvPicPr>
          <p:nvPr/>
        </p:nvPicPr>
        <p:blipFill>
          <a:blip r:embed="rId4"/>
          <a:stretch>
            <a:fillRect/>
          </a:stretch>
        </p:blipFill>
        <p:spPr>
          <a:xfrm>
            <a:off x="8903783" y="4271610"/>
            <a:ext cx="3088117" cy="2169401"/>
          </a:xfrm>
          <a:prstGeom prst="rect">
            <a:avLst/>
          </a:prstGeom>
        </p:spPr>
      </p:pic>
      <p:sp>
        <p:nvSpPr>
          <p:cNvPr id="22" name="TextBox 21"/>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31  /  51</a:t>
            </a:r>
          </a:p>
        </p:txBody>
      </p:sp>
    </p:spTree>
    <p:extLst>
      <p:ext uri="{BB962C8B-B14F-4D97-AF65-F5344CB8AC3E}">
        <p14:creationId xmlns:p14="http://schemas.microsoft.com/office/powerpoint/2010/main" val="30791484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64DC3-E959-2BD8-6E24-D0DE55BC0BF7}"/>
              </a:ext>
            </a:extLst>
          </p:cNvPr>
          <p:cNvSpPr>
            <a:spLocks noGrp="1"/>
          </p:cNvSpPr>
          <p:nvPr>
            <p:ph type="title"/>
          </p:nvPr>
        </p:nvSpPr>
        <p:spPr/>
        <p:txBody>
          <a:bodyPr/>
          <a:lstStyle/>
          <a:p>
            <a:r>
              <a:rPr lang="en-US" dirty="0" sz="3200" b="1">
                <a:latin typeface="Calibri"/>
                <a:ea typeface="Calibri"/>
                <a:cs typeface="Calibri"/>
              </a:rPr>
              <a:t>Domains and Subtypes in Geodatabase</a:t>
            </a:r>
          </a:p>
        </p:txBody>
      </p:sp>
      <p:sp>
        <p:nvSpPr>
          <p:cNvPr id="3" name="Content Placeholder 2">
            <a:extLst>
              <a:ext uri="{FF2B5EF4-FFF2-40B4-BE49-F238E27FC236}">
                <a16:creationId xmlns:a16="http://schemas.microsoft.com/office/drawing/2014/main" id="{AA4C74DE-3C81-64FB-5DA8-1CBAF160F41A}"/>
              </a:ext>
            </a:extLst>
          </p:cNvPr>
          <p:cNvSpPr>
            <a:spLocks noGrp="1"/>
          </p:cNvSpPr>
          <p:nvPr>
            <p:ph idx="1"/>
          </p:nvPr>
        </p:nvSpPr>
        <p:spPr/>
        <p:txBody>
          <a:bodyPr>
            <a:normAutofit fontScale="92500" lnSpcReduction="10000"/>
          </a:bodyPr>
          <a:lstStyle/>
          <a:p>
            <a:pPr marL="0" indent="0">
              <a:buNone/>
            </a:pPr>
            <a:r>
              <a:rPr lang="en-US" dirty="0" sz="1800">
                <a:latin typeface="Calibri"/>
                <a:ea typeface="Calibri"/>
                <a:cs typeface="Calibri"/>
                <a:highlight>
                  <a:srgbClr val="FFFF00"/>
                </a:highlight>
              </a:rPr>
              <a:t xml:space="preserve">Both domains and subtypes are used to enforce data integrity inside a geodatabase by allowing valid values and rejecting invalid values.</a:t>
            </a:r>
          </a:p>
          <a:p>
            <a:r>
              <a:rPr lang="en-US" dirty="0" sz="1800">
                <a:latin typeface="Calibri"/>
                <a:ea typeface="Calibri"/>
                <a:cs typeface="Calibri"/>
              </a:rPr>
              <a:t>A domain is a geodatabase rule that limits what can be stored in an attribute field. The domain lives in the geodatabase, not inside one shapefile. You create it once, then assign it to fields on one or many feature classes.</a:t>
            </a:r>
          </a:p>
          <a:p>
            <a:pPr marL="0" indent="0">
              <a:buNone/>
            </a:pPr>
            <a:r>
              <a:rPr lang="en-US" dirty="0" sz="1800">
                <a:latin typeface="Calibri"/>
                <a:ea typeface="Calibri"/>
                <a:cs typeface="Calibri"/>
              </a:rPr>
              <a:t>There are two types of domains:</a:t>
            </a:r>
          </a:p>
          <a:p>
            <a:r>
              <a:rPr lang="en-US" dirty="0" sz="1800">
                <a:latin typeface="Calibri"/>
                <a:ea typeface="Calibri"/>
                <a:cs typeface="Calibri"/>
              </a:rPr>
              <a:t>Coded value domain (a list)</a:t>
            </a:r>
          </a:p>
          <a:p>
            <a:pPr lvl="1">
              <a:buFont typeface="Courier New" panose="02070309020205020404" pitchFamily="49" charset="0"/>
              <a:buChar char="o"/>
            </a:pPr>
            <a:r>
              <a:rPr lang="en-US" dirty="0" sz="1800">
                <a:latin typeface="Calibri"/>
                <a:ea typeface="Calibri"/>
                <a:cs typeface="Calibri"/>
              </a:rPr>
              <a:t>A list of codes plus labels. The database stores the code; the map shows the description.</a:t>
            </a:r>
          </a:p>
          <a:p>
            <a:pPr lvl="1">
              <a:buFont typeface="Courier New" panose="02070309020205020404" pitchFamily="49" charset="0"/>
              <a:buChar char="o"/>
            </a:pPr>
            <a:r>
              <a:rPr lang="en-US" dirty="0" sz="1800">
                <a:latin typeface="Calibri"/>
                <a:ea typeface="Calibri"/>
                <a:cs typeface="Calibri"/>
                <a:highlight>
                  <a:srgbClr val="FFFF00"/>
                </a:highlight>
              </a:rPr>
              <a:t xml:space="preserve">Range domain (min and max): a number</a:t>
            </a:r>
            <a:r>
              <a:rPr lang="en-US" dirty="0" sz="1800">
                <a:latin typeface="Calibri"/>
                <a:ea typeface="Calibri"/>
                <a:cs typeface="Calibri"/>
              </a:rPr>
              <a:t xml:space="preserve"> field must stay between 	a minimum and a maximum.</a:t>
            </a:r>
          </a:p>
          <a:p>
            <a:pPr marL="0" indent="0">
              <a:buNone/>
            </a:pPr>
            <a:endParaRPr lang="en-US" dirty="0"/>
          </a:p>
          <a:p>
            <a:endParaRPr lang="en-US" dirty="0"/>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32  /  51</a:t>
            </a:r>
          </a:p>
        </p:txBody>
      </p:sp>
    </p:spTree>
    <p:extLst>
      <p:ext uri="{BB962C8B-B14F-4D97-AF65-F5344CB8AC3E}">
        <p14:creationId xmlns:p14="http://schemas.microsoft.com/office/powerpoint/2010/main" val="6263924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107028-51DF-EE63-6030-991556B4EF43}"/>
              </a:ext>
            </a:extLst>
          </p:cNvPr>
          <p:cNvSpPr>
            <a:spLocks noGrp="1"/>
          </p:cNvSpPr>
          <p:nvPr>
            <p:ph type="title"/>
          </p:nvPr>
        </p:nvSpPr>
        <p:spPr>
          <a:xfrm>
            <a:off x="793662" y="386930"/>
            <a:ext cx="10066122" cy="1298448"/>
          </a:xfrm>
        </p:spPr>
        <p:txBody>
          <a:bodyPr anchor="b">
            <a:normAutofit/>
          </a:bodyPr>
          <a:lstStyle/>
          <a:p>
            <a:r>
              <a:rPr lang="en-US" sz="3200" b="1">
                <a:latin typeface="Calibri"/>
                <a:ea typeface="Calibri"/>
                <a:cs typeface="Calibri"/>
                <a:highlight>
                  <a:srgbClr val="FFFF00"/>
                </a:highlight>
              </a:rPr>
              <a:t xml:space="preserve">Subtypes</a:t>
            </a:r>
          </a:p>
        </p:txBody>
      </p:sp>
      <p:sp>
        <p:nvSpPr>
          <p:cNvPr id="25" name="Rectangle 2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ABE0BFD-43B1-73EA-0CDC-43EC2129D85B}"/>
              </a:ext>
            </a:extLst>
          </p:cNvPr>
          <p:cNvSpPr>
            <a:spLocks noGrp="1"/>
          </p:cNvSpPr>
          <p:nvPr>
            <p:ph idx="1"/>
          </p:nvPr>
        </p:nvSpPr>
        <p:spPr>
          <a:xfrm>
            <a:off x="440884" y="2318656"/>
            <a:ext cx="4530898" cy="2912131"/>
          </a:xfrm>
        </p:spPr>
        <p:txBody>
          <a:bodyPr anchor="ctr">
            <a:normAutofit lnSpcReduction="10000"/>
          </a:bodyPr>
          <a:lstStyle/>
          <a:p>
            <a:r>
              <a:rPr lang="en-US" sz="1800" dirty="0">
                <a:latin typeface="Calibri"/>
                <a:ea typeface="Calibri"/>
                <a:cs typeface="Calibri"/>
                <a:highlight>
                  <a:srgbClr val="FFFF00"/>
                </a:highlight>
              </a:rPr>
              <a:t xml:space="preserve">A subtype is a subset of features inside one feature class, defined by an integer field (the subtype field). It is still possible to have one feature class (one table, one geometry type); subtypes are categories of rows in that table.</a:t>
            </a:r>
          </a:p>
          <a:p>
            <a:r>
              <a:rPr lang="en-US" sz="1800" dirty="0">
                <a:latin typeface="Calibri"/>
                <a:ea typeface="Calibri"/>
                <a:cs typeface="Calibri"/>
                <a:highlight>
                  <a:srgbClr val="FFFF00"/>
                </a:highlight>
              </a:rPr>
              <a:t xml:space="preserve">Example — Towers feature class, field TowerType:  1 = Macro tower    2 = Small cell    3 = Rooftop antenna</a:t>
            </a:r>
          </a:p>
        </p:txBody>
      </p:sp>
      <p:sp>
        <p:nvSpPr>
          <p:cNvPr id="29" name="Rectangle 2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a:extLst>
              <a:ext uri="{FF2B5EF4-FFF2-40B4-BE49-F238E27FC236}">
                <a16:creationId xmlns:a16="http://schemas.microsoft.com/office/drawing/2014/main" id="{2C8DB612-E474-4780-2533-C923336FEA79}"/>
              </a:ext>
            </a:extLst>
          </p:cNvPr>
          <p:cNvGraphicFramePr>
            <a:graphicFrameLocks noGrp="1"/>
          </p:cNvGraphicFramePr>
          <p:nvPr>
            <p:extLst>
              <p:ext uri="{D42A27DB-BD31-4B8C-83A1-F6EECF244321}">
                <p14:modId xmlns:p14="http://schemas.microsoft.com/office/powerpoint/2010/main" val="2370870719"/>
              </p:ext>
            </p:extLst>
          </p:nvPr>
        </p:nvGraphicFramePr>
        <p:xfrm>
          <a:off x="5148943" y="2318657"/>
          <a:ext cx="5912867" cy="3809998"/>
        </p:xfrm>
        <a:graphic>
          <a:graphicData uri="http://schemas.openxmlformats.org/drawingml/2006/table">
            <a:tbl>
              <a:tblPr/>
              <a:tblGrid>
                <a:gridCol w="958338">
                  <a:extLst>
                    <a:ext uri="{9D8B030D-6E8A-4147-A177-3AD203B41FA5}">
                      <a16:colId xmlns:a16="http://schemas.microsoft.com/office/drawing/2014/main" val="2557413262"/>
                    </a:ext>
                  </a:extLst>
                </a:gridCol>
                <a:gridCol w="2447764">
                  <a:extLst>
                    <a:ext uri="{9D8B030D-6E8A-4147-A177-3AD203B41FA5}">
                      <a16:colId xmlns:a16="http://schemas.microsoft.com/office/drawing/2014/main" val="1868304498"/>
                    </a:ext>
                  </a:extLst>
                </a:gridCol>
                <a:gridCol w="2506765">
                  <a:extLst>
                    <a:ext uri="{9D8B030D-6E8A-4147-A177-3AD203B41FA5}">
                      <a16:colId xmlns:a16="http://schemas.microsoft.com/office/drawing/2014/main" val="3776375091"/>
                    </a:ext>
                  </a:extLst>
                </a:gridCol>
              </a:tblGrid>
              <a:tr h="294852">
                <a:tc>
                  <a:txBody>
                    <a:bodyPr/>
                    <a:lstStyle/>
                    <a:p>
                      <a:pPr algn="l" fontAlgn="ctr">
                        <a:buNone/>
                      </a:pPr>
                      <a:r>
                        <a:rPr lang="en-US" sz="1400" b="1" i="0" u="none" strike="noStrike">
                          <a:effectLst/>
                          <a:latin typeface="Calibri" panose="020B0604020202020204" pitchFamily="34" charset="0"/>
                          <a:ea typeface="Calibri"/>
                          <a:cs typeface="Calibri"/>
                        </a:rPr>
                        <a:t>Aspect</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1" i="0" u="none" strike="noStrike">
                          <a:effectLst/>
                          <a:latin typeface="Calibri" panose="020B0604020202020204" pitchFamily="34" charset="0"/>
                          <a:ea typeface="Calibri"/>
                          <a:cs typeface="Calibri"/>
                        </a:rPr>
                        <a:t>Subtypes</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1" i="0" u="none" strike="noStrike">
                          <a:effectLst/>
                          <a:latin typeface="Calibri" panose="020B0604020202020204" pitchFamily="34" charset="0"/>
                          <a:ea typeface="Calibri"/>
                          <a:cs typeface="Calibri"/>
                        </a:rPr>
                        <a:t>Domains</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0324703"/>
                  </a:ext>
                </a:extLst>
              </a:tr>
              <a:tr h="649515">
                <a:tc>
                  <a:txBody>
                    <a:bodyPr/>
                    <a:lstStyle/>
                    <a:p>
                      <a:pPr algn="l" fontAlgn="ctr">
                        <a:buNone/>
                      </a:pPr>
                      <a:r>
                        <a:rPr lang="en-US" sz="1400" b="1" i="0" u="none" strike="noStrike">
                          <a:effectLst/>
                          <a:latin typeface="Calibri" panose="020B0604020202020204" pitchFamily="34" charset="0"/>
                          <a:ea typeface="Calibri"/>
                          <a:cs typeface="Calibri"/>
                        </a:rPr>
                        <a:t>What it is</a:t>
                      </a:r>
                      <a:endParaRPr lang="en-US" sz="1000" b="0" i="0" u="none" strike="noStrike">
                        <a:effectLst/>
                        <a:latin typeface="Arial" panose="020B0604020202020204" pitchFamily="34" charset="0"/>
                      </a:endParaRP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u="none" strike="noStrike">
                          <a:effectLst/>
                          <a:latin typeface="Calibri" panose="020B0604020202020204" pitchFamily="34" charset="0"/>
                          <a:ea typeface="Calibri"/>
                          <a:cs typeface="Calibri"/>
                        </a:rPr>
                        <a:t>Splits one feature class into meaningful categories using an integer field</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u="none" strike="noStrike" dirty="0">
                          <a:effectLst/>
                          <a:latin typeface="Calibri" panose="020B0604020202020204" pitchFamily="34" charset="0"/>
                          <a:ea typeface="Calibri"/>
                          <a:cs typeface="Calibri"/>
                        </a:rPr>
                        <a:t>Restricts what values are allowed in a field (a validation rule)</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5228262"/>
                  </a:ext>
                </a:extLst>
              </a:tr>
              <a:tr h="458543">
                <a:tc>
                  <a:txBody>
                    <a:bodyPr/>
                    <a:lstStyle/>
                    <a:p>
                      <a:pPr algn="l" fontAlgn="ctr">
                        <a:buNone/>
                      </a:pPr>
                      <a:r>
                        <a:rPr lang="en-US" sz="1400" b="1" i="0" u="none" strike="noStrike">
                          <a:effectLst/>
                          <a:latin typeface="Calibri" panose="020B0604020202020204" pitchFamily="34" charset="0"/>
                          <a:ea typeface="Calibri"/>
                          <a:cs typeface="Calibri"/>
                        </a:rPr>
                        <a:t>Applies to</a:t>
                      </a:r>
                      <a:endParaRPr lang="en-US" sz="1000" b="0" i="0" u="none" strike="noStrike">
                        <a:effectLst/>
                        <a:latin typeface="Arial" panose="020B0604020202020204" pitchFamily="34" charset="0"/>
                      </a:endParaRP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u="none" strike="noStrike">
                          <a:effectLst/>
                          <a:latin typeface="Calibri" panose="020B0604020202020204" pitchFamily="34" charset="0"/>
                          <a:ea typeface="Calibri"/>
                          <a:cs typeface="Calibri"/>
                        </a:rPr>
                        <a:t>The whole feature class/table (one subtype field per class)</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u="none" strike="noStrike">
                          <a:effectLst/>
                          <a:latin typeface="Calibri" panose="020B0604020202020204" pitchFamily="34" charset="0"/>
                          <a:ea typeface="Calibri"/>
                          <a:cs typeface="Calibri"/>
                        </a:rPr>
                        <a:t>Any individual field, reusable across many feature classes</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2319300"/>
                  </a:ext>
                </a:extLst>
              </a:tr>
              <a:tr h="649515">
                <a:tc>
                  <a:txBody>
                    <a:bodyPr/>
                    <a:lstStyle/>
                    <a:p>
                      <a:pPr algn="l" fontAlgn="ctr">
                        <a:buNone/>
                      </a:pPr>
                      <a:r>
                        <a:rPr lang="en-US" sz="1400" b="1" i="0" u="none" strike="noStrike">
                          <a:effectLst/>
                          <a:latin typeface="Calibri" panose="020B0604020202020204" pitchFamily="34" charset="0"/>
                          <a:ea typeface="Calibri"/>
                          <a:cs typeface="Calibri"/>
                        </a:rPr>
                        <a:t>Purpose</a:t>
                      </a:r>
                      <a:endParaRPr lang="en-US" sz="1000" b="0" i="0" u="none" strike="noStrike">
                        <a:effectLst/>
                        <a:latin typeface="Arial" panose="020B0604020202020204" pitchFamily="34" charset="0"/>
                      </a:endParaRP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u="none" strike="noStrike">
                          <a:effectLst/>
                          <a:latin typeface="Calibri" panose="020B0604020202020204" pitchFamily="34" charset="0"/>
                          <a:ea typeface="Calibri"/>
                          <a:cs typeface="Calibri"/>
                        </a:rPr>
                        <a:t>Groups features that behave differently (different rules, defaults, connectivity)</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u="none" strike="noStrike" dirty="0">
                          <a:effectLst/>
                          <a:latin typeface="Calibri" panose="020B0604020202020204" pitchFamily="34" charset="0"/>
                          <a:ea typeface="Calibri"/>
                          <a:cs typeface="Calibri"/>
                        </a:rPr>
                        <a:t>Prevents invalid data entry (typos, out-of-range values)</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9975817"/>
                  </a:ext>
                </a:extLst>
              </a:tr>
              <a:tr h="458543">
                <a:tc>
                  <a:txBody>
                    <a:bodyPr/>
                    <a:lstStyle/>
                    <a:p>
                      <a:pPr algn="l" fontAlgn="ctr">
                        <a:buNone/>
                      </a:pPr>
                      <a:r>
                        <a:rPr lang="en-US" sz="1400" b="1" i="0" u="none" strike="noStrike">
                          <a:effectLst/>
                          <a:latin typeface="Calibri" panose="020B0604020202020204" pitchFamily="34" charset="0"/>
                          <a:ea typeface="Calibri"/>
                          <a:cs typeface="Calibri"/>
                        </a:rPr>
                        <a:t>Storage</a:t>
                      </a:r>
                      <a:endParaRPr lang="en-US" sz="1000" b="0" i="0" u="none" strike="noStrike">
                        <a:effectLst/>
                        <a:latin typeface="Arial" panose="020B0604020202020204" pitchFamily="34" charset="0"/>
                      </a:endParaRP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u="none" strike="noStrike">
                          <a:effectLst/>
                          <a:latin typeface="Calibri" panose="020B0604020202020204" pitchFamily="34" charset="0"/>
                          <a:ea typeface="Calibri"/>
                          <a:cs typeface="Calibri"/>
                        </a:rPr>
                        <a:t>Stored as an integer code in one designated field</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u="none" strike="noStrike">
                          <a:effectLst/>
                          <a:latin typeface="Calibri" panose="020B0604020202020204" pitchFamily="34" charset="0"/>
                          <a:ea typeface="Calibri"/>
                          <a:cs typeface="Calibri"/>
                        </a:rPr>
                        <a:t>Can be </a:t>
                      </a:r>
                      <a:r>
                        <a:rPr lang="en-US" sz="1400" b="1" i="0" u="none" strike="noStrike">
                          <a:effectLst/>
                          <a:latin typeface="Calibri" panose="020B0604020202020204" pitchFamily="34" charset="0"/>
                          <a:ea typeface="Calibri"/>
                          <a:cs typeface="Calibri"/>
                        </a:rPr>
                        <a:t>coded value</a:t>
                      </a:r>
                      <a:r>
                        <a:rPr lang="en-US" sz="1400" b="0" i="0" u="none" strike="noStrike">
                          <a:effectLst/>
                          <a:latin typeface="Calibri" panose="020B0604020202020204" pitchFamily="34" charset="0"/>
                          <a:ea typeface="Calibri"/>
                          <a:cs typeface="Calibri"/>
                        </a:rPr>
                        <a:t> (a fixed list) or </a:t>
                      </a:r>
                      <a:r>
                        <a:rPr lang="en-US" sz="1400" b="1" i="0" u="none" strike="noStrike">
                          <a:effectLst/>
                          <a:latin typeface="Calibri" panose="020B0604020202020204" pitchFamily="34" charset="0"/>
                          <a:ea typeface="Calibri"/>
                          <a:cs typeface="Calibri"/>
                        </a:rPr>
                        <a:t>range</a:t>
                      </a:r>
                      <a:r>
                        <a:rPr lang="en-US" sz="1400" b="0" i="0" u="none" strike="noStrike">
                          <a:effectLst/>
                          <a:latin typeface="Calibri" panose="020B0604020202020204" pitchFamily="34" charset="0"/>
                          <a:ea typeface="Calibri"/>
                          <a:cs typeface="Calibri"/>
                        </a:rPr>
                        <a:t> (min/max)</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3009495"/>
                  </a:ext>
                </a:extLst>
              </a:tr>
              <a:tr h="649515">
                <a:tc>
                  <a:txBody>
                    <a:bodyPr/>
                    <a:lstStyle/>
                    <a:p>
                      <a:pPr algn="l" fontAlgn="ctr">
                        <a:buNone/>
                      </a:pPr>
                      <a:r>
                        <a:rPr lang="en-US" sz="1400" b="1" i="0" u="none" strike="noStrike">
                          <a:effectLst/>
                          <a:latin typeface="Calibri" panose="020B0604020202020204" pitchFamily="34" charset="0"/>
                          <a:ea typeface="Calibri"/>
                          <a:cs typeface="Calibri"/>
                        </a:rPr>
                        <a:t>Reusability</a:t>
                      </a:r>
                      <a:endParaRPr lang="en-US" sz="1000" b="0" i="0" u="none" strike="noStrike">
                        <a:effectLst/>
                        <a:latin typeface="Arial" panose="020B0604020202020204" pitchFamily="34" charset="0"/>
                      </a:endParaRP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u="none" strike="noStrike">
                          <a:effectLst/>
                          <a:latin typeface="Calibri" panose="020B0604020202020204" pitchFamily="34" charset="0"/>
                          <a:ea typeface="Calibri"/>
                          <a:cs typeface="Calibri"/>
                        </a:rPr>
                        <a:t>Defined once per feature class, not shared elsewhere</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u="none" strike="noStrike">
                          <a:effectLst/>
                          <a:latin typeface="Calibri" panose="020B0604020202020204" pitchFamily="34" charset="0"/>
                          <a:ea typeface="Calibri"/>
                          <a:cs typeface="Calibri"/>
                        </a:rPr>
                        <a:t>Defined once in the geodatabase, can be attached to many fields/feature classes</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8335612"/>
                  </a:ext>
                </a:extLst>
              </a:tr>
              <a:tr h="649515">
                <a:tc>
                  <a:txBody>
                    <a:bodyPr/>
                    <a:lstStyle/>
                    <a:p>
                      <a:pPr algn="l" fontAlgn="ctr">
                        <a:buNone/>
                      </a:pPr>
                      <a:r>
                        <a:rPr lang="en-US" sz="1400" b="1" i="0" u="none" strike="noStrike">
                          <a:effectLst/>
                          <a:latin typeface="Calibri" panose="020B0604020202020204" pitchFamily="34" charset="0"/>
                          <a:ea typeface="Calibri"/>
                          <a:cs typeface="Calibri"/>
                        </a:rPr>
                        <a:t>Behavior control</a:t>
                      </a:r>
                      <a:endParaRPr lang="en-US" sz="1000" b="0" i="0" u="none" strike="noStrike">
                        <a:effectLst/>
                        <a:latin typeface="Arial" panose="020B0604020202020204" pitchFamily="34" charset="0"/>
                      </a:endParaRP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u="none" strike="noStrike">
                          <a:effectLst/>
                          <a:latin typeface="Calibri" panose="020B0604020202020204" pitchFamily="34" charset="0"/>
                          <a:ea typeface="Calibri"/>
                          <a:cs typeface="Calibri"/>
                        </a:rPr>
                        <a:t>Can have its own default values, unique field defaults, and connectivity rules per subtype</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u="none" strike="noStrike" dirty="0">
                          <a:effectLst/>
                          <a:latin typeface="Calibri" panose="020B0604020202020204" pitchFamily="34" charset="0"/>
                          <a:ea typeface="Calibri"/>
                          <a:cs typeface="Calibri"/>
                        </a:rPr>
                        <a:t>Only validates — doesn't change other field behavior</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3592329"/>
                  </a:ext>
                </a:extLst>
              </a:tr>
            </a:tbl>
          </a:graphicData>
        </a:graphic>
      </p:graphicFrame>
      <p:sp>
        <p:nvSpPr>
          <p:cNvPr id="30" name="TextBox 29"/>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33  /  51</a:t>
            </a:r>
          </a:p>
        </p:txBody>
      </p:sp>
    </p:spTree>
    <p:extLst>
      <p:ext uri="{BB962C8B-B14F-4D97-AF65-F5344CB8AC3E}">
        <p14:creationId xmlns:p14="http://schemas.microsoft.com/office/powerpoint/2010/main" val="42459640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2100753-D103-31B0-E8F3-24F79CE93469}"/>
              </a:ext>
            </a:extLst>
          </p:cNvPr>
          <p:cNvPicPr>
            <a:picLocks noGrp="1" noChangeAspect="1"/>
          </p:cNvPicPr>
          <p:nvPr>
            <p:ph idx="1"/>
          </p:nvPr>
        </p:nvPicPr>
        <p:blipFill>
          <a:blip r:embed="rId2"/>
          <a:stretch>
            <a:fillRect/>
          </a:stretch>
        </p:blipFill>
        <p:spPr>
          <a:xfrm>
            <a:off x="643467" y="1662907"/>
            <a:ext cx="5291666" cy="3532186"/>
          </a:xfrm>
          <a:prstGeom prst="rect">
            <a:avLst/>
          </a:prstGeom>
        </p:spPr>
      </p:pic>
      <p:pic>
        <p:nvPicPr>
          <p:cNvPr id="7" name="Picture 6">
            <a:extLst>
              <a:ext uri="{FF2B5EF4-FFF2-40B4-BE49-F238E27FC236}">
                <a16:creationId xmlns:a16="http://schemas.microsoft.com/office/drawing/2014/main" id="{B18120AC-E6C4-9CBA-4343-DDEA90794748}"/>
              </a:ext>
            </a:extLst>
          </p:cNvPr>
          <p:cNvPicPr>
            <a:picLocks noChangeAspect="1"/>
          </p:cNvPicPr>
          <p:nvPr/>
        </p:nvPicPr>
        <p:blipFill>
          <a:blip r:embed="rId3"/>
          <a:stretch>
            <a:fillRect/>
          </a:stretch>
        </p:blipFill>
        <p:spPr>
          <a:xfrm>
            <a:off x="6256865" y="1662906"/>
            <a:ext cx="5291667" cy="3532187"/>
          </a:xfrm>
          <a:prstGeom prst="rect">
            <a:avLst/>
          </a:prstGeom>
        </p:spPr>
      </p:pic>
      <p:sp>
        <p:nvSpPr>
          <p:cNvPr id="8" name="TextBox 7"/>
          <p:cNvSpPr txBox="1"/>
          <p:nvPr/>
        </p:nvSpPr>
        <p:spPr>
          <a:xfrm>
            <a:off x="411480" y="1051560"/>
            <a:ext cx="5303520" cy="5029200"/>
          </a:xfrm>
          <a:prstGeom prst="rect">
            <a:avLst/>
          </a:prstGeom>
          <a:noFill/>
        </p:spPr>
        <p:txBody>
          <a:bodyPr wrap="square">
            <a:spAutoFit/>
          </a:bodyPr>
          <a:lstStyle/>
          <a:p>
            <a:pPr>
              <a:spcAft>
                <a:spcPts val="800"/>
              </a:spcAft>
            </a:pPr>
            <a:r>
              <a:rPr sz="1800">
                <a:latin typeface="Calibri"/>
                <a:ea typeface="Calibri"/>
                <a:cs typeface="Calibri"/>
              </a:rPr>
              <a:t>Visual example in ArcGIS Pro</a:t>
            </a:r>
          </a:p>
          <a:p>
            <a:pPr>
              <a:spcAft>
                <a:spcPts val="800"/>
              </a:spcAft>
            </a:pPr>
            <a:r>
              <a:rPr sz="1800">
                <a:latin typeface="Calibri"/>
                <a:ea typeface="Calibri"/>
                <a:cs typeface="Calibri"/>
              </a:rPr>
              <a:t>How a coded-value domain and subtypes appear in the geodatabase (fields / subtypes view).</a:t>
            </a:r>
          </a:p>
          <a:p>
            <a:pPr>
              <a:spcAft>
                <a:spcPts val="800"/>
              </a:spcAft>
            </a:pPr>
            <a:r>
              <a:rPr sz="1800">
                <a:latin typeface="Calibri"/>
                <a:ea typeface="Calibri"/>
                <a:cs typeface="Calibri"/>
              </a:rPr>
              <a:t>You create the rule once in the geodatabase, then assign it to a field. Editors pick from the list instead of typing free text.</a:t>
            </a:r>
          </a:p>
        </p:txBody>
      </p:sp>
      <p:sp>
        <p:nvSpPr>
          <p:cNvPr id="9" name="TextBox 8"/>
          <p:cNvSpPr txBox="1"/>
          <p:nvPr/>
        </p:nvSpPr>
        <p:spPr>
          <a:xfrm>
            <a:off x="411480" y="256032"/>
            <a:ext cx="11338560" cy="640080"/>
          </a:xfrm>
          <a:prstGeom prst="rect">
            <a:avLst/>
          </a:prstGeom>
          <a:noFill/>
        </p:spPr>
        <p:txBody>
          <a:bodyPr wrap="none">
            <a:spAutoFit/>
          </a:bodyPr>
          <a:lstStyle/>
          <a:p>
            <a:r>
              <a:rPr sz="3200" b="1">
                <a:latin typeface="Calibri"/>
                <a:ea typeface="Calibri"/>
                <a:cs typeface="Calibri"/>
              </a:rPr>
              <a:t>Domains and Subtypes — Example</a:t>
            </a:r>
          </a:p>
        </p:txBody>
      </p:sp>
      <p:sp>
        <p:nvSpPr>
          <p:cNvPr id="10" name="TextBox 9"/>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34  /  51</a:t>
            </a:r>
          </a:p>
        </p:txBody>
      </p:sp>
    </p:spTree>
    <p:extLst>
      <p:ext uri="{BB962C8B-B14F-4D97-AF65-F5344CB8AC3E}">
        <p14:creationId xmlns:p14="http://schemas.microsoft.com/office/powerpoint/2010/main" val="3231798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5AF2D-55EF-14D4-15FC-B5C93F662B4A}"/>
              </a:ext>
            </a:extLst>
          </p:cNvPr>
          <p:cNvSpPr>
            <a:spLocks noGrp="1"/>
          </p:cNvSpPr>
          <p:nvPr>
            <p:ph type="title"/>
          </p:nvPr>
        </p:nvSpPr>
        <p:spPr/>
        <p:txBody>
          <a:bodyPr/>
          <a:lstStyle/>
          <a:p>
            <a:r>
              <a:rPr lang="en-US" dirty="0" sz="3200" b="1">
                <a:latin typeface="Calibri"/>
                <a:ea typeface="Calibri"/>
                <a:cs typeface="Calibri"/>
              </a:rPr>
              <a:t>Relationship Classes</a:t>
            </a:r>
          </a:p>
        </p:txBody>
      </p:sp>
      <p:sp>
        <p:nvSpPr>
          <p:cNvPr id="3" name="Content Placeholder 2">
            <a:extLst>
              <a:ext uri="{FF2B5EF4-FFF2-40B4-BE49-F238E27FC236}">
                <a16:creationId xmlns:a16="http://schemas.microsoft.com/office/drawing/2014/main" id="{5868E2AE-E1FB-EE4C-A496-065C1C6C1FF8}"/>
              </a:ext>
            </a:extLst>
          </p:cNvPr>
          <p:cNvSpPr>
            <a:spLocks noGrp="1"/>
          </p:cNvSpPr>
          <p:nvPr>
            <p:ph idx="1"/>
          </p:nvPr>
        </p:nvSpPr>
        <p:spPr/>
        <p:txBody>
          <a:bodyPr>
            <a:normAutofit fontScale="85000" lnSpcReduction="10000"/>
          </a:bodyPr>
          <a:lstStyle/>
          <a:p>
            <a:r>
              <a:rPr lang="en-US" dirty="0" sz="1800">
                <a:latin typeface="Calibri"/>
                <a:ea typeface="Calibri"/>
                <a:cs typeface="Calibri"/>
              </a:rPr>
              <a:t>A Relational Database is a standardized and organized way of storing and managing data using tables that are logically linked together through common fields (keys).</a:t>
            </a:r>
          </a:p>
          <a:p>
            <a:r>
              <a:rPr lang="en-US" dirty="0" sz="1800">
                <a:latin typeface="Calibri"/>
                <a:ea typeface="Calibri"/>
                <a:cs typeface="Calibri"/>
                <a:highlight>
                  <a:srgbClr val="FFFF00"/>
                </a:highlight>
              </a:rPr>
              <a:t xml:space="preserve">In an ArcGIS geodatabase,</a:t>
            </a:r>
            <a:r>
              <a:rPr lang="en-US" dirty="0" sz="1800">
                <a:latin typeface="Calibri"/>
                <a:ea typeface="Calibri"/>
                <a:cs typeface="Calibri"/>
              </a:rPr>
              <a:t xml:space="preserve"> the relational database model is extended to efficiently manage both spatial data (geometry: points, lines, polygons) and attribute data (descriptive information) in a single integrated system.</a:t>
            </a:r>
          </a:p>
          <a:p>
            <a:r>
              <a:rPr lang="en-US" dirty="0" sz="1800">
                <a:latin typeface="Calibri"/>
                <a:ea typeface="Calibri"/>
                <a:cs typeface="Calibri"/>
              </a:rPr>
              <a:t>A relationship class defines how two tables or feature classes are connected to each other — like a foreign key relationship in a normal database but built into the geodatabase itself.</a:t>
            </a:r>
          </a:p>
          <a:p>
            <a:r>
              <a:rPr lang="en-US" dirty="0" sz="1800">
                <a:latin typeface="Calibri"/>
                <a:ea typeface="Calibri"/>
                <a:cs typeface="Calibri"/>
              </a:rPr>
              <a:t>Core Purpose: Instead of manually joining tables every time, a relationship class lets you permanently link related records — so when you select a feature, you can instantly see (or edit) its related records in another table</a:t>
            </a:r>
          </a:p>
          <a:p>
            <a:endParaRPr lang="en-US" dirty="0"/>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35  /  51</a:t>
            </a:r>
          </a:p>
        </p:txBody>
      </p:sp>
    </p:spTree>
    <p:extLst>
      <p:ext uri="{BB962C8B-B14F-4D97-AF65-F5344CB8AC3E}">
        <p14:creationId xmlns:p14="http://schemas.microsoft.com/office/powerpoint/2010/main" val="24313632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A5E4E-2678-724B-E75F-F4B9EADE8709}"/>
              </a:ext>
            </a:extLst>
          </p:cNvPr>
          <p:cNvSpPr>
            <a:spLocks noGrp="1"/>
          </p:cNvSpPr>
          <p:nvPr>
            <p:ph type="title"/>
          </p:nvPr>
        </p:nvSpPr>
        <p:spPr/>
        <p:txBody>
          <a:bodyPr/>
          <a:lstStyle/>
          <a:p>
            <a:r>
              <a:rPr lang="en-US" dirty="0" sz="3200" b="1">
                <a:latin typeface="Calibri"/>
                <a:ea typeface="Calibri"/>
                <a:cs typeface="Calibri"/>
              </a:rPr>
              <a:t>Example of ERD</a:t>
            </a:r>
          </a:p>
        </p:txBody>
      </p:sp>
      <p:pic>
        <p:nvPicPr>
          <p:cNvPr id="4" name="Content Placeholder 3">
            <a:extLst>
              <a:ext uri="{FF2B5EF4-FFF2-40B4-BE49-F238E27FC236}">
                <a16:creationId xmlns:a16="http://schemas.microsoft.com/office/drawing/2014/main" id="{4EFC3DCC-C973-DDD8-2F95-DB383A4739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33358" y="365125"/>
            <a:ext cx="5128015" cy="5990902"/>
          </a:xfrm>
          <a:prstGeom prst="rect">
            <a:avLst/>
          </a:prstGeom>
          <a:ln>
            <a:solidFill>
              <a:schemeClr val="accent1"/>
            </a:solidFill>
          </a:ln>
        </p:spPr>
      </p:pic>
      <p:sp>
        <p:nvSpPr>
          <p:cNvPr id="6" name="Content Placeholder 2">
            <a:extLst>
              <a:ext uri="{FF2B5EF4-FFF2-40B4-BE49-F238E27FC236}">
                <a16:creationId xmlns:a16="http://schemas.microsoft.com/office/drawing/2014/main" id="{81A5F2DB-EEB1-6755-6461-0D72F6B97873}"/>
              </a:ext>
            </a:extLst>
          </p:cNvPr>
          <p:cNvSpPr txBox="1">
            <a:spLocks/>
          </p:cNvSpPr>
          <p:nvPr/>
        </p:nvSpPr>
        <p:spPr>
          <a:xfrm>
            <a:off x="0" y="2141537"/>
            <a:ext cx="693335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Calibri"/>
                <a:ea typeface="Calibri"/>
                <a:cs typeface="Calibri"/>
                <a:highlight>
                  <a:srgbClr val="FFFF00"/>
                </a:highlight>
              </a:rPr>
              <a:t xml:space="preserve">An Entity-Relationship Diagram (ERD) is a type of structural diagram</a:t>
            </a:r>
            <a:r>
              <a:rPr lang="en-US" sz="1800" dirty="0">
                <a:latin typeface="Calibri"/>
                <a:ea typeface="Calibri"/>
                <a:cs typeface="Calibri"/>
              </a:rPr>
              <a:t xml:space="preserve"> used in database design to visualize the relationships between different entities within a system. ERDs are particularly useful for understanding the logical structure of databases, including entities, their attributes, and relationships between them</a:t>
            </a:r>
          </a:p>
          <a:p>
            <a:pPr marL="0" indent="0">
              <a:buNone/>
            </a:pPr>
            <a:endParaRPr lang="en-US" dirty="0"/>
          </a:p>
        </p:txBody>
      </p:sp>
      <p:sp>
        <p:nvSpPr>
          <p:cNvPr id="7" name="TextBox 6"/>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36  /  51</a:t>
            </a:r>
          </a:p>
        </p:txBody>
      </p:sp>
    </p:spTree>
    <p:extLst>
      <p:ext uri="{BB962C8B-B14F-4D97-AF65-F5344CB8AC3E}">
        <p14:creationId xmlns:p14="http://schemas.microsoft.com/office/powerpoint/2010/main" val="16048161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8203C-8976-9257-2C8B-2D43A707284D}"/>
              </a:ext>
            </a:extLst>
          </p:cNvPr>
          <p:cNvSpPr>
            <a:spLocks noGrp="1"/>
          </p:cNvSpPr>
          <p:nvPr>
            <p:ph type="title"/>
          </p:nvPr>
        </p:nvSpPr>
        <p:spPr/>
        <p:txBody>
          <a:bodyPr/>
          <a:lstStyle/>
          <a:p>
            <a:r>
              <a:rPr lang="en-US" dirty="0" sz="3200" b="1">
                <a:latin typeface="Calibri"/>
                <a:ea typeface="Calibri"/>
                <a:cs typeface="Calibri"/>
              </a:rPr>
              <a:t>Cardinality in Geodatabase</a:t>
            </a:r>
          </a:p>
        </p:txBody>
      </p:sp>
      <p:pic>
        <p:nvPicPr>
          <p:cNvPr id="20" name="Picture 19">
            <a:extLst>
              <a:ext uri="{FF2B5EF4-FFF2-40B4-BE49-F238E27FC236}">
                <a16:creationId xmlns:a16="http://schemas.microsoft.com/office/drawing/2014/main" id="{C33750FE-72C7-4749-5B0D-E668EE1255B9}"/>
              </a:ext>
            </a:extLst>
          </p:cNvPr>
          <p:cNvPicPr>
            <a:picLocks noChangeAspect="1"/>
          </p:cNvPicPr>
          <p:nvPr/>
        </p:nvPicPr>
        <p:blipFill>
          <a:blip r:embed="rId2">
            <a:extLst>
              <a:ext uri="{28A0092B-C50C-407E-A947-70E740481C1C}">
                <a14:useLocalDpi xmlns:a14="http://schemas.microsoft.com/office/drawing/2010/main" val="0"/>
              </a:ext>
            </a:extLst>
          </a:blip>
          <a:srcRect r="8447"/>
          <a:stretch>
            <a:fillRect/>
          </a:stretch>
        </p:blipFill>
        <p:spPr>
          <a:xfrm>
            <a:off x="7682054" y="72775"/>
            <a:ext cx="4324888" cy="3356225"/>
          </a:xfrm>
          <a:prstGeom prst="rect">
            <a:avLst/>
          </a:prstGeom>
        </p:spPr>
      </p:pic>
      <p:sp>
        <p:nvSpPr>
          <p:cNvPr id="22" name="TextBox 21">
            <a:extLst>
              <a:ext uri="{FF2B5EF4-FFF2-40B4-BE49-F238E27FC236}">
                <a16:creationId xmlns:a16="http://schemas.microsoft.com/office/drawing/2014/main" id="{256EED0F-6C4C-6CC9-B4ED-29C65A80F988}"/>
              </a:ext>
            </a:extLst>
          </p:cNvPr>
          <p:cNvSpPr txBox="1"/>
          <p:nvPr/>
        </p:nvSpPr>
        <p:spPr>
          <a:xfrm>
            <a:off x="413658" y="1690688"/>
            <a:ext cx="5100050" cy="1200329"/>
          </a:xfrm>
          <a:prstGeom prst="rect">
            <a:avLst/>
          </a:prstGeom>
          <a:noFill/>
        </p:spPr>
        <p:txBody>
          <a:bodyPr wrap="square">
            <a:spAutoFit/>
          </a:bodyPr>
          <a:lstStyle/>
          <a:p>
            <a:r>
              <a:rPr lang="en-US" b="1" dirty="0" sz="1800">
                <a:latin typeface="Calibri"/>
                <a:ea typeface="Calibri"/>
                <a:cs typeface="Calibri"/>
              </a:rPr>
              <a:t>Cardinality</a:t>
            </a:r>
            <a:r>
              <a:rPr lang="en-US" dirty="0" sz="1800">
                <a:latin typeface="Calibri"/>
                <a:ea typeface="Calibri"/>
                <a:cs typeface="Calibri"/>
              </a:rPr>
              <a:t> describes </a:t>
            </a:r>
            <a:r>
              <a:rPr lang="en-US" i="1" dirty="0" sz="1800">
                <a:latin typeface="Calibri"/>
                <a:ea typeface="Calibri"/>
                <a:cs typeface="Calibri"/>
              </a:rPr>
              <a:t>how many</a:t>
            </a:r>
            <a:r>
              <a:rPr lang="en-US" dirty="0" sz="1800">
                <a:latin typeface="Calibri"/>
                <a:ea typeface="Calibri"/>
                <a:cs typeface="Calibri"/>
              </a:rPr>
              <a:t> records in one table/feature class can relate to </a:t>
            </a:r>
            <a:r>
              <a:rPr lang="en-US" i="1" dirty="0" sz="1800">
                <a:latin typeface="Calibri"/>
                <a:ea typeface="Calibri"/>
                <a:cs typeface="Calibri"/>
              </a:rPr>
              <a:t>how many</a:t>
            </a:r>
            <a:r>
              <a:rPr lang="en-US" dirty="0" sz="1800">
                <a:latin typeface="Calibri"/>
                <a:ea typeface="Calibri"/>
                <a:cs typeface="Calibri"/>
              </a:rPr>
              <a:t> records in another table/feature class, within a relationship class.</a:t>
            </a:r>
          </a:p>
        </p:txBody>
      </p:sp>
      <p:pic>
        <p:nvPicPr>
          <p:cNvPr id="27" name="Picture 26">
            <a:extLst>
              <a:ext uri="{FF2B5EF4-FFF2-40B4-BE49-F238E27FC236}">
                <a16:creationId xmlns:a16="http://schemas.microsoft.com/office/drawing/2014/main" id="{41EE0739-64B8-494E-38B0-717238123B4B}"/>
              </a:ext>
            </a:extLst>
          </p:cNvPr>
          <p:cNvPicPr>
            <a:picLocks noChangeAspect="1"/>
          </p:cNvPicPr>
          <p:nvPr/>
        </p:nvPicPr>
        <p:blipFill>
          <a:blip r:embed="rId3"/>
          <a:stretch>
            <a:fillRect/>
          </a:stretch>
        </p:blipFill>
        <p:spPr>
          <a:xfrm>
            <a:off x="3955040" y="3755978"/>
            <a:ext cx="2140960" cy="2736897"/>
          </a:xfrm>
          <a:prstGeom prst="rect">
            <a:avLst/>
          </a:prstGeom>
        </p:spPr>
      </p:pic>
      <p:pic>
        <p:nvPicPr>
          <p:cNvPr id="29" name="Picture 28">
            <a:extLst>
              <a:ext uri="{FF2B5EF4-FFF2-40B4-BE49-F238E27FC236}">
                <a16:creationId xmlns:a16="http://schemas.microsoft.com/office/drawing/2014/main" id="{4EE1E155-CDC6-B5E9-9496-A64BD0A7FABE}"/>
              </a:ext>
            </a:extLst>
          </p:cNvPr>
          <p:cNvPicPr>
            <a:picLocks noChangeAspect="1"/>
          </p:cNvPicPr>
          <p:nvPr/>
        </p:nvPicPr>
        <p:blipFill>
          <a:blip r:embed="rId4"/>
          <a:stretch>
            <a:fillRect/>
          </a:stretch>
        </p:blipFill>
        <p:spPr>
          <a:xfrm>
            <a:off x="6641216" y="3755978"/>
            <a:ext cx="2331649" cy="2736897"/>
          </a:xfrm>
          <a:prstGeom prst="rect">
            <a:avLst/>
          </a:prstGeom>
        </p:spPr>
      </p:pic>
      <p:pic>
        <p:nvPicPr>
          <p:cNvPr id="31" name="Picture 30">
            <a:extLst>
              <a:ext uri="{FF2B5EF4-FFF2-40B4-BE49-F238E27FC236}">
                <a16:creationId xmlns:a16="http://schemas.microsoft.com/office/drawing/2014/main" id="{17956BE6-A6CC-AA55-F919-AB3D2ECF395A}"/>
              </a:ext>
            </a:extLst>
          </p:cNvPr>
          <p:cNvPicPr>
            <a:picLocks noChangeAspect="1"/>
          </p:cNvPicPr>
          <p:nvPr/>
        </p:nvPicPr>
        <p:blipFill>
          <a:blip r:embed="rId5"/>
          <a:stretch>
            <a:fillRect/>
          </a:stretch>
        </p:blipFill>
        <p:spPr>
          <a:xfrm>
            <a:off x="9518081" y="3755978"/>
            <a:ext cx="2261277" cy="2736897"/>
          </a:xfrm>
          <a:prstGeom prst="rect">
            <a:avLst/>
          </a:prstGeom>
        </p:spPr>
      </p:pic>
      <p:sp>
        <p:nvSpPr>
          <p:cNvPr id="33" name="TextBox 32">
            <a:extLst>
              <a:ext uri="{FF2B5EF4-FFF2-40B4-BE49-F238E27FC236}">
                <a16:creationId xmlns:a16="http://schemas.microsoft.com/office/drawing/2014/main" id="{4E94D834-7803-1268-7654-6767CE3DC426}"/>
              </a:ext>
            </a:extLst>
          </p:cNvPr>
          <p:cNvSpPr txBox="1"/>
          <p:nvPr/>
        </p:nvSpPr>
        <p:spPr>
          <a:xfrm>
            <a:off x="412642" y="3966984"/>
            <a:ext cx="3690257" cy="1304203"/>
          </a:xfrm>
          <a:prstGeom prst="rect">
            <a:avLst/>
          </a:prstGeom>
          <a:noFill/>
        </p:spPr>
        <p:txBody>
          <a:bodyPr wrap="square">
            <a:spAutoFit/>
          </a:bodyPr>
          <a:lstStyle/>
          <a:p>
            <a:r>
              <a:rPr lang="en-US" sz="1800" b="0" i="0" dirty="0">
                <a:effectLst/>
                <a:latin typeface="Calibri"/>
                <a:ea typeface="Calibri"/>
                <a:cs typeface="Calibri"/>
              </a:rPr>
              <a:t xml:space="preserve">A relationship class is the geodatabase’s foreign key.Origin holds the primary key. Destination holds the matching key.1-M is the usual telecom pattern (one cabinet, many ports).Composite means children belong to the parent and are deleted with it.</a:t>
            </a:r>
            <a:br>
              <a:rPr lang="en-US" dirty="0"/>
            </a:br>
            <a:br>
              <a:rPr lang="en-US" dirty="0"/>
            </a:br>
            <a:br>
              <a:rPr lang="en-US" dirty="0"/>
            </a:br>
            <a:endParaRPr lang="en-US" dirty="0"/>
          </a:p>
        </p:txBody>
      </p:sp>
      <p:sp>
        <p:nvSpPr>
          <p:cNvPr id="34" name="TextBox 3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37  /  51</a:t>
            </a:r>
          </a:p>
        </p:txBody>
      </p:sp>
    </p:spTree>
    <p:extLst>
      <p:ext uri="{BB962C8B-B14F-4D97-AF65-F5344CB8AC3E}">
        <p14:creationId xmlns:p14="http://schemas.microsoft.com/office/powerpoint/2010/main" val="12421022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hape 19">
            <a:extLst>
              <a:ext uri="{FF2B5EF4-FFF2-40B4-BE49-F238E27FC236}">
                <a16:creationId xmlns:a16="http://schemas.microsoft.com/office/drawing/2014/main" id="{8239A450-ACB5-7A0D-2091-91A17B25BE0F}"/>
              </a:ext>
            </a:extLst>
          </p:cNvPr>
          <p:cNvSpPr/>
          <p:nvPr/>
        </p:nvSpPr>
        <p:spPr>
          <a:xfrm>
            <a:off x="4363962" y="1143000"/>
            <a:ext cx="7193280" cy="1341120"/>
          </a:xfrm>
          <a:prstGeom prst="roundRect">
            <a:avLst>
              <a:gd name="adj" fmla="val 9091"/>
            </a:avLst>
          </a:prstGeom>
          <a:solidFill>
            <a:schemeClr val="accent5">
              <a:lumMod val="20000"/>
              <a:lumOff val="80000"/>
            </a:schemeClr>
          </a:solidFill>
          <a:ln w="6350">
            <a:solidFill>
              <a:srgbClr val="0F6E56"/>
            </a:solidFill>
            <a:prstDash val="solid"/>
          </a:ln>
          <a:effectLst>
            <a:outerShdw blurRad="76200" dist="25400" dir="2700000" algn="bl" rotWithShape="0">
              <a:srgbClr val="000000">
                <a:alpha val="12000"/>
              </a:srgbClr>
            </a:outerShdw>
          </a:effectLst>
        </p:spPr>
        <p:txBody>
          <a:bodyPr/>
          <a:lstStyle/>
          <a:p>
            <a:endParaRPr lang="en-US"/>
          </a:p>
        </p:txBody>
      </p:sp>
      <p:sp>
        <p:nvSpPr>
          <p:cNvPr id="2" name="Text 0"/>
          <p:cNvSpPr/>
          <p:nvPr/>
        </p:nvSpPr>
        <p:spPr>
          <a:xfrm>
            <a:off x="670560" y="207860"/>
            <a:ext cx="10728960" cy="670560"/>
          </a:xfrm>
          <a:prstGeom prst="rect">
            <a:avLst/>
          </a:prstGeom>
          <a:noFill/>
          <a:ln/>
        </p:spPr>
        <p:txBody>
          <a:bodyPr wrap="square" rtlCol="0" anchor="ctr"/>
          <a:lstStyle/>
          <a:p>
            <a:r>
              <a:rPr lang="en-US" sz="1800" b="1" dirty="0">
                <a:solidFill>
                  <a:srgbClr val="1A2E25"/>
                </a:solidFill>
                <a:latin typeface="Calibri" pitchFamily="34" charset="0"/>
                <a:ea typeface="Calibri" pitchFamily="34" charset="-122"/>
                <a:cs typeface="Calibri" pitchFamily="34" charset="-120"/>
              </a:rPr>
              <a:t>Irrigation Example:</a:t>
            </a:r>
          </a:p>
          <a:p>
            <a:r>
              <a:rPr lang="en-US" sz="1800" b="1" dirty="0">
                <a:solidFill>
                  <a:srgbClr val="1A2E25"/>
                </a:solidFill>
                <a:latin typeface="Calibri" pitchFamily="34" charset="0"/>
                <a:ea typeface="Calibri" pitchFamily="34" charset="-122"/>
                <a:cs typeface="Calibri" pitchFamily="34" charset="-120"/>
              </a:rPr>
              <a:t>Hierarchical Relationships</a:t>
            </a:r>
            <a:endParaRPr lang="en-US" sz="2900" dirty="0"/>
          </a:p>
        </p:txBody>
      </p:sp>
      <p:sp>
        <p:nvSpPr>
          <p:cNvPr id="3" name="Shape 1"/>
          <p:cNvSpPr/>
          <p:nvPr/>
        </p:nvSpPr>
        <p:spPr>
          <a:xfrm>
            <a:off x="634758" y="2612569"/>
            <a:ext cx="3413760" cy="670560"/>
          </a:xfrm>
          <a:prstGeom prst="roundRect">
            <a:avLst>
              <a:gd name="adj" fmla="val 10909"/>
            </a:avLst>
          </a:prstGeom>
          <a:solidFill>
            <a:srgbClr val="065A82"/>
          </a:solidFill>
          <a:ln w="12700">
            <a:solidFill>
              <a:srgbClr val="065A82"/>
            </a:solidFill>
            <a:prstDash val="solid"/>
          </a:ln>
          <a:effectLst>
            <a:outerShdw blurRad="76200" dist="25400" dir="2700000" algn="bl" rotWithShape="0">
              <a:srgbClr val="000000">
                <a:alpha val="12000"/>
              </a:srgbClr>
            </a:outerShdw>
          </a:effectLst>
        </p:spPr>
        <p:txBody>
          <a:bodyPr/>
          <a:lstStyle/>
          <a:p>
            <a:endParaRPr lang="en-US"/>
          </a:p>
        </p:txBody>
      </p:sp>
      <p:sp>
        <p:nvSpPr>
          <p:cNvPr id="4" name="Text 2"/>
          <p:cNvSpPr/>
          <p:nvPr/>
        </p:nvSpPr>
        <p:spPr>
          <a:xfrm>
            <a:off x="573194" y="2676603"/>
            <a:ext cx="3413760" cy="548640"/>
          </a:xfrm>
          <a:prstGeom prst="rect">
            <a:avLst/>
          </a:prstGeom>
          <a:noFill/>
          <a:ln/>
        </p:spPr>
        <p:txBody>
          <a:bodyPr wrap="square" rtlCol="0" anchor="ctr"/>
          <a:lstStyle/>
          <a:p>
            <a:pPr algn="ctr"/>
            <a:r>
              <a:rPr lang="en-US" sz="1800" b="1" dirty="0">
                <a:solidFill>
                  <a:srgbClr val="FFFFFF"/>
                </a:solidFill>
                <a:latin typeface="Calibri" pitchFamily="34" charset="0"/>
                <a:ea typeface="Calibri" pitchFamily="34" charset="-122"/>
                <a:cs typeface="Calibri" pitchFamily="34" charset="-120"/>
              </a:rPr>
              <a:t>Canal</a:t>
            </a:r>
            <a:endParaRPr lang="en-US" sz="2400" dirty="0"/>
          </a:p>
        </p:txBody>
      </p:sp>
      <p:sp>
        <p:nvSpPr>
          <p:cNvPr id="6" name="Shape 4"/>
          <p:cNvSpPr/>
          <p:nvPr/>
        </p:nvSpPr>
        <p:spPr>
          <a:xfrm>
            <a:off x="634758" y="4055387"/>
            <a:ext cx="3413760" cy="692356"/>
          </a:xfrm>
          <a:prstGeom prst="roundRect">
            <a:avLst>
              <a:gd name="adj" fmla="val 10909"/>
            </a:avLst>
          </a:prstGeom>
          <a:solidFill>
            <a:srgbClr val="0F6E56"/>
          </a:solidFill>
          <a:ln w="12700">
            <a:solidFill>
              <a:srgbClr val="0F6E56"/>
            </a:solidFill>
            <a:prstDash val="solid"/>
          </a:ln>
          <a:effectLst>
            <a:outerShdw blurRad="76200" dist="25400" dir="2700000" algn="bl" rotWithShape="0">
              <a:srgbClr val="000000">
                <a:alpha val="12000"/>
              </a:srgbClr>
            </a:outerShdw>
          </a:effectLst>
        </p:spPr>
        <p:txBody>
          <a:bodyPr/>
          <a:lstStyle/>
          <a:p>
            <a:endParaRPr lang="en-US"/>
          </a:p>
        </p:txBody>
      </p:sp>
      <p:sp>
        <p:nvSpPr>
          <p:cNvPr id="7" name="Text 5"/>
          <p:cNvSpPr/>
          <p:nvPr/>
        </p:nvSpPr>
        <p:spPr>
          <a:xfrm>
            <a:off x="573194" y="4154859"/>
            <a:ext cx="3413760" cy="548640"/>
          </a:xfrm>
          <a:prstGeom prst="rect">
            <a:avLst/>
          </a:prstGeom>
          <a:noFill/>
          <a:ln/>
        </p:spPr>
        <p:txBody>
          <a:bodyPr wrap="square" rtlCol="0" anchor="ctr"/>
          <a:lstStyle/>
          <a:p>
            <a:pPr algn="ctr"/>
            <a:r>
              <a:rPr lang="en-US" sz="1800" b="1" dirty="0">
                <a:solidFill>
                  <a:srgbClr val="FFFFFF"/>
                </a:solidFill>
                <a:latin typeface="Calibri" pitchFamily="34" charset="0"/>
                <a:ea typeface="Calibri" pitchFamily="34" charset="-122"/>
                <a:cs typeface="Calibri" pitchFamily="34" charset="-120"/>
              </a:rPr>
              <a:t>Command Area</a:t>
            </a:r>
            <a:endParaRPr lang="en-US" sz="2400" dirty="0"/>
          </a:p>
        </p:txBody>
      </p:sp>
      <p:sp>
        <p:nvSpPr>
          <p:cNvPr id="9" name="Shape 7"/>
          <p:cNvSpPr/>
          <p:nvPr/>
        </p:nvSpPr>
        <p:spPr>
          <a:xfrm>
            <a:off x="634758" y="5513566"/>
            <a:ext cx="3413760" cy="768096"/>
          </a:xfrm>
          <a:prstGeom prst="roundRect">
            <a:avLst>
              <a:gd name="adj" fmla="val 10909"/>
            </a:avLst>
          </a:prstGeom>
          <a:solidFill>
            <a:srgbClr val="854F0B"/>
          </a:solidFill>
          <a:ln w="12700">
            <a:solidFill>
              <a:srgbClr val="854F0B"/>
            </a:solidFill>
            <a:prstDash val="solid"/>
          </a:ln>
          <a:effectLst>
            <a:outerShdw blurRad="76200" dist="25400" dir="2700000" algn="bl" rotWithShape="0">
              <a:srgbClr val="000000">
                <a:alpha val="12000"/>
              </a:srgbClr>
            </a:outerShdw>
          </a:effectLst>
        </p:spPr>
        <p:txBody>
          <a:bodyPr/>
          <a:lstStyle/>
          <a:p>
            <a:endParaRPr lang="en-US" dirty="0"/>
          </a:p>
        </p:txBody>
      </p:sp>
      <p:sp>
        <p:nvSpPr>
          <p:cNvPr id="10" name="Text 8"/>
          <p:cNvSpPr/>
          <p:nvPr/>
        </p:nvSpPr>
        <p:spPr>
          <a:xfrm>
            <a:off x="609600" y="5592645"/>
            <a:ext cx="3413760" cy="548640"/>
          </a:xfrm>
          <a:prstGeom prst="rect">
            <a:avLst/>
          </a:prstGeom>
          <a:noFill/>
          <a:ln/>
        </p:spPr>
        <p:txBody>
          <a:bodyPr wrap="square" rtlCol="0" anchor="ctr"/>
          <a:lstStyle/>
          <a:p>
            <a:pPr algn="ctr"/>
            <a:r>
              <a:rPr lang="en-US" sz="1800" b="1" dirty="0">
                <a:solidFill>
                  <a:srgbClr val="FFFFFF"/>
                </a:solidFill>
                <a:latin typeface="Calibri" pitchFamily="34" charset="0"/>
                <a:ea typeface="Calibri" pitchFamily="34" charset="-122"/>
                <a:cs typeface="Calibri" pitchFamily="34" charset="-120"/>
              </a:rPr>
              <a:t>Structures</a:t>
            </a:r>
            <a:endParaRPr lang="en-US" sz="2400" dirty="0"/>
          </a:p>
        </p:txBody>
      </p:sp>
      <p:sp>
        <p:nvSpPr>
          <p:cNvPr id="12" name="Shape 10"/>
          <p:cNvSpPr/>
          <p:nvPr/>
        </p:nvSpPr>
        <p:spPr>
          <a:xfrm flipH="1">
            <a:off x="2316478" y="3289565"/>
            <a:ext cx="0" cy="765822"/>
          </a:xfrm>
          <a:prstGeom prst="line">
            <a:avLst/>
          </a:prstGeom>
          <a:noFill/>
          <a:ln w="25400">
            <a:solidFill>
              <a:srgbClr val="1D9E75"/>
            </a:solidFill>
            <a:prstDash val="solid"/>
          </a:ln>
        </p:spPr>
        <p:txBody>
          <a:bodyPr/>
          <a:lstStyle/>
          <a:p>
            <a:endParaRPr lang="en-US"/>
          </a:p>
        </p:txBody>
      </p:sp>
      <p:sp>
        <p:nvSpPr>
          <p:cNvPr id="13" name="Shape 11"/>
          <p:cNvSpPr/>
          <p:nvPr/>
        </p:nvSpPr>
        <p:spPr>
          <a:xfrm>
            <a:off x="1024467" y="3479304"/>
            <a:ext cx="2560320" cy="341376"/>
          </a:xfrm>
          <a:prstGeom prst="roundRect">
            <a:avLst>
              <a:gd name="adj" fmla="val 17857"/>
            </a:avLst>
          </a:prstGeom>
          <a:solidFill>
            <a:srgbClr val="E1F5EE"/>
          </a:solidFill>
          <a:ln w="6350">
            <a:solidFill>
              <a:srgbClr val="1D9E75"/>
            </a:solidFill>
            <a:prstDash val="solid"/>
          </a:ln>
        </p:spPr>
        <p:txBody>
          <a:bodyPr/>
          <a:lstStyle/>
          <a:p>
            <a:endParaRPr lang="en-US"/>
          </a:p>
        </p:txBody>
      </p:sp>
      <p:sp>
        <p:nvSpPr>
          <p:cNvPr id="14" name="Text 12"/>
          <p:cNvSpPr/>
          <p:nvPr/>
        </p:nvSpPr>
        <p:spPr>
          <a:xfrm>
            <a:off x="1061478" y="3515093"/>
            <a:ext cx="2560320" cy="341376"/>
          </a:xfrm>
          <a:prstGeom prst="rect">
            <a:avLst/>
          </a:prstGeom>
          <a:noFill/>
          <a:ln/>
        </p:spPr>
        <p:txBody>
          <a:bodyPr wrap="square" lIns="0" tIns="0" rIns="0" bIns="0" rtlCol="0" anchor="ctr"/>
          <a:lstStyle/>
          <a:p>
            <a:pPr algn="ctr"/>
            <a:r>
              <a:rPr lang="en-US" sz="1333" b="1" dirty="0">
                <a:solidFill>
                  <a:srgbClr val="0F6E56"/>
                </a:solidFill>
                <a:latin typeface="Calibri"/>
                <a:ea typeface="Calibri"/>
                <a:cs typeface="Calibri"/>
              </a:rPr>
              <a:t>1 : Many</a:t>
            </a:r>
            <a:endParaRPr lang="en-US" sz="1333" dirty="0"/>
          </a:p>
        </p:txBody>
      </p:sp>
      <p:sp>
        <p:nvSpPr>
          <p:cNvPr id="15" name="Shape 13"/>
          <p:cNvSpPr/>
          <p:nvPr/>
        </p:nvSpPr>
        <p:spPr>
          <a:xfrm>
            <a:off x="2316480" y="4767943"/>
            <a:ext cx="0" cy="725423"/>
          </a:xfrm>
          <a:prstGeom prst="line">
            <a:avLst/>
          </a:prstGeom>
          <a:noFill/>
          <a:ln w="25400">
            <a:solidFill>
              <a:srgbClr val="854F0B"/>
            </a:solidFill>
            <a:prstDash val="solid"/>
          </a:ln>
        </p:spPr>
        <p:txBody>
          <a:bodyPr/>
          <a:lstStyle/>
          <a:p>
            <a:endParaRPr lang="en-US"/>
          </a:p>
        </p:txBody>
      </p:sp>
      <p:sp>
        <p:nvSpPr>
          <p:cNvPr id="16" name="Shape 14"/>
          <p:cNvSpPr/>
          <p:nvPr/>
        </p:nvSpPr>
        <p:spPr>
          <a:xfrm>
            <a:off x="1036320" y="4977819"/>
            <a:ext cx="2560320" cy="341376"/>
          </a:xfrm>
          <a:prstGeom prst="roundRect">
            <a:avLst>
              <a:gd name="adj" fmla="val 17857"/>
            </a:avLst>
          </a:prstGeom>
          <a:solidFill>
            <a:srgbClr val="FAEEDA"/>
          </a:solidFill>
          <a:ln w="6350">
            <a:solidFill>
              <a:srgbClr val="854F0B"/>
            </a:solidFill>
            <a:prstDash val="solid"/>
          </a:ln>
        </p:spPr>
        <p:txBody>
          <a:bodyPr/>
          <a:lstStyle/>
          <a:p>
            <a:endParaRPr lang="en-US"/>
          </a:p>
        </p:txBody>
      </p:sp>
      <p:sp>
        <p:nvSpPr>
          <p:cNvPr id="17" name="Text 15"/>
          <p:cNvSpPr/>
          <p:nvPr/>
        </p:nvSpPr>
        <p:spPr>
          <a:xfrm>
            <a:off x="966470" y="5008880"/>
            <a:ext cx="2560320" cy="341376"/>
          </a:xfrm>
          <a:prstGeom prst="rect">
            <a:avLst/>
          </a:prstGeom>
          <a:noFill/>
          <a:ln/>
        </p:spPr>
        <p:txBody>
          <a:bodyPr wrap="square" lIns="0" tIns="0" rIns="0" bIns="0" rtlCol="0" anchor="ctr"/>
          <a:lstStyle/>
          <a:p>
            <a:pPr algn="ctr"/>
            <a:r>
              <a:rPr lang="en-US" sz="1333" b="1" dirty="0">
                <a:solidFill>
                  <a:srgbClr val="854F0B"/>
                </a:solidFill>
                <a:latin typeface="Calibri"/>
                <a:ea typeface="Calibri"/>
                <a:cs typeface="Calibri"/>
              </a:rPr>
              <a:t>1 : Many</a:t>
            </a:r>
            <a:endParaRPr lang="en-US" sz="1333" dirty="0"/>
          </a:p>
        </p:txBody>
      </p:sp>
      <p:sp>
        <p:nvSpPr>
          <p:cNvPr id="18" name="Shape 16"/>
          <p:cNvSpPr/>
          <p:nvPr/>
        </p:nvSpPr>
        <p:spPr>
          <a:xfrm>
            <a:off x="4363962" y="2584776"/>
            <a:ext cx="7193280" cy="1341120"/>
          </a:xfrm>
          <a:prstGeom prst="roundRect">
            <a:avLst>
              <a:gd name="adj" fmla="val 9091"/>
            </a:avLst>
          </a:prstGeom>
          <a:solidFill>
            <a:srgbClr val="E6F1FB"/>
          </a:solidFill>
          <a:ln w="6350">
            <a:solidFill>
              <a:srgbClr val="065A82"/>
            </a:solidFill>
            <a:prstDash val="solid"/>
          </a:ln>
          <a:effectLst>
            <a:outerShdw blurRad="76200" dist="25400" dir="2700000" algn="bl" rotWithShape="0">
              <a:srgbClr val="000000">
                <a:alpha val="12000"/>
              </a:srgbClr>
            </a:outerShdw>
          </a:effectLst>
        </p:spPr>
        <p:txBody>
          <a:bodyPr/>
          <a:lstStyle/>
          <a:p>
            <a:endParaRPr lang="en-US"/>
          </a:p>
        </p:txBody>
      </p:sp>
      <p:sp>
        <p:nvSpPr>
          <p:cNvPr id="19" name="Text 17"/>
          <p:cNvSpPr/>
          <p:nvPr/>
        </p:nvSpPr>
        <p:spPr>
          <a:xfrm>
            <a:off x="4572000" y="1197936"/>
            <a:ext cx="6827520" cy="365760"/>
          </a:xfrm>
          <a:prstGeom prst="rect">
            <a:avLst/>
          </a:prstGeom>
          <a:noFill/>
          <a:ln/>
        </p:spPr>
        <p:txBody>
          <a:bodyPr wrap="square" rtlCol="0" anchor="ctr"/>
          <a:lstStyle/>
          <a:p>
            <a:r>
              <a:rPr lang="en-US" sz="1600" b="1" dirty="0">
                <a:solidFill>
                  <a:srgbClr val="065A82"/>
                </a:solidFill>
                <a:latin typeface="Calibri"/>
                <a:ea typeface="Calibri"/>
                <a:cs typeface="Calibri"/>
              </a:rPr>
              <a:t>Scheme (Parent)</a:t>
            </a:r>
            <a:endParaRPr lang="en-US" sz="1600" dirty="0"/>
          </a:p>
        </p:txBody>
      </p:sp>
      <p:sp>
        <p:nvSpPr>
          <p:cNvPr id="20" name="Text 18"/>
          <p:cNvSpPr/>
          <p:nvPr/>
        </p:nvSpPr>
        <p:spPr>
          <a:xfrm>
            <a:off x="4572000" y="3032760"/>
            <a:ext cx="6827520" cy="792480"/>
          </a:xfrm>
          <a:prstGeom prst="rect">
            <a:avLst/>
          </a:prstGeom>
          <a:noFill/>
          <a:ln/>
        </p:spPr>
        <p:txBody>
          <a:bodyPr wrap="square" rtlCol="0" anchor="ctr"/>
          <a:lstStyle/>
          <a:p>
            <a:pPr marL="457189" indent="-457189">
              <a:buSzPct val="100000"/>
              <a:buChar char="•"/>
            </a:pPr>
            <a:r>
              <a:rPr lang="en-US" sz="1800" dirty="0">
                <a:solidFill>
                  <a:srgbClr val="1A2E25"/>
                </a:solidFill>
                <a:latin typeface="Calibri"/>
                <a:ea typeface="Calibri"/>
                <a:cs typeface="Calibri"/>
              </a:rPr>
              <a:t>Second top of the hierarchy</a:t>
            </a:r>
            <a:endParaRPr lang="en-US" sz="1467" dirty="0"/>
          </a:p>
          <a:p>
            <a:pPr marL="457189" indent="-457189">
              <a:buSzPct val="100000"/>
              <a:buChar char="•"/>
            </a:pPr>
            <a:r>
              <a:rPr lang="en-US" sz="1800" dirty="0">
                <a:solidFill>
                  <a:srgbClr val="1A2E25"/>
                </a:solidFill>
                <a:latin typeface="Calibri"/>
                <a:ea typeface="Calibri"/>
                <a:cs typeface="Calibri"/>
              </a:rPr>
              <a:t>Each canal can supply multiple irrigated area</a:t>
            </a:r>
            <a:endParaRPr lang="en-US" sz="1467" dirty="0"/>
          </a:p>
          <a:p>
            <a:pPr marL="457189" indent="-457189">
              <a:buSzPct val="100000"/>
              <a:buChar char="•"/>
            </a:pPr>
            <a:r>
              <a:rPr lang="en-US" sz="1800" dirty="0">
                <a:solidFill>
                  <a:srgbClr val="1A2E25"/>
                </a:solidFill>
                <a:latin typeface="Calibri"/>
                <a:ea typeface="Calibri"/>
                <a:cs typeface="Calibri"/>
              </a:rPr>
              <a:t>Identified by canal_id (Primary Key)</a:t>
            </a:r>
            <a:endParaRPr lang="en-US" sz="1467" dirty="0"/>
          </a:p>
          <a:p>
            <a:pPr marL="457189" indent="-457189">
              <a:buSzPct val="100000"/>
              <a:buChar char="•"/>
            </a:pPr>
            <a:r>
              <a:rPr lang="en-US" sz="1800" dirty="0">
                <a:solidFill>
                  <a:srgbClr val="1A2E25"/>
                </a:solidFill>
                <a:latin typeface="Calibri"/>
                <a:ea typeface="Calibri"/>
                <a:cs typeface="Calibri"/>
              </a:rPr>
              <a:t>Geometry: Polyline</a:t>
            </a:r>
            <a:endParaRPr lang="en-US" sz="1467" dirty="0"/>
          </a:p>
        </p:txBody>
      </p:sp>
      <p:sp>
        <p:nvSpPr>
          <p:cNvPr id="21" name="Shape 19"/>
          <p:cNvSpPr/>
          <p:nvPr/>
        </p:nvSpPr>
        <p:spPr>
          <a:xfrm>
            <a:off x="4363962" y="4012548"/>
            <a:ext cx="7193280" cy="1341120"/>
          </a:xfrm>
          <a:prstGeom prst="roundRect">
            <a:avLst>
              <a:gd name="adj" fmla="val 9091"/>
            </a:avLst>
          </a:prstGeom>
          <a:solidFill>
            <a:srgbClr val="E1F5EE"/>
          </a:solidFill>
          <a:ln w="6350">
            <a:solidFill>
              <a:srgbClr val="0F6E56"/>
            </a:solidFill>
            <a:prstDash val="solid"/>
          </a:ln>
          <a:effectLst>
            <a:outerShdw blurRad="76200" dist="25400" dir="2700000" algn="bl" rotWithShape="0">
              <a:srgbClr val="000000">
                <a:alpha val="12000"/>
              </a:srgbClr>
            </a:outerShdw>
          </a:effectLst>
        </p:spPr>
        <p:txBody>
          <a:bodyPr/>
          <a:lstStyle/>
          <a:p>
            <a:endParaRPr lang="en-US"/>
          </a:p>
        </p:txBody>
      </p:sp>
      <p:sp>
        <p:nvSpPr>
          <p:cNvPr id="22" name="Text 20"/>
          <p:cNvSpPr/>
          <p:nvPr/>
        </p:nvSpPr>
        <p:spPr>
          <a:xfrm>
            <a:off x="4638282" y="3971979"/>
            <a:ext cx="6827520" cy="365760"/>
          </a:xfrm>
          <a:prstGeom prst="rect">
            <a:avLst/>
          </a:prstGeom>
          <a:noFill/>
          <a:ln/>
        </p:spPr>
        <p:txBody>
          <a:bodyPr wrap="square" rtlCol="0" anchor="ctr"/>
          <a:lstStyle/>
          <a:p>
            <a:r>
              <a:rPr lang="en-US" sz="1600" b="1" dirty="0">
                <a:solidFill>
                  <a:srgbClr val="0F6E56"/>
                </a:solidFill>
                <a:latin typeface="Calibri"/>
                <a:ea typeface="Calibri"/>
                <a:cs typeface="Calibri"/>
              </a:rPr>
              <a:t>Command Area (Child / Parent)</a:t>
            </a:r>
            <a:endParaRPr lang="en-US" sz="1600" dirty="0"/>
          </a:p>
        </p:txBody>
      </p:sp>
      <p:sp>
        <p:nvSpPr>
          <p:cNvPr id="23" name="Text 21"/>
          <p:cNvSpPr/>
          <p:nvPr/>
        </p:nvSpPr>
        <p:spPr>
          <a:xfrm>
            <a:off x="4546842" y="4321774"/>
            <a:ext cx="6827520" cy="792480"/>
          </a:xfrm>
          <a:prstGeom prst="rect">
            <a:avLst/>
          </a:prstGeom>
          <a:noFill/>
          <a:ln/>
        </p:spPr>
        <p:txBody>
          <a:bodyPr wrap="square" rtlCol="0" anchor="ctr"/>
          <a:lstStyle/>
          <a:p>
            <a:pPr marL="457189" indent="-457189">
              <a:buSzPct val="100000"/>
              <a:buChar char="•"/>
            </a:pPr>
            <a:r>
              <a:rPr lang="en-US" sz="1800" dirty="0">
                <a:solidFill>
                  <a:srgbClr val="1A2E25"/>
                </a:solidFill>
                <a:latin typeface="Calibri"/>
                <a:ea typeface="Calibri"/>
                <a:cs typeface="Calibri"/>
              </a:rPr>
              <a:t>Child of Canal via canal_id (FK)</a:t>
            </a:r>
            <a:endParaRPr lang="en-US" sz="1467" dirty="0"/>
          </a:p>
          <a:p>
            <a:pPr marL="457189" indent="-457189">
              <a:buSzPct val="100000"/>
              <a:buChar char="•"/>
            </a:pPr>
            <a:r>
              <a:rPr lang="en-US" sz="1800" dirty="0">
                <a:solidFill>
                  <a:srgbClr val="1A2E25"/>
                </a:solidFill>
                <a:latin typeface="Calibri"/>
                <a:ea typeface="Calibri"/>
                <a:cs typeface="Calibri"/>
              </a:rPr>
              <a:t>Parent of Structures</a:t>
            </a:r>
            <a:endParaRPr lang="en-US" sz="1467" dirty="0"/>
          </a:p>
          <a:p>
            <a:pPr marL="457189" indent="-457189">
              <a:buSzPct val="100000"/>
              <a:buChar char="•"/>
            </a:pPr>
            <a:r>
              <a:rPr lang="en-US" sz="1800" dirty="0">
                <a:solidFill>
                  <a:srgbClr val="1A2E25"/>
                </a:solidFill>
                <a:latin typeface="Calibri"/>
                <a:ea typeface="Calibri"/>
                <a:cs typeface="Calibri"/>
              </a:rPr>
              <a:t>Defines the irrigated coverage area</a:t>
            </a:r>
            <a:endParaRPr lang="en-US" sz="1467" dirty="0"/>
          </a:p>
          <a:p>
            <a:pPr marL="457189" indent="-457189">
              <a:buSzPct val="100000"/>
              <a:buChar char="•"/>
            </a:pPr>
            <a:r>
              <a:rPr lang="en-US" sz="1800" dirty="0">
                <a:solidFill>
                  <a:srgbClr val="1A2E25"/>
                </a:solidFill>
                <a:latin typeface="Calibri"/>
                <a:ea typeface="Calibri"/>
                <a:cs typeface="Calibri"/>
              </a:rPr>
              <a:t>Geometry: Polygon</a:t>
            </a:r>
            <a:endParaRPr lang="en-US" sz="1467" dirty="0"/>
          </a:p>
        </p:txBody>
      </p:sp>
      <p:sp>
        <p:nvSpPr>
          <p:cNvPr id="24" name="Shape 22"/>
          <p:cNvSpPr/>
          <p:nvPr/>
        </p:nvSpPr>
        <p:spPr>
          <a:xfrm>
            <a:off x="4363962" y="5434584"/>
            <a:ext cx="7193280" cy="1341120"/>
          </a:xfrm>
          <a:prstGeom prst="roundRect">
            <a:avLst>
              <a:gd name="adj" fmla="val 9091"/>
            </a:avLst>
          </a:prstGeom>
          <a:solidFill>
            <a:srgbClr val="FAEEDA"/>
          </a:solidFill>
          <a:ln w="6350">
            <a:solidFill>
              <a:srgbClr val="854F0B"/>
            </a:solidFill>
            <a:prstDash val="solid"/>
          </a:ln>
          <a:effectLst>
            <a:outerShdw blurRad="76200" dist="25400" dir="2700000" algn="bl" rotWithShape="0">
              <a:srgbClr val="000000">
                <a:alpha val="12000"/>
              </a:srgbClr>
            </a:outerShdw>
          </a:effectLst>
        </p:spPr>
        <p:txBody>
          <a:bodyPr/>
          <a:lstStyle/>
          <a:p>
            <a:endParaRPr lang="en-US"/>
          </a:p>
        </p:txBody>
      </p:sp>
      <p:sp>
        <p:nvSpPr>
          <p:cNvPr id="25" name="Text 23"/>
          <p:cNvSpPr/>
          <p:nvPr/>
        </p:nvSpPr>
        <p:spPr>
          <a:xfrm>
            <a:off x="4546842" y="5493366"/>
            <a:ext cx="6827520" cy="365760"/>
          </a:xfrm>
          <a:prstGeom prst="rect">
            <a:avLst/>
          </a:prstGeom>
          <a:noFill/>
          <a:ln/>
        </p:spPr>
        <p:txBody>
          <a:bodyPr wrap="square" rtlCol="0" anchor="ctr"/>
          <a:lstStyle/>
          <a:p>
            <a:r>
              <a:rPr lang="en-US" sz="1600" b="1" dirty="0">
                <a:solidFill>
                  <a:srgbClr val="854F0B"/>
                </a:solidFill>
                <a:latin typeface="Calibri"/>
                <a:ea typeface="Calibri"/>
                <a:cs typeface="Calibri"/>
              </a:rPr>
              <a:t>Structures (Child)</a:t>
            </a:r>
            <a:endParaRPr lang="en-US" sz="1600" dirty="0"/>
          </a:p>
        </p:txBody>
      </p:sp>
      <p:sp>
        <p:nvSpPr>
          <p:cNvPr id="26" name="Text 24"/>
          <p:cNvSpPr/>
          <p:nvPr/>
        </p:nvSpPr>
        <p:spPr>
          <a:xfrm>
            <a:off x="4546842" y="5885422"/>
            <a:ext cx="6827520" cy="792480"/>
          </a:xfrm>
          <a:prstGeom prst="rect">
            <a:avLst/>
          </a:prstGeom>
          <a:noFill/>
          <a:ln/>
        </p:spPr>
        <p:txBody>
          <a:bodyPr wrap="square" rtlCol="0" anchor="ctr"/>
          <a:lstStyle/>
          <a:p>
            <a:pPr marL="457189" indent="-457189">
              <a:buSzPct val="100000"/>
              <a:buChar char="•"/>
            </a:pPr>
            <a:r>
              <a:rPr lang="en-US" sz="1800" dirty="0">
                <a:solidFill>
                  <a:srgbClr val="1A2E25"/>
                </a:solidFill>
                <a:latin typeface="Calibri"/>
                <a:ea typeface="Calibri"/>
                <a:cs typeface="Calibri"/>
              </a:rPr>
              <a:t>Child of Command Area via area_id (FK)</a:t>
            </a:r>
            <a:endParaRPr lang="en-US" sz="1467" dirty="0"/>
          </a:p>
          <a:p>
            <a:pPr marL="457189" indent="-457189">
              <a:buSzPct val="100000"/>
              <a:buChar char="•"/>
            </a:pPr>
            <a:r>
              <a:rPr lang="en-US" sz="1800" dirty="0">
                <a:solidFill>
                  <a:srgbClr val="1A2E25"/>
                </a:solidFill>
                <a:latin typeface="Calibri"/>
                <a:ea typeface="Calibri"/>
                <a:cs typeface="Calibri"/>
              </a:rPr>
              <a:t>Represents physical infrastructure</a:t>
            </a:r>
            <a:endParaRPr lang="en-US" sz="1467" dirty="0"/>
          </a:p>
          <a:p>
            <a:pPr marL="457189" indent="-457189">
              <a:buSzPct val="100000"/>
              <a:buChar char="•"/>
            </a:pPr>
            <a:r>
              <a:rPr lang="en-US" sz="1800" dirty="0">
                <a:solidFill>
                  <a:srgbClr val="1A2E25"/>
                </a:solidFill>
                <a:latin typeface="Calibri"/>
                <a:ea typeface="Calibri"/>
                <a:cs typeface="Calibri"/>
              </a:rPr>
              <a:t xml:space="preserve">Types: intake, </a:t>
            </a:r>
            <a:r>
              <a:rPr lang="en-US" sz="1800" dirty="0">
                <a:solidFill>
                  <a:srgbClr val="1A2E25"/>
                </a:solidFill>
                <a:latin typeface="Calibri"/>
                <a:ea typeface="Calibri"/>
                <a:cs typeface="Calibri"/>
                <a:highlight>
                  <a:srgbClr val="FFFF00"/>
                </a:highlight>
              </a:rPr>
              <a:t xml:space="preserve">super passage</a:t>
            </a:r>
            <a:r>
              <a:rPr lang="en-US" sz="1800" dirty="0">
                <a:solidFill>
                  <a:srgbClr val="1A2E25"/>
                </a:solidFill>
                <a:latin typeface="Calibri"/>
                <a:ea typeface="Calibri"/>
                <a:cs typeface="Calibri"/>
              </a:rPr>
              <a:t xml:space="preserve">, Weir</a:t>
            </a:r>
            <a:endParaRPr lang="en-US" sz="1467" dirty="0"/>
          </a:p>
          <a:p>
            <a:pPr marL="457189" indent="-457189">
              <a:buSzPct val="100000"/>
              <a:buChar char="•"/>
            </a:pPr>
            <a:r>
              <a:rPr lang="en-US" sz="1800" dirty="0">
                <a:solidFill>
                  <a:srgbClr val="1A2E25"/>
                </a:solidFill>
                <a:latin typeface="Calibri"/>
                <a:ea typeface="Calibri"/>
                <a:cs typeface="Calibri"/>
              </a:rPr>
              <a:t>Geometry: Point</a:t>
            </a:r>
            <a:endParaRPr lang="en-US" sz="1467" dirty="0"/>
          </a:p>
        </p:txBody>
      </p:sp>
      <p:sp>
        <p:nvSpPr>
          <p:cNvPr id="27" name="Shape 4">
            <a:extLst>
              <a:ext uri="{FF2B5EF4-FFF2-40B4-BE49-F238E27FC236}">
                <a16:creationId xmlns:a16="http://schemas.microsoft.com/office/drawing/2014/main" id="{50D8330D-B604-2A2B-66A5-7128F30349F5}"/>
              </a:ext>
            </a:extLst>
          </p:cNvPr>
          <p:cNvSpPr/>
          <p:nvPr/>
        </p:nvSpPr>
        <p:spPr>
          <a:xfrm>
            <a:off x="634758" y="1178627"/>
            <a:ext cx="3413760" cy="692356"/>
          </a:xfrm>
          <a:prstGeom prst="roundRect">
            <a:avLst>
              <a:gd name="adj" fmla="val 10909"/>
            </a:avLst>
          </a:prstGeom>
          <a:solidFill>
            <a:schemeClr val="accent5">
              <a:lumMod val="20000"/>
              <a:lumOff val="80000"/>
              <a:alpha val="98000"/>
            </a:schemeClr>
          </a:solidFill>
          <a:ln w="12700">
            <a:solidFill>
              <a:srgbClr val="0F6E56"/>
            </a:solidFill>
            <a:prstDash val="solid"/>
          </a:ln>
          <a:effectLst>
            <a:outerShdw blurRad="76200" dist="25400" dir="2700000" algn="bl" rotWithShape="0">
              <a:srgbClr val="000000">
                <a:alpha val="12000"/>
              </a:srgbClr>
            </a:outerShdw>
          </a:effectLst>
        </p:spPr>
        <p:txBody>
          <a:bodyPr/>
          <a:lstStyle/>
          <a:p>
            <a:endParaRPr lang="en-US" dirty="0"/>
          </a:p>
        </p:txBody>
      </p:sp>
      <p:sp>
        <p:nvSpPr>
          <p:cNvPr id="28" name="Text 2">
            <a:extLst>
              <a:ext uri="{FF2B5EF4-FFF2-40B4-BE49-F238E27FC236}">
                <a16:creationId xmlns:a16="http://schemas.microsoft.com/office/drawing/2014/main" id="{B5E0AF43-4564-FD59-1344-9283C4FE43B5}"/>
              </a:ext>
            </a:extLst>
          </p:cNvPr>
          <p:cNvSpPr/>
          <p:nvPr/>
        </p:nvSpPr>
        <p:spPr>
          <a:xfrm>
            <a:off x="609600" y="1214533"/>
            <a:ext cx="3413760" cy="548640"/>
          </a:xfrm>
          <a:prstGeom prst="rect">
            <a:avLst/>
          </a:prstGeom>
          <a:noFill/>
          <a:ln/>
        </p:spPr>
        <p:txBody>
          <a:bodyPr wrap="square" rtlCol="0" anchor="ctr"/>
          <a:lstStyle/>
          <a:p>
            <a:pPr algn="ctr"/>
            <a:r>
              <a:rPr lang="en-US" sz="1800" b="1" dirty="0">
                <a:solidFill>
                  <a:srgbClr val="FFFFFF"/>
                </a:solidFill>
                <a:latin typeface="Calibri" pitchFamily="34" charset="0"/>
                <a:ea typeface="Calibri" pitchFamily="34" charset="-122"/>
                <a:cs typeface="Calibri" pitchFamily="34" charset="-120"/>
              </a:rPr>
              <a:t>Scheme</a:t>
            </a:r>
            <a:endParaRPr lang="en-US" sz="2400" dirty="0"/>
          </a:p>
        </p:txBody>
      </p:sp>
      <p:sp>
        <p:nvSpPr>
          <p:cNvPr id="29" name="Shape 10">
            <a:extLst>
              <a:ext uri="{FF2B5EF4-FFF2-40B4-BE49-F238E27FC236}">
                <a16:creationId xmlns:a16="http://schemas.microsoft.com/office/drawing/2014/main" id="{E9DFC2B7-F72C-61D3-CC98-328111E3717A}"/>
              </a:ext>
            </a:extLst>
          </p:cNvPr>
          <p:cNvSpPr/>
          <p:nvPr/>
        </p:nvSpPr>
        <p:spPr>
          <a:xfrm>
            <a:off x="2254310" y="1887416"/>
            <a:ext cx="62169" cy="718718"/>
          </a:xfrm>
          <a:prstGeom prst="line">
            <a:avLst/>
          </a:prstGeom>
          <a:noFill/>
          <a:ln w="25400">
            <a:solidFill>
              <a:srgbClr val="1D9E75"/>
            </a:solidFill>
            <a:prstDash val="solid"/>
          </a:ln>
        </p:spPr>
        <p:txBody>
          <a:bodyPr/>
          <a:lstStyle/>
          <a:p>
            <a:endParaRPr lang="en-US"/>
          </a:p>
        </p:txBody>
      </p:sp>
      <p:sp>
        <p:nvSpPr>
          <p:cNvPr id="30" name="Shape 11">
            <a:extLst>
              <a:ext uri="{FF2B5EF4-FFF2-40B4-BE49-F238E27FC236}">
                <a16:creationId xmlns:a16="http://schemas.microsoft.com/office/drawing/2014/main" id="{54054AE7-EC04-7A9A-EC38-023C4643B6C4}"/>
              </a:ext>
            </a:extLst>
          </p:cNvPr>
          <p:cNvSpPr/>
          <p:nvPr/>
        </p:nvSpPr>
        <p:spPr>
          <a:xfrm>
            <a:off x="1036320" y="1998353"/>
            <a:ext cx="2560320" cy="341376"/>
          </a:xfrm>
          <a:prstGeom prst="roundRect">
            <a:avLst>
              <a:gd name="adj" fmla="val 17857"/>
            </a:avLst>
          </a:prstGeom>
          <a:solidFill>
            <a:schemeClr val="accent2">
              <a:lumMod val="20000"/>
              <a:lumOff val="80000"/>
            </a:schemeClr>
          </a:solidFill>
          <a:ln w="6350">
            <a:solidFill>
              <a:srgbClr val="1D9E75"/>
            </a:solidFill>
            <a:prstDash val="solid"/>
          </a:ln>
        </p:spPr>
        <p:txBody>
          <a:bodyPr/>
          <a:lstStyle/>
          <a:p>
            <a:pPr algn="ctr"/>
            <a:r>
              <a:rPr lang="en-US" sz="1400" b="1" dirty="0">
                <a:solidFill>
                  <a:srgbClr val="0F6E56"/>
                </a:solidFill>
                <a:latin typeface="Calibri"/>
                <a:ea typeface="Calibri"/>
                <a:cs typeface="Calibri"/>
              </a:rPr>
              <a:t>1 : Many</a:t>
            </a:r>
            <a:endParaRPr lang="en-US" sz="1400" dirty="0"/>
          </a:p>
        </p:txBody>
      </p:sp>
      <p:sp>
        <p:nvSpPr>
          <p:cNvPr id="32" name="Text 20">
            <a:extLst>
              <a:ext uri="{FF2B5EF4-FFF2-40B4-BE49-F238E27FC236}">
                <a16:creationId xmlns:a16="http://schemas.microsoft.com/office/drawing/2014/main" id="{A884F4C7-6013-D5E5-C40C-5235F2FDBB3C}"/>
              </a:ext>
            </a:extLst>
          </p:cNvPr>
          <p:cNvSpPr/>
          <p:nvPr/>
        </p:nvSpPr>
        <p:spPr>
          <a:xfrm>
            <a:off x="4546842" y="2643959"/>
            <a:ext cx="6827520" cy="365760"/>
          </a:xfrm>
          <a:prstGeom prst="rect">
            <a:avLst/>
          </a:prstGeom>
          <a:noFill/>
          <a:ln/>
        </p:spPr>
        <p:txBody>
          <a:bodyPr wrap="square" rtlCol="0" anchor="ctr"/>
          <a:lstStyle/>
          <a:p>
            <a:r>
              <a:rPr lang="en-US" sz="1600" b="1" dirty="0">
                <a:solidFill>
                  <a:srgbClr val="0F6E56"/>
                </a:solidFill>
                <a:latin typeface="Calibri"/>
                <a:ea typeface="Calibri"/>
                <a:cs typeface="Calibri"/>
              </a:rPr>
              <a:t>Canal (Child / Parent)</a:t>
            </a:r>
            <a:endParaRPr lang="en-US" sz="1600" dirty="0"/>
          </a:p>
        </p:txBody>
      </p:sp>
      <p:sp>
        <p:nvSpPr>
          <p:cNvPr id="33" name="Text 18">
            <a:extLst>
              <a:ext uri="{FF2B5EF4-FFF2-40B4-BE49-F238E27FC236}">
                <a16:creationId xmlns:a16="http://schemas.microsoft.com/office/drawing/2014/main" id="{FC87CBE1-1FA0-DE2A-F9AA-E299AF6878B6}"/>
              </a:ext>
            </a:extLst>
          </p:cNvPr>
          <p:cNvSpPr/>
          <p:nvPr/>
        </p:nvSpPr>
        <p:spPr>
          <a:xfrm>
            <a:off x="4546842" y="1555714"/>
            <a:ext cx="6827520" cy="792480"/>
          </a:xfrm>
          <a:prstGeom prst="rect">
            <a:avLst/>
          </a:prstGeom>
          <a:noFill/>
          <a:ln/>
        </p:spPr>
        <p:txBody>
          <a:bodyPr wrap="square" rtlCol="0" anchor="ctr"/>
          <a:lstStyle/>
          <a:p>
            <a:pPr marL="457189" indent="-457189">
              <a:buSzPct val="100000"/>
              <a:buChar char="•"/>
            </a:pPr>
            <a:r>
              <a:rPr lang="en-US" sz="1800" dirty="0">
                <a:solidFill>
                  <a:srgbClr val="1A2E25"/>
                </a:solidFill>
                <a:latin typeface="Calibri"/>
                <a:ea typeface="Calibri"/>
                <a:cs typeface="Calibri"/>
              </a:rPr>
              <a:t>Top of the hierarchy</a:t>
            </a:r>
            <a:endParaRPr lang="en-US" sz="1467" dirty="0"/>
          </a:p>
          <a:p>
            <a:pPr marL="457189" indent="-457189">
              <a:buSzPct val="100000"/>
              <a:buChar char="•"/>
            </a:pPr>
            <a:r>
              <a:rPr lang="en-US" sz="1800" dirty="0">
                <a:solidFill>
                  <a:srgbClr val="1A2E25"/>
                </a:solidFill>
                <a:latin typeface="Calibri"/>
                <a:ea typeface="Calibri"/>
                <a:cs typeface="Calibri"/>
              </a:rPr>
              <a:t>Each Scheme has at least one subproject (Irrigation rehabilitation, RBP)</a:t>
            </a:r>
            <a:endParaRPr lang="en-US" sz="1467" dirty="0"/>
          </a:p>
          <a:p>
            <a:pPr marL="457189" indent="-457189">
              <a:buSzPct val="100000"/>
              <a:buChar char="•"/>
            </a:pPr>
            <a:r>
              <a:rPr lang="en-US" sz="1800" dirty="0">
                <a:solidFill>
                  <a:srgbClr val="1A2E25"/>
                </a:solidFill>
                <a:latin typeface="Calibri"/>
                <a:ea typeface="Calibri"/>
                <a:cs typeface="Calibri"/>
              </a:rPr>
              <a:t>Identified by </a:t>
            </a:r>
            <a:r>
              <a:rPr lang="en-US" sz="1800" dirty="0" err="1">
                <a:solidFill>
                  <a:srgbClr val="1A2E25"/>
                </a:solidFill>
                <a:latin typeface="Calibri"/>
                <a:ea typeface="Calibri"/>
                <a:cs typeface="Calibri"/>
              </a:rPr>
              <a:t>scheme_id</a:t>
            </a:r>
            <a:r>
              <a:rPr lang="en-US" sz="1800" dirty="0">
                <a:solidFill>
                  <a:srgbClr val="1A2E25"/>
                </a:solidFill>
                <a:latin typeface="Calibri"/>
                <a:ea typeface="Calibri"/>
                <a:cs typeface="Calibri"/>
              </a:rPr>
              <a:t> (Primary Key)</a:t>
            </a:r>
            <a:endParaRPr lang="en-US" sz="1467" dirty="0"/>
          </a:p>
          <a:p>
            <a:pPr marL="457189" indent="-457189">
              <a:buSzPct val="100000"/>
              <a:buChar char="•"/>
            </a:pPr>
            <a:r>
              <a:rPr lang="en-US" sz="1800" dirty="0">
                <a:solidFill>
                  <a:srgbClr val="1A2E25"/>
                </a:solidFill>
                <a:latin typeface="Calibri"/>
                <a:ea typeface="Calibri"/>
                <a:cs typeface="Calibri"/>
              </a:rPr>
              <a:t>Geometry: Point</a:t>
            </a:r>
            <a:endParaRPr lang="en-US" sz="1467" dirty="0"/>
          </a:p>
        </p:txBody>
      </p:sp>
      <p:sp>
        <p:nvSpPr>
          <p:cNvPr id="34" name="TextBox 33">
            <a:extLst>
              <a:ext uri="{FF2B5EF4-FFF2-40B4-BE49-F238E27FC236}">
                <a16:creationId xmlns:a16="http://schemas.microsoft.com/office/drawing/2014/main" id="{2457A153-EB05-DB38-EA1B-D948CD7CB230}"/>
              </a:ext>
            </a:extLst>
          </p:cNvPr>
          <p:cNvSpPr txBox="1"/>
          <p:nvPr/>
        </p:nvSpPr>
        <p:spPr>
          <a:xfrm>
            <a:off x="457200" y="973683"/>
            <a:ext cx="11430000" cy="1554912"/>
          </a:xfrm>
          <a:prstGeom prst="rect">
            <a:avLst/>
          </a:prstGeom>
          <a:noFill/>
          <a:ln w="28575">
            <a:solidFill>
              <a:schemeClr val="tx2">
                <a:lumMod val="75000"/>
                <a:lumOff val="25000"/>
              </a:schemeClr>
            </a:solidFill>
          </a:ln>
        </p:spPr>
        <p:txBody>
          <a:bodyPr wrap="square" rtlCol="0">
            <a:spAutoFit/>
          </a:bodyPr>
          <a:lstStyle/>
          <a:p>
            <a:endParaRPr lang="en-US" dirty="0"/>
          </a:p>
        </p:txBody>
      </p:sp>
      <p:sp>
        <p:nvSpPr>
          <p:cNvPr id="35" name="TextBox 34"/>
          <p:cNvSpPr txBox="1"/>
          <p:nvPr/>
        </p:nvSpPr>
        <p:spPr>
          <a:xfrm>
            <a:off x="320040" y="6291072"/>
            <a:ext cx="11521440" cy="292608"/>
          </a:xfrm>
          <a:prstGeom prst="rect">
            <a:avLst/>
          </a:prstGeom>
          <a:noFill/>
        </p:spPr>
        <p:txBody>
          <a:bodyPr wrap="square">
            <a:spAutoFit/>
          </a:bodyPr>
          <a:lstStyle/>
          <a:p>
            <a:r>
              <a:rPr sz="1400" b="1">
                <a:latin typeface="Calibri"/>
                <a:ea typeface="Calibri"/>
                <a:cs typeface="Calibri"/>
                <a:highlight>
                  <a:srgbClr val="FFFF00"/>
                </a:highlight>
              </a:rPr>
              <a:t>Telecom parallel (1:M): OLT → many FDHs → many splitters → many homes. Same cardinality idea; different features.</a:t>
            </a:r>
          </a:p>
        </p:txBody>
      </p:sp>
      <p:sp>
        <p:nvSpPr>
          <p:cNvPr id="36" name="TextBox 35"/>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38  /  51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C2461-D4AA-BAD3-7A46-F457C889CAAA}"/>
              </a:ext>
            </a:extLst>
          </p:cNvPr>
          <p:cNvSpPr>
            <a:spLocks noGrp="1"/>
          </p:cNvSpPr>
          <p:nvPr>
            <p:ph type="title"/>
          </p:nvPr>
        </p:nvSpPr>
        <p:spPr>
          <a:xfrm>
            <a:off x="391885" y="0"/>
            <a:ext cx="11070771" cy="1325563"/>
          </a:xfrm>
        </p:spPr>
        <p:txBody>
          <a:bodyPr>
            <a:normAutofit/>
          </a:bodyPr>
          <a:lstStyle/>
          <a:p>
            <a:r>
              <a:rPr lang="en-US" sz="3200" dirty="0" b="1">
                <a:latin typeface="Calibri"/>
                <a:ea typeface="Calibri"/>
                <a:cs typeface="Calibri"/>
              </a:rPr>
              <a:t>Geodatabase design of one Irrigation project</a:t>
            </a:r>
          </a:p>
        </p:txBody>
      </p:sp>
      <p:pic>
        <p:nvPicPr>
          <p:cNvPr id="5" name="Picture 4">
            <a:extLst>
              <a:ext uri="{FF2B5EF4-FFF2-40B4-BE49-F238E27FC236}">
                <a16:creationId xmlns:a16="http://schemas.microsoft.com/office/drawing/2014/main" id="{6F9D9198-CFE2-56B6-37D2-CA83766C759A}"/>
              </a:ext>
            </a:extLst>
          </p:cNvPr>
          <p:cNvPicPr>
            <a:picLocks noChangeAspect="1"/>
          </p:cNvPicPr>
          <p:nvPr/>
        </p:nvPicPr>
        <p:blipFill>
          <a:blip r:embed="rId2"/>
          <a:stretch>
            <a:fillRect/>
          </a:stretch>
        </p:blipFill>
        <p:spPr>
          <a:xfrm>
            <a:off x="261257" y="973745"/>
            <a:ext cx="6693244" cy="2863997"/>
          </a:xfrm>
          <a:prstGeom prst="rect">
            <a:avLst/>
          </a:prstGeom>
          <a:ln>
            <a:solidFill>
              <a:schemeClr val="accent1"/>
            </a:solidFill>
          </a:ln>
        </p:spPr>
      </p:pic>
      <p:pic>
        <p:nvPicPr>
          <p:cNvPr id="7" name="Picture 6">
            <a:extLst>
              <a:ext uri="{FF2B5EF4-FFF2-40B4-BE49-F238E27FC236}">
                <a16:creationId xmlns:a16="http://schemas.microsoft.com/office/drawing/2014/main" id="{CDCB0FA0-FFD5-FFF5-CE2F-39761F24B10B}"/>
              </a:ext>
            </a:extLst>
          </p:cNvPr>
          <p:cNvPicPr>
            <a:picLocks noChangeAspect="1"/>
          </p:cNvPicPr>
          <p:nvPr/>
        </p:nvPicPr>
        <p:blipFill>
          <a:blip r:embed="rId3"/>
          <a:srcRect r="5762"/>
          <a:stretch>
            <a:fillRect/>
          </a:stretch>
        </p:blipFill>
        <p:spPr>
          <a:xfrm>
            <a:off x="5545045" y="2874648"/>
            <a:ext cx="6102670" cy="3537038"/>
          </a:xfrm>
          <a:prstGeom prst="rect">
            <a:avLst/>
          </a:prstGeom>
          <a:ln>
            <a:solidFill>
              <a:schemeClr val="accent1"/>
            </a:solidFill>
          </a:ln>
        </p:spPr>
      </p:pic>
      <p:pic>
        <p:nvPicPr>
          <p:cNvPr id="9" name="Picture 8">
            <a:extLst>
              <a:ext uri="{FF2B5EF4-FFF2-40B4-BE49-F238E27FC236}">
                <a16:creationId xmlns:a16="http://schemas.microsoft.com/office/drawing/2014/main" id="{F4D8E3B4-D7BF-F5D0-3AD1-4A0468623D18}"/>
              </a:ext>
            </a:extLst>
          </p:cNvPr>
          <p:cNvPicPr>
            <a:picLocks noChangeAspect="1"/>
          </p:cNvPicPr>
          <p:nvPr/>
        </p:nvPicPr>
        <p:blipFill>
          <a:blip r:embed="rId4"/>
          <a:srcRect t="5921" b="-1"/>
          <a:stretch>
            <a:fillRect/>
          </a:stretch>
        </p:blipFill>
        <p:spPr>
          <a:xfrm>
            <a:off x="6157855" y="908834"/>
            <a:ext cx="2438525" cy="1672818"/>
          </a:xfrm>
          <a:prstGeom prst="rect">
            <a:avLst/>
          </a:prstGeom>
          <a:ln>
            <a:solidFill>
              <a:schemeClr val="accent1"/>
            </a:solidFill>
          </a:ln>
        </p:spPr>
      </p:pic>
      <p:sp>
        <p:nvSpPr>
          <p:cNvPr id="10" name="TextBox 9"/>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39  /  51</a:t>
            </a:r>
          </a:p>
        </p:txBody>
      </p:sp>
    </p:spTree>
    <p:extLst>
      <p:ext uri="{BB962C8B-B14F-4D97-AF65-F5344CB8AC3E}">
        <p14:creationId xmlns:p14="http://schemas.microsoft.com/office/powerpoint/2010/main" val="40075176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DA4460-8585-36E0-A6FC-1A592C76BE1D}"/>
              </a:ext>
            </a:extLst>
          </p:cNvPr>
          <p:cNvPicPr>
            <a:picLocks noChangeAspect="1"/>
          </p:cNvPicPr>
          <p:nvPr/>
        </p:nvPicPr>
        <p:blipFill>
          <a:blip r:embed="rId3"/>
          <a:stretch>
            <a:fillRect/>
          </a:stretch>
        </p:blipFill>
        <p:spPr>
          <a:xfrm>
            <a:off x="221140" y="301531"/>
            <a:ext cx="7874405" cy="3664138"/>
          </a:xfrm>
          <a:prstGeom prst="rect">
            <a:avLst/>
          </a:prstGeom>
          <a:ln>
            <a:solidFill>
              <a:schemeClr val="accent1"/>
            </a:solidFill>
          </a:ln>
        </p:spPr>
      </p:pic>
      <p:pic>
        <p:nvPicPr>
          <p:cNvPr id="7" name="Picture 6">
            <a:extLst>
              <a:ext uri="{FF2B5EF4-FFF2-40B4-BE49-F238E27FC236}">
                <a16:creationId xmlns:a16="http://schemas.microsoft.com/office/drawing/2014/main" id="{93FF3856-F1CB-8137-BFAC-906B3369E720}"/>
              </a:ext>
            </a:extLst>
          </p:cNvPr>
          <p:cNvPicPr>
            <a:picLocks noChangeAspect="1"/>
          </p:cNvPicPr>
          <p:nvPr/>
        </p:nvPicPr>
        <p:blipFill>
          <a:blip r:embed="rId4"/>
          <a:stretch>
            <a:fillRect/>
          </a:stretch>
        </p:blipFill>
        <p:spPr>
          <a:xfrm>
            <a:off x="8271190" y="1313092"/>
            <a:ext cx="2956584" cy="4136304"/>
          </a:xfrm>
          <a:prstGeom prst="rect">
            <a:avLst/>
          </a:prstGeom>
          <a:ln>
            <a:solidFill>
              <a:schemeClr val="accent1"/>
            </a:solidFill>
          </a:ln>
        </p:spPr>
      </p:pic>
      <p:sp>
        <p:nvSpPr>
          <p:cNvPr id="8" name="TextBox 7"/>
          <p:cNvSpPr txBox="1"/>
          <p:nvPr/>
        </p:nvSpPr>
        <p:spPr>
          <a:xfrm>
            <a:off x="320040" y="109728"/>
            <a:ext cx="11430000" cy="411480"/>
          </a:xfrm>
          <a:prstGeom prst="rect">
            <a:avLst/>
          </a:prstGeom>
          <a:noFill/>
        </p:spPr>
        <p:txBody>
          <a:bodyPr wrap="none">
            <a:spAutoFit/>
          </a:bodyPr>
          <a:lstStyle/>
          <a:p>
            <a:r>
              <a:rPr sz="2000" b="1">
                <a:latin typeface="Calibri"/>
                <a:ea typeface="Calibri"/>
                <a:cs typeface="Calibri"/>
              </a:rPr>
              <a:t>Irrigation geodatabase — screenshots (cardinality example)</a:t>
            </a:r>
          </a:p>
        </p:txBody>
      </p:sp>
      <p:sp>
        <p:nvSpPr>
          <p:cNvPr id="9" name="TextBox 8"/>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40  /  51</a:t>
            </a:r>
          </a:p>
        </p:txBody>
      </p:sp>
    </p:spTree>
    <p:extLst>
      <p:ext uri="{BB962C8B-B14F-4D97-AF65-F5344CB8AC3E}">
        <p14:creationId xmlns:p14="http://schemas.microsoft.com/office/powerpoint/2010/main" val="31044660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5FF6BF-9D0B-AE4D-D433-09D3D9E1297C}"/>
              </a:ext>
            </a:extLst>
          </p:cNvPr>
          <p:cNvPicPr>
            <a:picLocks noChangeAspect="1"/>
          </p:cNvPicPr>
          <p:nvPr/>
        </p:nvPicPr>
        <p:blipFill>
          <a:blip r:embed="rId2"/>
          <a:srcRect/>
          <a:stretch>
            <a:fillRect/>
          </a:stretch>
        </p:blipFill>
        <p:spPr>
          <a:xfrm>
            <a:off x="83757" y="80201"/>
            <a:ext cx="6187371" cy="3229056"/>
          </a:xfrm>
          <a:prstGeom prst="rect">
            <a:avLst/>
          </a:prstGeom>
          <a:ln>
            <a:solidFill>
              <a:schemeClr val="accent1"/>
            </a:solidFill>
          </a:ln>
        </p:spPr>
      </p:pic>
      <p:pic>
        <p:nvPicPr>
          <p:cNvPr id="7" name="Picture 6">
            <a:extLst>
              <a:ext uri="{FF2B5EF4-FFF2-40B4-BE49-F238E27FC236}">
                <a16:creationId xmlns:a16="http://schemas.microsoft.com/office/drawing/2014/main" id="{03833B63-6017-A54B-2EE4-C176A4F401D4}"/>
              </a:ext>
            </a:extLst>
          </p:cNvPr>
          <p:cNvPicPr>
            <a:picLocks noChangeAspect="1"/>
          </p:cNvPicPr>
          <p:nvPr/>
        </p:nvPicPr>
        <p:blipFill>
          <a:blip r:embed="rId3"/>
          <a:stretch>
            <a:fillRect/>
          </a:stretch>
        </p:blipFill>
        <p:spPr>
          <a:xfrm>
            <a:off x="5109328" y="2622740"/>
            <a:ext cx="6736110" cy="3229056"/>
          </a:xfrm>
          <a:prstGeom prst="rect">
            <a:avLst/>
          </a:prstGeom>
          <a:ln>
            <a:solidFill>
              <a:schemeClr val="accent1"/>
            </a:solidFill>
          </a:ln>
        </p:spPr>
      </p:pic>
      <p:sp>
        <p:nvSpPr>
          <p:cNvPr id="8" name="TextBox 7"/>
          <p:cNvSpPr txBox="1"/>
          <p:nvPr/>
        </p:nvSpPr>
        <p:spPr>
          <a:xfrm>
            <a:off x="320040" y="109728"/>
            <a:ext cx="11430000" cy="411480"/>
          </a:xfrm>
          <a:prstGeom prst="rect">
            <a:avLst/>
          </a:prstGeom>
          <a:noFill/>
        </p:spPr>
        <p:txBody>
          <a:bodyPr wrap="none">
            <a:spAutoFit/>
          </a:bodyPr>
          <a:lstStyle/>
          <a:p>
            <a:r>
              <a:rPr sz="2000" b="1">
                <a:latin typeface="Calibri"/>
                <a:ea typeface="Calibri"/>
                <a:cs typeface="Calibri"/>
              </a:rPr>
              <a:t>Irrigation geodatabase — screenshots (cardinality example)</a:t>
            </a:r>
          </a:p>
        </p:txBody>
      </p:sp>
      <p:sp>
        <p:nvSpPr>
          <p:cNvPr id="9" name="TextBox 8"/>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41  /  51</a:t>
            </a:r>
          </a:p>
        </p:txBody>
      </p:sp>
    </p:spTree>
    <p:extLst>
      <p:ext uri="{BB962C8B-B14F-4D97-AF65-F5344CB8AC3E}">
        <p14:creationId xmlns:p14="http://schemas.microsoft.com/office/powerpoint/2010/main" val="38301836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B76FE-A849-B454-7862-D9A9E95DB631}"/>
              </a:ext>
            </a:extLst>
          </p:cNvPr>
          <p:cNvSpPr>
            <a:spLocks noGrp="1"/>
          </p:cNvSpPr>
          <p:nvPr>
            <p:ph type="title"/>
          </p:nvPr>
        </p:nvSpPr>
        <p:spPr/>
        <p:txBody>
          <a:bodyPr/>
          <a:lstStyle/>
          <a:p>
            <a:r>
              <a:rPr lang="en-US" dirty="0" sz="3200" b="1">
                <a:latin typeface="Calibri"/>
                <a:ea typeface="Calibri"/>
                <a:cs typeface="Calibri"/>
              </a:rPr>
              <a:t>Raster Analysis in ArcGIS Pro</a:t>
            </a:r>
          </a:p>
        </p:txBody>
      </p:sp>
      <p:sp>
        <p:nvSpPr>
          <p:cNvPr id="3" name="Content Placeholder 2">
            <a:extLst>
              <a:ext uri="{FF2B5EF4-FFF2-40B4-BE49-F238E27FC236}">
                <a16:creationId xmlns:a16="http://schemas.microsoft.com/office/drawing/2014/main" id="{7C91EA87-1908-993F-8650-630A5B94EE03}"/>
              </a:ext>
            </a:extLst>
          </p:cNvPr>
          <p:cNvSpPr>
            <a:spLocks noGrp="1"/>
          </p:cNvSpPr>
          <p:nvPr>
            <p:ph idx="1"/>
          </p:nvPr>
        </p:nvSpPr>
        <p:spPr>
          <a:xfrm>
            <a:off x="838199" y="1825625"/>
            <a:ext cx="10863943" cy="4351338"/>
          </a:xfrm>
        </p:spPr>
        <p:txBody>
          <a:bodyPr>
            <a:normAutofit fontScale="92500" lnSpcReduction="10000"/>
          </a:bodyPr>
          <a:lstStyle/>
          <a:p>
            <a:pPr marL="0" indent="0">
              <a:buNone/>
            </a:pPr>
            <a:r>
              <a:rPr lang="en-US" dirty="0" sz="1800">
                <a:latin typeface="Calibri"/>
                <a:ea typeface="Calibri"/>
                <a:cs typeface="Calibri"/>
              </a:rPr>
              <a:t>Discrete data models deal with spatial objects as points, lines, or polygons, but other approaches are needed to store and model continuous surfaces that are based on measured quantities, such as elevation, that vary from place to place on the earth.</a:t>
            </a:r>
          </a:p>
          <a:p>
            <a:pPr marL="0" indent="0">
              <a:buNone/>
            </a:pPr>
            <a:r>
              <a:rPr lang="en-US" dirty="0" sz="1800">
                <a:latin typeface="Calibri"/>
                <a:ea typeface="Calibri"/>
                <a:cs typeface="Calibri"/>
                <a:highlight>
                  <a:srgbClr val="FFFF00"/>
                </a:highlight>
              </a:rPr>
              <a:t xml:space="preserve">Rasters excel</a:t>
            </a:r>
            <a:r>
              <a:rPr lang="en-US" dirty="0" sz="1800">
                <a:latin typeface="Calibri"/>
                <a:ea typeface="Calibri"/>
                <a:cs typeface="Calibri"/>
              </a:rPr>
              <a:t xml:space="preserve"> at storing continuous data, which are quantities or variables that change over the earth’s surface. A digital elevation model (DEM) stores elevation values. Cells are unlikely to have the same elevation as their neighbors, and the values range smoothly into one another, forming a continuous surface (or continuous field). Therefore, they are </a:t>
            </a:r>
            <a:r>
              <a:rPr lang="en-US" dirty="0" sz="1800">
                <a:latin typeface="Calibri"/>
                <a:ea typeface="Calibri"/>
                <a:cs typeface="Calibri"/>
                <a:highlight>
                  <a:srgbClr val="FFFF00"/>
                </a:highlight>
              </a:rPr>
              <a:t xml:space="preserve">commonly called continuous rasters.</a:t>
            </a:r>
            <a:r>
              <a:rPr lang="en-US" dirty="0" sz="1800">
                <a:latin typeface="Calibri"/>
                <a:ea typeface="Calibri"/>
                <a:cs typeface="Calibri"/>
              </a:rPr>
              <a:t xml:space="preserve"> Precipitation, population density, temperature, and cloud cover are other examples of variables that can be measured over space and stored in raster format as continuous data.</a:t>
            </a:r>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43  /  51</a:t>
            </a:r>
          </a:p>
        </p:txBody>
      </p:sp>
    </p:spTree>
    <p:extLst>
      <p:ext uri="{BB962C8B-B14F-4D97-AF65-F5344CB8AC3E}">
        <p14:creationId xmlns:p14="http://schemas.microsoft.com/office/powerpoint/2010/main" val="39784044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5E426-7A02-23F4-2947-A345187DEB42}"/>
              </a:ext>
            </a:extLst>
          </p:cNvPr>
          <p:cNvSpPr>
            <a:spLocks noGrp="1"/>
          </p:cNvSpPr>
          <p:nvPr>
            <p:ph type="title"/>
          </p:nvPr>
        </p:nvSpPr>
        <p:spPr/>
        <p:txBody>
          <a:bodyPr/>
          <a:lstStyle/>
          <a:p>
            <a:r>
              <a:rPr lang="en-US" dirty="0" sz="3200" b="1">
                <a:latin typeface="Calibri"/>
                <a:ea typeface="Calibri"/>
                <a:cs typeface="Calibri"/>
              </a:rPr>
              <a:t>Different Raster Analysis</a:t>
            </a:r>
          </a:p>
        </p:txBody>
      </p:sp>
      <p:sp>
        <p:nvSpPr>
          <p:cNvPr id="3" name="Content Placeholder 2">
            <a:extLst>
              <a:ext uri="{FF2B5EF4-FFF2-40B4-BE49-F238E27FC236}">
                <a16:creationId xmlns:a16="http://schemas.microsoft.com/office/drawing/2014/main" id="{419052AE-A027-5B19-1FC5-B6DBF5C2A330}"/>
              </a:ext>
            </a:extLst>
          </p:cNvPr>
          <p:cNvSpPr>
            <a:spLocks noGrp="1"/>
          </p:cNvSpPr>
          <p:nvPr>
            <p:ph idx="1"/>
          </p:nvPr>
        </p:nvSpPr>
        <p:spPr/>
        <p:txBody>
          <a:bodyPr>
            <a:normAutofit fontScale="92500" lnSpcReduction="20000"/>
          </a:bodyPr>
          <a:lstStyle/>
          <a:p>
            <a:pPr marL="0" indent="0">
              <a:buNone/>
            </a:pPr>
            <a:r>
              <a:rPr lang="en-US" dirty="0" sz="1800">
                <a:latin typeface="Calibri"/>
                <a:ea typeface="Calibri"/>
                <a:cs typeface="Calibri"/>
              </a:rPr>
              <a:t xml:space="preserve">Raster analysis means creating a new grid </a:t>
            </a:r>
            <a:r>
              <a:rPr lang="en-US" dirty="0" sz="1800">
                <a:latin typeface="Calibri"/>
                <a:ea typeface="Calibri"/>
                <a:cs typeface="Calibri"/>
                <a:highlight>
                  <a:srgbClr val="FFFF00"/>
                </a:highlight>
              </a:rPr>
              <a:t xml:space="preserve">from one or more rasters by applying</a:t>
            </a:r>
            <a:r>
              <a:rPr lang="en-US" dirty="0" sz="1800">
                <a:latin typeface="Calibri"/>
                <a:ea typeface="Calibri"/>
                <a:cs typeface="Calibri"/>
              </a:rPr>
              <a:t xml:space="preserve"> a rule to each cell. Below are some types of common raster analysis </a:t>
            </a:r>
            <a:r>
              <a:rPr lang="en-US" dirty="0" sz="1800">
                <a:latin typeface="Calibri"/>
                <a:ea typeface="Calibri"/>
                <a:cs typeface="Calibri"/>
                <a:highlight>
                  <a:srgbClr val="FFFF00"/>
                </a:highlight>
              </a:rPr>
              <a:t xml:space="preserve">in ArcGIS Pro:</a:t>
            </a:r>
          </a:p>
          <a:p>
            <a:r>
              <a:rPr lang="en-US" b="1" dirty="0" sz="1800">
                <a:latin typeface="Calibri"/>
                <a:ea typeface="Calibri"/>
                <a:cs typeface="Calibri"/>
              </a:rPr>
              <a:t xml:space="preserve">Reclassify: Reassigns cell values into new categories (e.g. elevation → </a:t>
            </a:r>
            <a:r>
              <a:rPr lang="en-US" b="1" dirty="0" sz="1800">
                <a:latin typeface="Calibri"/>
                <a:ea typeface="Calibri"/>
                <a:cs typeface="Calibri"/>
                <a:highlight>
                  <a:srgbClr val="FFFF00"/>
                </a:highlight>
              </a:rPr>
              <a:t xml:space="preserve">low/medium/high)</a:t>
            </a:r>
          </a:p>
          <a:p>
            <a:r>
              <a:rPr lang="en-US" b="1" dirty="0" sz="1800">
                <a:latin typeface="Calibri"/>
                <a:ea typeface="Calibri"/>
                <a:cs typeface="Calibri"/>
              </a:rPr>
              <a:t>Zonal Operations: </a:t>
            </a:r>
            <a:r>
              <a:rPr lang="en-US" dirty="0" sz="1800">
                <a:latin typeface="Calibri"/>
                <a:ea typeface="Calibri"/>
                <a:cs typeface="Calibri"/>
              </a:rPr>
              <a:t>Summarize raster values within defined zones (often using a separate zone raster or polygon).</a:t>
            </a:r>
          </a:p>
          <a:p>
            <a:r>
              <a:rPr lang="en-US" b="1" dirty="0" sz="1800">
                <a:latin typeface="Calibri"/>
                <a:ea typeface="Calibri"/>
                <a:cs typeface="Calibri"/>
              </a:rPr>
              <a:t>Euclidean Distance: </a:t>
            </a:r>
            <a:r>
              <a:rPr lang="en-US" dirty="0" sz="1800">
                <a:latin typeface="Calibri"/>
                <a:ea typeface="Calibri"/>
                <a:cs typeface="Calibri"/>
              </a:rPr>
              <a:t>Straight-line distance from each cell to the nearest source feature</a:t>
            </a:r>
          </a:p>
          <a:p>
            <a:r>
              <a:rPr lang="en-US" b="1" dirty="0" sz="1800">
                <a:latin typeface="Calibri"/>
                <a:ea typeface="Calibri"/>
                <a:cs typeface="Calibri"/>
              </a:rPr>
              <a:t>Raster Calculator / Map Algebra: </a:t>
            </a:r>
            <a:r>
              <a:rPr lang="en-US" dirty="0" sz="1800">
                <a:latin typeface="Calibri"/>
                <a:ea typeface="Calibri"/>
                <a:cs typeface="Calibri"/>
              </a:rPr>
              <a:t>Apply math expressions directly to raster values (e.g. NDVI = (NIR - Red) / (NIR + Red)).</a:t>
            </a:r>
          </a:p>
          <a:p>
            <a:r>
              <a:rPr lang="en-US" b="1" dirty="0" sz="1800">
                <a:latin typeface="Calibri"/>
                <a:ea typeface="Calibri"/>
                <a:cs typeface="Calibri"/>
              </a:rPr>
              <a:t>Viewshed: </a:t>
            </a:r>
            <a:r>
              <a:rPr lang="en-US" dirty="0" sz="1800">
                <a:latin typeface="Calibri"/>
                <a:ea typeface="Calibri"/>
                <a:cs typeface="Calibri"/>
              </a:rPr>
              <a:t>Determines what's visible from a given observation point</a:t>
            </a:r>
          </a:p>
          <a:p>
            <a:endParaRPr lang="en-US" dirty="0"/>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44  /  51</a:t>
            </a:r>
          </a:p>
        </p:txBody>
      </p:sp>
    </p:spTree>
    <p:extLst>
      <p:ext uri="{BB962C8B-B14F-4D97-AF65-F5344CB8AC3E}">
        <p14:creationId xmlns:p14="http://schemas.microsoft.com/office/powerpoint/2010/main" val="12977324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5B7AA-851C-5FDE-D20A-E5EB3B211FC2}"/>
              </a:ext>
            </a:extLst>
          </p:cNvPr>
          <p:cNvSpPr>
            <a:spLocks noGrp="1"/>
          </p:cNvSpPr>
          <p:nvPr>
            <p:ph type="title"/>
          </p:nvPr>
        </p:nvSpPr>
        <p:spPr/>
        <p:txBody>
          <a:bodyPr/>
          <a:lstStyle/>
          <a:p>
            <a:r>
              <a:rPr lang="en-US" dirty="0" sz="3200" b="1">
                <a:latin typeface="Calibri"/>
                <a:ea typeface="Calibri"/>
                <a:cs typeface="Calibri"/>
                <a:highlight>
                  <a:srgbClr val="FFFF00"/>
                </a:highlight>
              </a:rPr>
              <a:t xml:space="preserve">What Is Weighted Overlay?</a:t>
            </a:r>
          </a:p>
        </p:txBody>
      </p:sp>
      <p:sp>
        <p:nvSpPr>
          <p:cNvPr id="3" name="Content Placeholder 2">
            <a:extLst>
              <a:ext uri="{FF2B5EF4-FFF2-40B4-BE49-F238E27FC236}">
                <a16:creationId xmlns:a16="http://schemas.microsoft.com/office/drawing/2014/main" id="{D1332137-805C-B46A-28BB-56A7954BC6EC}"/>
              </a:ext>
            </a:extLst>
          </p:cNvPr>
          <p:cNvSpPr>
            <a:spLocks noGrp="1"/>
          </p:cNvSpPr>
          <p:nvPr>
            <p:ph idx="1"/>
          </p:nvPr>
        </p:nvSpPr>
        <p:spPr>
          <a:xfrm>
            <a:off x="370114" y="1825625"/>
            <a:ext cx="4620986" cy="4351338"/>
          </a:xfrm>
        </p:spPr>
        <p:txBody>
          <a:bodyPr>
            <a:normAutofit fontScale="85000" lnSpcReduction="20000"/>
          </a:bodyPr>
          <a:lstStyle/>
          <a:p>
            <a:pPr marL="0" indent="0">
              <a:buNone/>
            </a:pPr>
            <a:r>
              <a:rPr lang="en-US" dirty="0" sz="1800">
                <a:latin typeface="Calibri"/>
                <a:ea typeface="Calibri"/>
                <a:cs typeface="Calibri"/>
              </a:rPr>
              <a:t>Weighted Overlay is a raster analysis method that combines several layers into one suitability map, by:</a:t>
            </a:r>
          </a:p>
          <a:p>
            <a:r>
              <a:rPr lang="en-US" dirty="0" sz="1800">
                <a:latin typeface="Calibri"/>
                <a:ea typeface="Calibri"/>
                <a:cs typeface="Calibri"/>
              </a:rPr>
              <a:t>Putting every layer on the same score scale (for example 1 = good, 5 = bad)</a:t>
            </a:r>
          </a:p>
          <a:p>
            <a:r>
              <a:rPr lang="en-US" dirty="0" sz="1800">
                <a:latin typeface="Calibri"/>
                <a:ea typeface="Calibri"/>
                <a:cs typeface="Calibri"/>
              </a:rPr>
              <a:t>Giving each layer an importance weight (percent)</a:t>
            </a:r>
          </a:p>
          <a:p>
            <a:r>
              <a:rPr lang="en-US" dirty="0" sz="1800">
                <a:latin typeface="Calibri"/>
                <a:ea typeface="Calibri"/>
                <a:cs typeface="Calibri"/>
              </a:rPr>
              <a:t>Adding them together</a:t>
            </a:r>
          </a:p>
          <a:p>
            <a:r>
              <a:rPr lang="en-US" dirty="0" sz="1800">
                <a:latin typeface="Calibri"/>
                <a:ea typeface="Calibri"/>
                <a:cs typeface="Calibri"/>
              </a:rPr>
              <a:t>The result is one raster: where is the best place (or corridor) according to your rules.</a:t>
            </a:r>
          </a:p>
        </p:txBody>
      </p:sp>
      <p:pic>
        <p:nvPicPr>
          <p:cNvPr id="5" name="Picture 4">
            <a:extLst>
              <a:ext uri="{FF2B5EF4-FFF2-40B4-BE49-F238E27FC236}">
                <a16:creationId xmlns:a16="http://schemas.microsoft.com/office/drawing/2014/main" id="{D65F29DB-EB49-6158-AAE0-0075A3A2C659}"/>
              </a:ext>
            </a:extLst>
          </p:cNvPr>
          <p:cNvPicPr>
            <a:picLocks noChangeAspect="1"/>
          </p:cNvPicPr>
          <p:nvPr/>
        </p:nvPicPr>
        <p:blipFill>
          <a:blip r:embed="rId2"/>
          <a:stretch>
            <a:fillRect/>
          </a:stretch>
        </p:blipFill>
        <p:spPr>
          <a:xfrm>
            <a:off x="4991100" y="1531031"/>
            <a:ext cx="6700157" cy="4466771"/>
          </a:xfrm>
          <a:prstGeom prst="rect">
            <a:avLst/>
          </a:prstGeom>
        </p:spPr>
      </p:pic>
      <p:sp>
        <p:nvSpPr>
          <p:cNvPr id="6" name="TextBox 5"/>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45  /  51</a:t>
            </a:r>
          </a:p>
        </p:txBody>
      </p:sp>
    </p:spTree>
    <p:extLst>
      <p:ext uri="{BB962C8B-B14F-4D97-AF65-F5344CB8AC3E}">
        <p14:creationId xmlns:p14="http://schemas.microsoft.com/office/powerpoint/2010/main" val="11373682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06F0-2601-83EE-402C-21799420E09C}"/>
              </a:ext>
            </a:extLst>
          </p:cNvPr>
          <p:cNvSpPr>
            <a:spLocks noGrp="1"/>
          </p:cNvSpPr>
          <p:nvPr>
            <p:ph type="title"/>
          </p:nvPr>
        </p:nvSpPr>
        <p:spPr/>
        <p:txBody>
          <a:bodyPr/>
          <a:lstStyle/>
          <a:p>
            <a:r>
              <a:rPr lang="en-US" dirty="0" sz="3200" b="1">
                <a:latin typeface="Calibri"/>
                <a:ea typeface="Calibri"/>
                <a:cs typeface="Calibri"/>
              </a:rPr>
              <a:t>Raster Resolution</a:t>
            </a:r>
          </a:p>
        </p:txBody>
      </p:sp>
      <p:sp>
        <p:nvSpPr>
          <p:cNvPr id="3" name="Content Placeholder 2">
            <a:extLst>
              <a:ext uri="{FF2B5EF4-FFF2-40B4-BE49-F238E27FC236}">
                <a16:creationId xmlns:a16="http://schemas.microsoft.com/office/drawing/2014/main" id="{6CAAE5DA-38B4-2459-401F-ABA2CDA1729A}"/>
              </a:ext>
            </a:extLst>
          </p:cNvPr>
          <p:cNvSpPr>
            <a:spLocks noGrp="1"/>
          </p:cNvSpPr>
          <p:nvPr>
            <p:ph idx="1"/>
          </p:nvPr>
        </p:nvSpPr>
        <p:spPr/>
        <p:txBody>
          <a:bodyPr/>
          <a:lstStyle/>
          <a:p>
            <a:r>
              <a:rPr lang="en-US" sz="1800">
                <a:latin typeface="Calibri"/>
                <a:ea typeface="Calibri"/>
                <a:cs typeface="Calibri"/>
              </a:rPr>
              <a:t>The x and y dimensions of each pixel define the resolution of the raster data. The higher the resolution, the more precisely the data can be represented.</a:t>
            </a:r>
            <a:endParaRPr lang="en-US" dirty="0"/>
          </a:p>
        </p:txBody>
      </p:sp>
      <p:pic>
        <p:nvPicPr>
          <p:cNvPr id="4" name="Picture 3" descr="Comparação entre modelos SRTM 90m, SRTM 30m e TanDEM-X 12m. Fonte: DLR ...">
            <a:extLst>
              <a:ext uri="{FF2B5EF4-FFF2-40B4-BE49-F238E27FC236}">
                <a16:creationId xmlns:a16="http://schemas.microsoft.com/office/drawing/2014/main" id="{89A36C00-E87F-BF9F-CF7A-5A2C4F01DBA9}"/>
              </a:ext>
            </a:extLst>
          </p:cNvPr>
          <p:cNvPicPr>
            <a:picLocks noChangeAspect="1"/>
          </p:cNvPicPr>
          <p:nvPr/>
        </p:nvPicPr>
        <p:blipFill>
          <a:blip r:embed="rId2"/>
          <a:stretch>
            <a:fillRect/>
          </a:stretch>
        </p:blipFill>
        <p:spPr>
          <a:xfrm>
            <a:off x="5967656" y="2723583"/>
            <a:ext cx="5921875" cy="2926103"/>
          </a:xfrm>
          <a:prstGeom prst="rect">
            <a:avLst/>
          </a:prstGeom>
        </p:spPr>
      </p:pic>
      <p:pic>
        <p:nvPicPr>
          <p:cNvPr id="6" name="Picture 5">
            <a:extLst>
              <a:ext uri="{FF2B5EF4-FFF2-40B4-BE49-F238E27FC236}">
                <a16:creationId xmlns:a16="http://schemas.microsoft.com/office/drawing/2014/main" id="{03C15DBB-B2E7-7613-2F5B-23330D219D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199" y="3429000"/>
            <a:ext cx="5290457" cy="2645229"/>
          </a:xfrm>
          <a:prstGeom prst="rect">
            <a:avLst/>
          </a:prstGeom>
        </p:spPr>
      </p:pic>
      <p:sp>
        <p:nvSpPr>
          <p:cNvPr id="7" name="TextBox 6"/>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46  /  51</a:t>
            </a:r>
          </a:p>
        </p:txBody>
      </p:sp>
    </p:spTree>
    <p:extLst>
      <p:ext uri="{BB962C8B-B14F-4D97-AF65-F5344CB8AC3E}">
        <p14:creationId xmlns:p14="http://schemas.microsoft.com/office/powerpoint/2010/main" val="14405827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82622-B3F1-DB59-E477-34E4B80EF16E}"/>
              </a:ext>
            </a:extLst>
          </p:cNvPr>
          <p:cNvSpPr>
            <a:spLocks noGrp="1"/>
          </p:cNvSpPr>
          <p:nvPr>
            <p:ph type="title"/>
          </p:nvPr>
        </p:nvSpPr>
        <p:spPr/>
        <p:txBody>
          <a:bodyPr/>
          <a:lstStyle/>
          <a:p>
            <a:r>
              <a:rPr lang="en-US" dirty="0" sz="3200" b="1">
                <a:latin typeface="Calibri"/>
                <a:ea typeface="Calibri"/>
                <a:cs typeface="Calibri"/>
              </a:rPr>
              <a:t>What is a Digital Elevation Model (DEM)?</a:t>
            </a:r>
          </a:p>
        </p:txBody>
      </p:sp>
      <p:sp>
        <p:nvSpPr>
          <p:cNvPr id="3" name="Content Placeholder 2">
            <a:extLst>
              <a:ext uri="{FF2B5EF4-FFF2-40B4-BE49-F238E27FC236}">
                <a16:creationId xmlns:a16="http://schemas.microsoft.com/office/drawing/2014/main" id="{1A8147CA-768D-38A0-46B7-E677182FB6E7}"/>
              </a:ext>
            </a:extLst>
          </p:cNvPr>
          <p:cNvSpPr>
            <a:spLocks noGrp="1"/>
          </p:cNvSpPr>
          <p:nvPr>
            <p:ph idx="1"/>
          </p:nvPr>
        </p:nvSpPr>
        <p:spPr>
          <a:xfrm>
            <a:off x="70757" y="1690688"/>
            <a:ext cx="4746171" cy="4351338"/>
          </a:xfrm>
        </p:spPr>
        <p:txBody>
          <a:bodyPr>
            <a:normAutofit/>
          </a:bodyPr>
          <a:lstStyle/>
          <a:p>
            <a:pPr marL="0" indent="0">
              <a:buNone/>
            </a:pPr>
            <a:r>
              <a:rPr lang="en-US" sz="1800" dirty="0">
                <a:latin typeface="Calibri"/>
                <a:ea typeface="Calibri"/>
                <a:cs typeface="Calibri"/>
              </a:rPr>
              <a:t xml:space="preserve">A Digital Elevation Model (DEM) is a digital map of the height of the ground. The land is stored as a raster (a grid of squares). Each pixel has one number: </a:t>
            </a:r>
            <a:r>
              <a:rPr lang="en-US" sz="1800" dirty="0">
                <a:latin typeface="Calibri"/>
                <a:ea typeface="Calibri"/>
                <a:cs typeface="Calibri"/>
                <a:highlight>
                  <a:srgbClr val="FFFF00"/>
                </a:highlight>
              </a:rPr>
              <a:t xml:space="preserve">elevation above mean sea level.</a:t>
            </a:r>
          </a:p>
          <a:p>
            <a:pPr marL="0" indent="0">
              <a:buNone/>
            </a:pPr>
            <a:r>
              <a:rPr lang="en-US" sz="1800" dirty="0">
                <a:latin typeface="Calibri"/>
                <a:ea typeface="Calibri"/>
                <a:cs typeface="Calibri"/>
              </a:rPr>
              <a:t xml:space="preserve">If the DEM is 30 m resolution, one elevation number represents all the ground in that 30 × 30 m square. </a:t>
            </a:r>
            <a:r>
              <a:rPr lang="en-US" sz="1800" dirty="0">
                <a:latin typeface="Calibri"/>
                <a:ea typeface="Calibri"/>
                <a:cs typeface="Calibri"/>
                <a:highlight>
                  <a:srgbClr val="FFFF00"/>
                </a:highlight>
              </a:rPr>
              <a:t xml:space="preserve">Hills smaller than a pixel are averaged or missed.</a:t>
            </a:r>
          </a:p>
        </p:txBody>
      </p:sp>
      <p:pic>
        <p:nvPicPr>
          <p:cNvPr id="5" name="Picture 4">
            <a:extLst>
              <a:ext uri="{FF2B5EF4-FFF2-40B4-BE49-F238E27FC236}">
                <a16:creationId xmlns:a16="http://schemas.microsoft.com/office/drawing/2014/main" id="{72AAE402-1CB8-7BB8-B84A-3C8FB38BCE18}"/>
              </a:ext>
            </a:extLst>
          </p:cNvPr>
          <p:cNvPicPr>
            <a:picLocks noChangeAspect="1"/>
          </p:cNvPicPr>
          <p:nvPr/>
        </p:nvPicPr>
        <p:blipFill>
          <a:blip r:embed="rId2"/>
          <a:stretch>
            <a:fillRect/>
          </a:stretch>
        </p:blipFill>
        <p:spPr>
          <a:xfrm>
            <a:off x="4740729" y="1322161"/>
            <a:ext cx="7079798" cy="4719865"/>
          </a:xfrm>
          <a:prstGeom prst="rect">
            <a:avLst/>
          </a:prstGeom>
        </p:spPr>
      </p:pic>
      <p:sp>
        <p:nvSpPr>
          <p:cNvPr id="6" name="TextBox 5"/>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47  /  51</a:t>
            </a:r>
          </a:p>
        </p:txBody>
      </p:sp>
    </p:spTree>
    <p:extLst>
      <p:ext uri="{BB962C8B-B14F-4D97-AF65-F5344CB8AC3E}">
        <p14:creationId xmlns:p14="http://schemas.microsoft.com/office/powerpoint/2010/main" val="9958876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26C5A-9CF2-B1AB-6706-3389C973622C}"/>
              </a:ext>
            </a:extLst>
          </p:cNvPr>
          <p:cNvSpPr>
            <a:spLocks noGrp="1"/>
          </p:cNvSpPr>
          <p:nvPr>
            <p:ph type="title"/>
          </p:nvPr>
        </p:nvSpPr>
        <p:spPr/>
        <p:txBody>
          <a:bodyPr/>
          <a:lstStyle/>
          <a:p>
            <a:r>
              <a:rPr lang="en-US" dirty="0" sz="3200" b="1">
                <a:latin typeface="Calibri"/>
                <a:ea typeface="Calibri"/>
                <a:cs typeface="Calibri"/>
                <a:highlight>
                  <a:srgbClr val="FFFF00"/>
                </a:highlight>
              </a:rPr>
              <a:t xml:space="preserve">DEM Sources</a:t>
            </a:r>
          </a:p>
        </p:txBody>
      </p:sp>
      <p:sp>
        <p:nvSpPr>
          <p:cNvPr id="3" name="Content Placeholder 2">
            <a:extLst>
              <a:ext uri="{FF2B5EF4-FFF2-40B4-BE49-F238E27FC236}">
                <a16:creationId xmlns:a16="http://schemas.microsoft.com/office/drawing/2014/main" id="{1AB862E7-DF47-DE6D-D401-53F687ABFA64}"/>
              </a:ext>
            </a:extLst>
          </p:cNvPr>
          <p:cNvSpPr>
            <a:spLocks noGrp="1"/>
          </p:cNvSpPr>
          <p:nvPr>
            <p:ph idx="1"/>
          </p:nvPr>
        </p:nvSpPr>
        <p:spPr/>
        <p:txBody>
          <a:bodyPr/>
          <a:lstStyle/>
          <a:p>
            <a:r>
              <a:rPr lang="en-US" dirty="0" sz="1800">
                <a:latin typeface="Calibri"/>
                <a:ea typeface="Calibri"/>
                <a:cs typeface="Calibri"/>
                <a:highlight>
                  <a:srgbClr val="FFFF00"/>
                </a:highlight>
              </a:rPr>
              <a:t xml:space="preserve">Below are some sources of DEM:</a:t>
            </a:r>
          </a:p>
        </p:txBody>
      </p:sp>
      <p:pic>
        <p:nvPicPr>
          <p:cNvPr id="5" name="Picture 4">
            <a:extLst>
              <a:ext uri="{FF2B5EF4-FFF2-40B4-BE49-F238E27FC236}">
                <a16:creationId xmlns:a16="http://schemas.microsoft.com/office/drawing/2014/main" id="{C4A0DF57-7483-9BA4-1B06-DAB36E51F074}"/>
              </a:ext>
            </a:extLst>
          </p:cNvPr>
          <p:cNvPicPr>
            <a:picLocks noChangeAspect="1"/>
          </p:cNvPicPr>
          <p:nvPr/>
        </p:nvPicPr>
        <p:blipFill>
          <a:blip r:embed="rId2"/>
          <a:stretch>
            <a:fillRect/>
          </a:stretch>
        </p:blipFill>
        <p:spPr>
          <a:xfrm>
            <a:off x="1001811" y="2614702"/>
            <a:ext cx="9932527" cy="2773184"/>
          </a:xfrm>
          <a:prstGeom prst="rect">
            <a:avLst/>
          </a:prstGeom>
        </p:spPr>
      </p:pic>
      <p:sp>
        <p:nvSpPr>
          <p:cNvPr id="6" name="TextBox 5"/>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48  /  51</a:t>
            </a:r>
          </a:p>
        </p:txBody>
      </p:sp>
    </p:spTree>
    <p:extLst>
      <p:ext uri="{BB962C8B-B14F-4D97-AF65-F5344CB8AC3E}">
        <p14:creationId xmlns:p14="http://schemas.microsoft.com/office/powerpoint/2010/main" val="321153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3E0FC-9CA0-37B6-960B-8846C25B6D1E}"/>
              </a:ext>
            </a:extLst>
          </p:cNvPr>
          <p:cNvSpPr>
            <a:spLocks noGrp="1"/>
          </p:cNvSpPr>
          <p:nvPr>
            <p:ph type="title"/>
          </p:nvPr>
        </p:nvSpPr>
        <p:spPr>
          <a:xfrm>
            <a:off x="838200" y="288925"/>
            <a:ext cx="10515600" cy="1325563"/>
          </a:xfrm>
        </p:spPr>
        <p:txBody>
          <a:bodyPr/>
          <a:lstStyle/>
          <a:p>
            <a:r>
              <a:rPr lang="en-US" dirty="0" sz="3200" b="1">
                <a:latin typeface="Calibri"/>
                <a:ea typeface="Calibri"/>
                <a:cs typeface="Calibri"/>
                <a:highlight>
                  <a:srgbClr val="FFFF00"/>
                </a:highlight>
              </a:rPr>
              <a:t xml:space="preserve">What Can Be Extracted from a DEM</a:t>
            </a:r>
          </a:p>
        </p:txBody>
      </p:sp>
      <p:pic>
        <p:nvPicPr>
          <p:cNvPr id="5" name="Content Placeholder 4">
            <a:extLst>
              <a:ext uri="{FF2B5EF4-FFF2-40B4-BE49-F238E27FC236}">
                <a16:creationId xmlns:a16="http://schemas.microsoft.com/office/drawing/2014/main" id="{31DE02D5-EE53-680F-8BE4-FE1102E9F2E5}"/>
              </a:ext>
            </a:extLst>
          </p:cNvPr>
          <p:cNvPicPr>
            <a:picLocks noGrp="1" noChangeAspect="1"/>
          </p:cNvPicPr>
          <p:nvPr>
            <p:ph idx="1"/>
          </p:nvPr>
        </p:nvPicPr>
        <p:blipFill>
          <a:blip r:embed="rId2"/>
          <a:stretch>
            <a:fillRect/>
          </a:stretch>
        </p:blipFill>
        <p:spPr>
          <a:xfrm>
            <a:off x="1170945" y="1436914"/>
            <a:ext cx="9239185" cy="4782435"/>
          </a:xfrm>
          <a:prstGeom prst="rect">
            <a:avLst/>
          </a:prstGeom>
        </p:spPr>
      </p:pic>
      <p:sp>
        <p:nvSpPr>
          <p:cNvPr id="6" name="TextBox 5"/>
          <p:cNvSpPr txBox="1"/>
          <p:nvPr/>
        </p:nvSpPr>
        <p:spPr>
          <a:xfrm>
            <a:off x="640080" y="1417320"/>
            <a:ext cx="10972800" cy="4754880"/>
          </a:xfrm>
          <a:prstGeom prst="rect">
            <a:avLst/>
          </a:prstGeom>
          <a:noFill/>
        </p:spPr>
        <p:txBody>
          <a:bodyPr wrap="square">
            <a:spAutoFit/>
          </a:bodyPr>
          <a:lstStyle/>
          <a:p>
            <a:pPr>
              <a:spcAft>
                <a:spcPts val="800"/>
              </a:spcAft>
            </a:pPr>
            <a:r>
              <a:rPr sz="1800">
                <a:latin typeface="Calibri"/>
                <a:ea typeface="Calibri"/>
                <a:cs typeface="Calibri"/>
              </a:rPr>
              <a:t>From a DEM you can derive:</a:t>
            </a:r>
          </a:p>
          <a:p>
            <a:pPr>
              <a:spcAft>
                <a:spcPts val="800"/>
              </a:spcAft>
            </a:pPr>
            <a:r>
              <a:rPr sz="1800">
                <a:latin typeface="Calibri"/>
                <a:ea typeface="Calibri"/>
                <a:cs typeface="Calibri"/>
              </a:rPr>
              <a:t>• Slope — steepness; used for access, erosion, and tower/fiber routing</a:t>
            </a:r>
          </a:p>
          <a:p>
            <a:pPr>
              <a:spcAft>
                <a:spcPts val="800"/>
              </a:spcAft>
            </a:pPr>
            <a:r>
              <a:rPr sz="1800">
                <a:latin typeface="Calibri"/>
                <a:ea typeface="Calibri"/>
                <a:cs typeface="Calibri"/>
              </a:rPr>
              <a:t>• Aspect — direction the slope faces; used with RF / solar / ice load</a:t>
            </a:r>
          </a:p>
          <a:p>
            <a:pPr>
              <a:spcAft>
                <a:spcPts val="800"/>
              </a:spcAft>
            </a:pPr>
            <a:r>
              <a:rPr sz="1800">
                <a:latin typeface="Calibri"/>
                <a:ea typeface="Calibri"/>
                <a:cs typeface="Calibri"/>
              </a:rPr>
              <a:t>• Hillshade — shaded relief for map reading</a:t>
            </a:r>
          </a:p>
          <a:p>
            <a:pPr>
              <a:spcAft>
                <a:spcPts val="800"/>
              </a:spcAft>
            </a:pPr>
            <a:r>
              <a:rPr sz="1800">
                <a:latin typeface="Calibri"/>
                <a:ea typeface="Calibri"/>
                <a:cs typeface="Calibri"/>
              </a:rPr>
              <a:t>• Contours — lines of equal elevation</a:t>
            </a:r>
          </a:p>
          <a:p>
            <a:pPr>
              <a:spcAft>
                <a:spcPts val="800"/>
              </a:spcAft>
            </a:pPr>
            <a:r>
              <a:rPr sz="1800">
                <a:latin typeface="Calibri"/>
                <a:ea typeface="Calibri"/>
                <a:cs typeface="Calibri"/>
              </a:rPr>
              <a:t>• Viewshed — what is visible from a tower or candidate site</a:t>
            </a:r>
          </a:p>
          <a:p>
            <a:pPr>
              <a:spcAft>
                <a:spcPts val="800"/>
              </a:spcAft>
            </a:pPr>
            <a:r>
              <a:rPr sz="1800">
                <a:latin typeface="Calibri"/>
                <a:ea typeface="Calibri"/>
                <a:cs typeface="Calibri"/>
              </a:rPr>
              <a:t>• Watershed / flow — drainage, flood, and crossing risk</a:t>
            </a:r>
          </a:p>
          <a:p>
            <a:pPr>
              <a:spcAft>
                <a:spcPts val="800"/>
              </a:spcAft>
            </a:pPr>
            <a:r>
              <a:rPr sz="1800">
                <a:latin typeface="Calibri"/>
                <a:ea typeface="Calibri"/>
                <a:cs typeface="Calibri"/>
              </a:rPr>
              <a:t>• Cut-and-fill / elevation profile — along a proposed fiber or microwave path</a:t>
            </a:r>
          </a:p>
        </p:txBody>
      </p:sp>
      <p:sp>
        <p:nvSpPr>
          <p:cNvPr id="7" name="TextBox 6"/>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49  /  51</a:t>
            </a:r>
          </a:p>
        </p:txBody>
      </p:sp>
    </p:spTree>
    <p:extLst>
      <p:ext uri="{BB962C8B-B14F-4D97-AF65-F5344CB8AC3E}">
        <p14:creationId xmlns:p14="http://schemas.microsoft.com/office/powerpoint/2010/main" val="3182784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EBE717-F1DB-FF05-4B46-6FC920D5B90C}"/>
              </a:ext>
            </a:extLst>
          </p:cNvPr>
          <p:cNvSpPr>
            <a:spLocks noGrp="1"/>
          </p:cNvSpPr>
          <p:nvPr>
            <p:ph idx="1"/>
          </p:nvPr>
        </p:nvSpPr>
        <p:spPr>
          <a:xfrm>
            <a:off x="838200" y="3338741"/>
            <a:ext cx="10515600" cy="1059089"/>
          </a:xfrm>
        </p:spPr>
        <p:txBody>
          <a:bodyPr>
            <a:normAutofit/>
          </a:bodyPr>
          <a:lstStyle/>
          <a:p>
            <a:pPr marL="0" indent="0" algn="ctr">
              <a:buNone/>
            </a:pPr>
            <a:r>
              <a:rPr lang="en-US" sz="1800" dirty="0">
                <a:latin typeface="Calibri"/>
                <a:ea typeface="Calibri"/>
                <a:cs typeface="Calibri"/>
                <a:highlight>
                  <a:srgbClr val="FFFF00"/>
                </a:highlight>
              </a:rPr>
              <a:t xml:space="preserve">Let’s Explore It in ArcGIS Pro</a:t>
            </a:r>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50  /  51</a:t>
            </a:r>
          </a:p>
        </p:txBody>
      </p:sp>
    </p:spTree>
    <p:extLst>
      <p:ext uri="{BB962C8B-B14F-4D97-AF65-F5344CB8AC3E}">
        <p14:creationId xmlns:p14="http://schemas.microsoft.com/office/powerpoint/2010/main" val="2006110285"/>
      </p:ext>
    </p:extLst>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latin typeface="Calibri"/>
                <a:ea typeface="Calibri"/>
                <a:cs typeface="Calibri"/>
              </a:rPr>
              <a:t>Part 4  ·  Raster Analysis and DEM</a:t>
            </a:r>
          </a:p>
        </p:txBody>
      </p:sp>
      <p:sp>
        <p:nvSpPr>
          <p:cNvPr id="3" name="Text Placeholder 2"/>
          <p:cNvSpPr>
            <a:spLocks noGrp="1"/>
          </p:cNvSpPr>
          <p:nvPr>
            <p:ph type="body" idx="1"/>
          </p:nvPr>
        </p:nvSpPr>
        <p:spPr/>
        <p:txBody>
          <a:bodyPr/>
          <a:lstStyle/>
          <a:p>
            <a:r>
              <a:rPr sz="2000">
                <a:latin typeface="Calibri"/>
                <a:ea typeface="Calibri"/>
                <a:cs typeface="Calibri"/>
              </a:rPr>
              <a:t>Continuous surfaces, overlay, resolution, and elevation</a:t>
            </a:r>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42  /  51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latin typeface="Calibri"/>
                <a:ea typeface="Calibri"/>
                <a:cs typeface="Calibri"/>
              </a:rPr>
              <a:t>Part 3  ·  ArcGIS Pro and the Geodatabase</a:t>
            </a:r>
          </a:p>
        </p:txBody>
      </p:sp>
      <p:sp>
        <p:nvSpPr>
          <p:cNvPr id="3" name="Text Placeholder 2"/>
          <p:cNvSpPr>
            <a:spLocks noGrp="1"/>
          </p:cNvSpPr>
          <p:nvPr>
            <p:ph type="body" idx="1"/>
          </p:nvPr>
        </p:nvSpPr>
        <p:spPr/>
        <p:txBody>
          <a:bodyPr/>
          <a:lstStyle/>
          <a:p>
            <a:r>
              <a:rPr sz="2000">
                <a:latin typeface="Calibri"/>
                <a:ea typeface="Calibri"/>
                <a:cs typeface="Calibri"/>
              </a:rPr>
              <a:t>Projects, feature classes, domains, subtypes, and relationships</a:t>
            </a:r>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25  /  51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latin typeface="Calibri"/>
                <a:ea typeface="Calibri"/>
                <a:cs typeface="Calibri"/>
              </a:rPr>
              <a:t>Part 2  ·  Coordinate Systems</a:t>
            </a:r>
          </a:p>
        </p:txBody>
      </p:sp>
      <p:sp>
        <p:nvSpPr>
          <p:cNvPr id="3" name="Text Placeholder 2"/>
          <p:cNvSpPr>
            <a:spLocks noGrp="1"/>
          </p:cNvSpPr>
          <p:nvPr>
            <p:ph type="body" idx="1"/>
          </p:nvPr>
        </p:nvSpPr>
        <p:spPr/>
        <p:txBody>
          <a:bodyPr/>
          <a:lstStyle/>
          <a:p>
            <a:r>
              <a:rPr sz="2000">
                <a:latin typeface="Calibri"/>
                <a:ea typeface="Calibri"/>
                <a:cs typeface="Calibri"/>
              </a:rPr>
              <a:t>Earth, datum, WGS84, geographic vs projected</a:t>
            </a:r>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17  /  51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latin typeface="Calibri"/>
                <a:ea typeface="Calibri"/>
                <a:cs typeface="Calibri"/>
              </a:rPr>
              <a:t>Day 1 Agenda</a:t>
            </a:r>
          </a:p>
        </p:txBody>
      </p:sp>
      <p:sp>
        <p:nvSpPr>
          <p:cNvPr id="3" name="Content Placeholder 2"/>
          <p:cNvSpPr>
            <a:spLocks noGrp="1"/>
          </p:cNvSpPr>
          <p:nvPr>
            <p:ph idx="1"/>
          </p:nvPr>
        </p:nvSpPr>
        <p:spPr/>
        <p:txBody>
          <a:bodyPr/>
          <a:lstStyle/>
          <a:p>
            <a:pPr>
              <a:spcAft>
                <a:spcPts val="600"/>
              </a:spcAft>
            </a:pPr>
            <a:r>
              <a:rPr sz="1600">
                <a:latin typeface="Calibri"/>
                <a:ea typeface="Calibri"/>
                <a:cs typeface="Calibri"/>
              </a:rPr>
              <a:t>This agenda matches the slides that follow.</a:t>
            </a:r>
          </a:p>
          <a:p>
            <a:pPr>
              <a:spcAft>
                <a:spcPts val="600"/>
              </a:spcAft>
            </a:pPr>
            <a:r>
              <a:rPr sz="1600">
                <a:latin typeface="Calibri"/>
                <a:ea typeface="Calibri"/>
                <a:cs typeface="Calibri"/>
              </a:rPr>
              <a:t>Part 1 — GIS concepts and data types</a:t>
            </a:r>
          </a:p>
          <a:p>
            <a:pPr lvl="1">
              <a:spcAft>
                <a:spcPts val="600"/>
              </a:spcAft>
            </a:pPr>
            <a:r>
              <a:rPr sz="1600">
                <a:latin typeface="Calibri"/>
                <a:ea typeface="Calibri"/>
                <a:cs typeface="Calibri"/>
              </a:rPr>
              <a:t>What GIS is: keywords, functions, and system components</a:t>
            </a:r>
          </a:p>
          <a:p>
            <a:pPr lvl="1">
              <a:spcAft>
                <a:spcPts val="600"/>
              </a:spcAft>
            </a:pPr>
            <a:r>
              <a:rPr sz="1600">
                <a:latin typeface="Calibri"/>
                <a:ea typeface="Calibri"/>
                <a:cs typeface="Calibri"/>
              </a:rPr>
              <a:t>Vector vs raster; attributes, tables, and metadata</a:t>
            </a:r>
          </a:p>
          <a:p>
            <a:pPr lvl="1">
              <a:spcAft>
                <a:spcPts val="600"/>
              </a:spcAft>
            </a:pPr>
            <a:r>
              <a:rPr sz="1600">
                <a:latin typeface="Calibri"/>
                <a:ea typeface="Calibri"/>
                <a:cs typeface="Calibri"/>
              </a:rPr>
              <a:t>Vector and raster formats — advantages and limits</a:t>
            </a:r>
          </a:p>
          <a:p>
            <a:pPr>
              <a:spcAft>
                <a:spcPts val="600"/>
              </a:spcAft>
            </a:pPr>
            <a:r>
              <a:rPr sz="1600">
                <a:latin typeface="Calibri"/>
                <a:ea typeface="Calibri"/>
                <a:cs typeface="Calibri"/>
              </a:rPr>
              <a:t>Part 2 — Coordinate systems</a:t>
            </a:r>
          </a:p>
          <a:p>
            <a:pPr lvl="1">
              <a:spcAft>
                <a:spcPts val="600"/>
              </a:spcAft>
            </a:pPr>
            <a:r>
              <a:rPr sz="1600">
                <a:latin typeface="Calibri"/>
                <a:ea typeface="Calibri"/>
                <a:cs typeface="Calibri"/>
              </a:rPr>
              <a:t>Shape of the Earth, geoid, datum, and WGS84</a:t>
            </a:r>
          </a:p>
          <a:p>
            <a:pPr lvl="1">
              <a:spcAft>
                <a:spcPts val="600"/>
              </a:spcAft>
            </a:pPr>
            <a:r>
              <a:rPr sz="1600">
                <a:latin typeface="Calibri"/>
                <a:ea typeface="Calibri"/>
                <a:cs typeface="Calibri"/>
              </a:rPr>
              <a:t>Geographic vs projected coordinates (GCS / PCS, UTM)</a:t>
            </a:r>
          </a:p>
          <a:p>
            <a:pPr>
              <a:spcAft>
                <a:spcPts val="600"/>
              </a:spcAft>
            </a:pPr>
            <a:r>
              <a:rPr sz="1600">
                <a:latin typeface="Calibri"/>
                <a:ea typeface="Calibri"/>
                <a:cs typeface="Calibri"/>
              </a:rPr>
              <a:t>Part 3 — ArcGIS Pro and the geodatabase</a:t>
            </a:r>
          </a:p>
          <a:p>
            <a:pPr lvl="1">
              <a:spcAft>
                <a:spcPts val="600"/>
              </a:spcAft>
            </a:pPr>
            <a:r>
              <a:rPr sz="1600">
                <a:latin typeface="Calibri"/>
                <a:ea typeface="Calibri"/>
                <a:cs typeface="Calibri"/>
              </a:rPr>
              <a:t>ArcGIS Pro workspace; geodatabase types; shapefile vs feature class; feature dataset</a:t>
            </a:r>
          </a:p>
          <a:p>
            <a:pPr lvl="1">
              <a:spcAft>
                <a:spcPts val="600"/>
              </a:spcAft>
            </a:pPr>
            <a:r>
              <a:rPr sz="1600">
                <a:latin typeface="Calibri"/>
                <a:ea typeface="Calibri"/>
                <a:cs typeface="Calibri"/>
              </a:rPr>
              <a:t>Domains and subtypes; relationship classes, ERD, and cardinality</a:t>
            </a:r>
          </a:p>
          <a:p>
            <a:pPr lvl="1">
              <a:spcAft>
                <a:spcPts val="600"/>
              </a:spcAft>
            </a:pPr>
            <a:r>
              <a:rPr sz="1600">
                <a:latin typeface="Calibri"/>
                <a:ea typeface="Calibri"/>
                <a:cs typeface="Calibri"/>
              </a:rPr>
              <a:t>Worked example: irrigation hierarchy (1:M) and the telecom parallel (OLT → FDH → home)</a:t>
            </a:r>
          </a:p>
          <a:p>
            <a:pPr>
              <a:spcAft>
                <a:spcPts val="600"/>
              </a:spcAft>
            </a:pPr>
            <a:r>
              <a:rPr sz="1600">
                <a:latin typeface="Calibri"/>
                <a:ea typeface="Calibri"/>
                <a:cs typeface="Calibri"/>
              </a:rPr>
              <a:t>Part 4 — Raster analysis and DEM</a:t>
            </a:r>
          </a:p>
          <a:p>
            <a:pPr lvl="1">
              <a:spcAft>
                <a:spcPts val="600"/>
              </a:spcAft>
            </a:pPr>
            <a:r>
              <a:rPr sz="1600">
                <a:latin typeface="Calibri"/>
                <a:ea typeface="Calibri"/>
                <a:cs typeface="Calibri"/>
              </a:rPr>
              <a:t>Raster overlay, weighted overlay, resolution; DEM sources and derivatives</a:t>
            </a:r>
          </a:p>
          <a:p>
            <a:pPr>
              <a:spcAft>
                <a:spcPts val="600"/>
              </a:spcAft>
            </a:pPr>
            <a:r>
              <a:rPr sz="1600">
                <a:latin typeface="Calibri"/>
                <a:ea typeface="Calibri"/>
                <a:cs typeface="Calibri"/>
              </a:rPr>
              <a:t>Hands-on: explore the same ideas in ArcGIS Pro</a:t>
            </a:r>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5  /  51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latin typeface="Calibri"/>
                <a:ea typeface="Calibri"/>
                <a:cs typeface="Calibri"/>
              </a:rPr>
              <a:t>Day 1 Learning Outcomes</a:t>
            </a:r>
          </a:p>
        </p:txBody>
      </p:sp>
      <p:sp>
        <p:nvSpPr>
          <p:cNvPr id="3" name="Content Placeholder 2"/>
          <p:cNvSpPr>
            <a:spLocks noGrp="1"/>
          </p:cNvSpPr>
          <p:nvPr>
            <p:ph idx="1"/>
          </p:nvPr>
        </p:nvSpPr>
        <p:spPr/>
        <p:txBody>
          <a:bodyPr/>
          <a:lstStyle/>
          <a:p>
            <a:pPr>
              <a:spcAft>
                <a:spcPts val="600"/>
              </a:spcAft>
            </a:pPr>
            <a:r>
              <a:rPr sz="1700">
                <a:latin typeface="Calibri"/>
                <a:ea typeface="Calibri"/>
                <a:cs typeface="Calibri"/>
              </a:rPr>
              <a:t>By the end of Day 1 you will be able to:</a:t>
            </a:r>
          </a:p>
          <a:p>
            <a:pPr>
              <a:spcAft>
                <a:spcPts val="600"/>
              </a:spcAft>
            </a:pPr>
            <a:r>
              <a:rPr sz="1700">
                <a:latin typeface="Calibri"/>
                <a:ea typeface="Calibri"/>
                <a:cs typeface="Calibri"/>
              </a:rPr>
              <a:t>Explain GIS as a system (data, software, hardware, people, methods) used for telecom decisions.</a:t>
            </a:r>
          </a:p>
          <a:p>
            <a:pPr>
              <a:spcAft>
                <a:spcPts val="600"/>
              </a:spcAft>
            </a:pPr>
            <a:r>
              <a:rPr sz="1700">
                <a:latin typeface="Calibri"/>
                <a:ea typeface="Calibri"/>
                <a:cs typeface="Calibri"/>
              </a:rPr>
              <a:t>Choose vector or raster for a given question (network assets vs coverage / terrain).</a:t>
            </a:r>
          </a:p>
          <a:p>
            <a:pPr>
              <a:spcAft>
                <a:spcPts val="600"/>
              </a:spcAft>
            </a:pPr>
            <a:r>
              <a:rPr sz="1700">
                <a:latin typeface="Calibri"/>
                <a:ea typeface="Calibri"/>
                <a:cs typeface="Calibri"/>
              </a:rPr>
              <a:t>Distinguish GCS vs projected CRS, and explain datum and WGS84 (why GPS and maps must match).</a:t>
            </a:r>
          </a:p>
          <a:p>
            <a:pPr>
              <a:spcAft>
                <a:spcPts val="600"/>
              </a:spcAft>
            </a:pPr>
            <a:r>
              <a:rPr sz="1700">
                <a:latin typeface="Calibri"/>
                <a:ea typeface="Calibri"/>
                <a:cs typeface="Calibri"/>
              </a:rPr>
              <a:t>Open ArcGIS Pro and recognise a file geodatabase, feature class, and feature dataset.</a:t>
            </a:r>
          </a:p>
          <a:p>
            <a:pPr>
              <a:spcAft>
                <a:spcPts val="600"/>
              </a:spcAft>
            </a:pPr>
            <a:r>
              <a:rPr sz="1700">
                <a:latin typeface="Calibri"/>
                <a:ea typeface="Calibri"/>
                <a:cs typeface="Calibri"/>
              </a:rPr>
              <a:t>Describe domains and subtypes as rules that keep network attributes consistent.</a:t>
            </a:r>
          </a:p>
          <a:p>
            <a:pPr>
              <a:spcAft>
                <a:spcPts val="600"/>
              </a:spcAft>
            </a:pPr>
            <a:r>
              <a:rPr sz="1700">
                <a:latin typeface="Calibri"/>
                <a:ea typeface="Calibri"/>
                <a:cs typeface="Calibri"/>
              </a:rPr>
              <a:t>Read an ERD and cardinality (1:1, 1:M, M:N) and map it to OLT → FDH → splitter → home.</a:t>
            </a:r>
          </a:p>
          <a:p>
            <a:pPr>
              <a:spcAft>
                <a:spcPts val="600"/>
              </a:spcAft>
            </a:pPr>
            <a:r>
              <a:rPr sz="1700">
                <a:latin typeface="Calibri"/>
                <a:ea typeface="Calibri"/>
                <a:cs typeface="Calibri"/>
              </a:rPr>
              <a:t>Describe raster overlay / DEM use for slope, cost, viewshed, and site screening.</a:t>
            </a:r>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6  /  51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latin typeface="Calibri"/>
                <a:ea typeface="Calibri"/>
                <a:cs typeface="Calibri"/>
              </a:rPr>
              <a:t>Part 1  ·  GIS Concepts and Data Types</a:t>
            </a:r>
          </a:p>
        </p:txBody>
      </p:sp>
      <p:sp>
        <p:nvSpPr>
          <p:cNvPr id="3" name="Text Placeholder 2"/>
          <p:cNvSpPr>
            <a:spLocks noGrp="1"/>
          </p:cNvSpPr>
          <p:nvPr>
            <p:ph type="body" idx="1"/>
          </p:nvPr>
        </p:nvSpPr>
        <p:spPr/>
        <p:txBody>
          <a:bodyPr/>
          <a:lstStyle/>
          <a:p>
            <a:r>
              <a:rPr sz="2000">
                <a:latin typeface="Calibri"/>
                <a:ea typeface="Calibri"/>
                <a:cs typeface="Calibri"/>
              </a:rPr>
              <a:t>Definition, components, vector and raster</a:t>
            </a:r>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7  /  51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latin typeface="Calibri"/>
                <a:ea typeface="Calibri"/>
                <a:cs typeface="Calibri"/>
              </a:rPr>
              <a:t>Instructor copy — text corrections (yellow on slides)</a:t>
            </a:r>
          </a:p>
        </p:txBody>
      </p:sp>
      <p:sp>
        <p:nvSpPr>
          <p:cNvPr id="3" name="Content Placeholder 2"/>
          <p:cNvSpPr>
            <a:spLocks noGrp="1"/>
          </p:cNvSpPr>
          <p:nvPr>
            <p:ph idx="1"/>
          </p:nvPr>
        </p:nvSpPr>
        <p:spPr/>
        <p:txBody>
          <a:bodyPr/>
          <a:lstStyle/>
          <a:p>
            <a:pPr>
              <a:spcAft>
                <a:spcPts val="600"/>
              </a:spcAft>
            </a:pPr>
            <a:r>
              <a:rPr sz="1500">
                <a:latin typeface="Calibri"/>
                <a:ea typeface="Calibri"/>
                <a:cs typeface="Calibri"/>
              </a:rPr>
              <a:t>Remove this slide before class. Yellow highlight on earlier slides = wording we changed.</a:t>
            </a:r>
          </a:p>
          <a:p>
            <a:pPr>
              <a:spcAft>
                <a:spcPts val="600"/>
              </a:spcAft>
            </a:pPr>
            <a:r>
              <a:rPr sz="1500">
                <a:latin typeface="Calibri"/>
                <a:ea typeface="Calibri"/>
                <a:cs typeface="Calibri"/>
              </a:rPr>
              <a:t>Trainig → Training; GIS Applications in Telecommunications → GIS Application in Telecom</a:t>
            </a:r>
          </a:p>
          <a:p>
            <a:pPr>
              <a:spcAft>
                <a:spcPts val="600"/>
              </a:spcAft>
            </a:pPr>
            <a:r>
              <a:rPr sz="1500">
                <a:latin typeface="Calibri"/>
                <a:ea typeface="Calibri"/>
                <a:cs typeface="Calibri"/>
              </a:rPr>
              <a:t>A Geographic Information Systems → System (singular); GIS use → GIS uses</a:t>
            </a:r>
          </a:p>
          <a:p>
            <a:pPr>
              <a:spcAft>
                <a:spcPts val="600"/>
              </a:spcAft>
            </a:pPr>
            <a:r>
              <a:rPr sz="1500">
                <a:latin typeface="Calibri"/>
                <a:ea typeface="Calibri"/>
                <a:cs typeface="Calibri"/>
              </a:rPr>
              <a:t>Rater data → Raster data; Advantage and Disadvantages → Advantages and Disadvantages</a:t>
            </a:r>
          </a:p>
          <a:p>
            <a:pPr>
              <a:spcAft>
                <a:spcPts val="600"/>
              </a:spcAft>
            </a:pPr>
            <a:r>
              <a:rPr sz="1500">
                <a:latin typeface="Calibri"/>
                <a:ea typeface="Calibri"/>
                <a:cs typeface="Calibri"/>
              </a:rPr>
              <a:t>abular → Tabular; Attribute Data Descriptive → Attribute Data:</a:t>
            </a:r>
          </a:p>
          <a:p>
            <a:pPr>
              <a:spcAft>
                <a:spcPts val="600"/>
              </a:spcAft>
            </a:pPr>
            <a:r>
              <a:rPr sz="1500">
                <a:latin typeface="Calibri"/>
                <a:ea typeface="Calibri"/>
                <a:cs typeface="Calibri"/>
              </a:rPr>
              <a:t>Project Coordinate → Projected Coordinate; ARCGIS PRO → ArcGIS Pro</a:t>
            </a:r>
          </a:p>
          <a:p>
            <a:pPr>
              <a:spcAft>
                <a:spcPts val="600"/>
              </a:spcAft>
            </a:pPr>
            <a:r>
              <a:rPr sz="1500">
                <a:latin typeface="Calibri"/>
                <a:ea typeface="Calibri"/>
                <a:cs typeface="Calibri"/>
              </a:rPr>
              <a:t>Continue.. → Feature Dataset / Subtypes</a:t>
            </a:r>
          </a:p>
          <a:p>
            <a:pPr>
              <a:spcAft>
                <a:spcPts val="600"/>
              </a:spcAft>
            </a:pPr>
            <a:r>
              <a:rPr sz="1500">
                <a:latin typeface="Calibri"/>
                <a:ea typeface="Calibri"/>
                <a:cs typeface="Calibri"/>
              </a:rPr>
              <a:t>denning invalided → rejecting invalid; Its is possible → It is still possible</a:t>
            </a:r>
          </a:p>
          <a:p>
            <a:pPr>
              <a:spcAft>
                <a:spcPts val="600"/>
              </a:spcAft>
            </a:pPr>
            <a:r>
              <a:rPr sz="1500">
                <a:latin typeface="Calibri"/>
                <a:ea typeface="Calibri"/>
                <a:cs typeface="Calibri"/>
              </a:rPr>
              <a:t>Earth / football ball / Geoid wording corrected (ellipsoid vs geoid).</a:t>
            </a:r>
          </a:p>
          <a:p>
            <a:pPr>
              <a:spcAft>
                <a:spcPts val="600"/>
              </a:spcAft>
            </a:pPr>
            <a:r>
              <a:rPr sz="1500">
                <a:latin typeface="Calibri"/>
                <a:ea typeface="Calibri"/>
                <a:cs typeface="Calibri"/>
              </a:rPr>
              <a:t>Raster excel → Rasters excel; one or more raster → rasters; some source → sources</a:t>
            </a:r>
          </a:p>
          <a:p>
            <a:pPr>
              <a:spcAft>
                <a:spcPts val="600"/>
              </a:spcAft>
            </a:pPr>
            <a:r>
              <a:rPr sz="1500">
                <a:latin typeface="Calibri"/>
                <a:ea typeface="Calibri"/>
                <a:cs typeface="Calibri"/>
              </a:rPr>
              <a:t>supper passage → super passage; Shapefiles sentence completed (no topology/domains).</a:t>
            </a:r>
          </a:p>
          <a:p>
            <a:pPr>
              <a:spcAft>
                <a:spcPts val="600"/>
              </a:spcAft>
            </a:pPr>
            <a:r>
              <a:rPr sz="1500">
                <a:latin typeface="Calibri"/>
                <a:ea typeface="Calibri"/>
                <a:cs typeface="Calibri"/>
              </a:rPr>
              <a:t>DEM extract list added (slide was title-only). Telecom 1:M note added to irrigation example.</a:t>
            </a:r>
          </a:p>
          <a:p>
            <a:pPr>
              <a:spcAft>
                <a:spcPts val="600"/>
              </a:spcAft>
            </a:pPr>
            <a:r>
              <a:rPr sz="1500">
                <a:latin typeface="Calibri"/>
                <a:ea typeface="Calibri"/>
                <a:cs typeface="Calibri"/>
              </a:rPr>
              <a:t>Vector Data Format moved to sit with vector content (before raster format).</a:t>
            </a:r>
          </a:p>
          <a:p>
            <a:pPr>
              <a:spcAft>
                <a:spcPts val="600"/>
              </a:spcAft>
            </a:pPr>
            <a:r>
              <a:rPr sz="1500">
                <a:latin typeface="Calibri"/>
                <a:ea typeface="Calibri"/>
                <a:cs typeface="Calibri"/>
              </a:rPr>
              <a:t>Day 1 Agenda + Learning Outcomes built from the content of the following slides.</a:t>
            </a:r>
          </a:p>
          <a:p>
            <a:pPr>
              <a:spcAft>
                <a:spcPts val="600"/>
              </a:spcAft>
            </a:pPr>
            <a:r>
              <a:rPr sz="1500">
                <a:latin typeface="Calibri"/>
                <a:ea typeface="Calibri"/>
                <a:cs typeface="Calibri"/>
              </a:rPr>
              <a:t>Fonts standardized to Calibri (titles 32 pt bold, body 18 pt, tables 14 pt).</a:t>
            </a:r>
          </a:p>
        </p:txBody>
      </p:sp>
      <p:sp>
        <p:nvSpPr>
          <p:cNvPr id="4" name="TextBox 3"/>
          <p:cNvSpPr txBox="1"/>
          <p:nvPr/>
        </p:nvSpPr>
        <p:spPr>
          <a:xfrm>
            <a:off x="320040" y="6565392"/>
            <a:ext cx="11521440" cy="237744"/>
          </a:xfrm>
          <a:prstGeom prst="rect">
            <a:avLst/>
          </a:prstGeom>
          <a:noFill/>
        </p:spPr>
        <p:txBody>
          <a:bodyPr wrap="none">
            <a:spAutoFit/>
          </a:bodyPr>
          <a:lstStyle/>
          <a:p>
            <a:pPr algn="r"/>
            <a:r>
              <a:rPr sz="1100">
                <a:solidFill>
                  <a:srgbClr val="5B5B5B"/>
                </a:solidFill>
                <a:latin typeface="Calibri"/>
                <a:ea typeface="Calibri"/>
                <a:cs typeface="Calibri"/>
              </a:rPr>
              <a:t>GIS Application in Telecom  |  Day 1    51  /  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2335</TotalTime>
  <Words>3678</Words>
  <Application>Microsoft Office PowerPoint</Application>
  <PresentationFormat>Widescreen</PresentationFormat>
  <Paragraphs>285</Paragraphs>
  <Slides>44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Aptos</vt:lpstr>
      <vt:lpstr>Aptos Display</vt:lpstr>
      <vt:lpstr>Arial</vt:lpstr>
      <vt:lpstr>Calibri</vt:lpstr>
      <vt:lpstr>Cambria</vt:lpstr>
      <vt:lpstr>Courier New</vt:lpstr>
      <vt:lpstr>Segoe WPC</vt:lpstr>
      <vt:lpstr>Office Theme</vt:lpstr>
      <vt:lpstr>PowerPoint Presentation</vt:lpstr>
      <vt:lpstr>GIS Applications in Telecommunications </vt:lpstr>
      <vt:lpstr>Overall Agenda of Five Days Trainig</vt:lpstr>
      <vt:lpstr>Day 1</vt:lpstr>
      <vt:lpstr>What is GIS</vt:lpstr>
      <vt:lpstr>PowerPoint Presentation</vt:lpstr>
      <vt:lpstr>PowerPoint Presentation</vt:lpstr>
      <vt:lpstr>PowerPoint Presentation</vt:lpstr>
      <vt:lpstr>PowerPoint Presentation</vt:lpstr>
      <vt:lpstr>Other Key Data Types in GIS</vt:lpstr>
      <vt:lpstr>Raster data format </vt:lpstr>
      <vt:lpstr>Advantage and Disadvantages of Raster</vt:lpstr>
      <vt:lpstr>Vector data format</vt:lpstr>
      <vt:lpstr>PowerPoint Presentation</vt:lpstr>
      <vt:lpstr>PowerPoint Presentation</vt:lpstr>
      <vt:lpstr>What is a datum? 🌍</vt:lpstr>
      <vt:lpstr>What is WGS84? 🛰️ </vt:lpstr>
      <vt:lpstr>Types of Coordinates Systems</vt:lpstr>
      <vt:lpstr>Geographic Coordinate System</vt:lpstr>
      <vt:lpstr>Project Coordinate System</vt:lpstr>
      <vt:lpstr>Introduction to ARCGIS PRO</vt:lpstr>
      <vt:lpstr>Managing Vector Data in ArcGIS Pro</vt:lpstr>
      <vt:lpstr>Geodatabase</vt:lpstr>
      <vt:lpstr>Type of Geodatabases</vt:lpstr>
      <vt:lpstr>Other GIS data types:</vt:lpstr>
      <vt:lpstr>Continue..</vt:lpstr>
      <vt:lpstr>Domains and Subtypes in Geodatabase</vt:lpstr>
      <vt:lpstr>Continue..</vt:lpstr>
      <vt:lpstr>PowerPoint Presentation</vt:lpstr>
      <vt:lpstr>Relationship Classes</vt:lpstr>
      <vt:lpstr>Example of ERD</vt:lpstr>
      <vt:lpstr>Cardinality in Geodatabase</vt:lpstr>
      <vt:lpstr>PowerPoint Presentation</vt:lpstr>
      <vt:lpstr>Geodatabase design of one Irrigation project</vt:lpstr>
      <vt:lpstr>PowerPoint Presentation</vt:lpstr>
      <vt:lpstr>PowerPoint Presentation</vt:lpstr>
      <vt:lpstr>Raster Analysis in ArcGIS Pro</vt:lpstr>
      <vt:lpstr>Different Raster Analysis</vt:lpstr>
      <vt:lpstr>What is Weighted Overlay</vt:lpstr>
      <vt:lpstr>Raster Resolution</vt:lpstr>
      <vt:lpstr>What is a Digital Elevation Model (DEM)?</vt:lpstr>
      <vt:lpstr>DEM Different Sources</vt:lpstr>
      <vt:lpstr>What Can be Extracted from DEM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Karimi, Maziar (FAOAF)</dc:creator>
  <cp:lastModifiedBy>Karimi, Maziar (FAOAF)</cp:lastModifiedBy>
  <cp:revision>175</cp:revision>
  <dcterms:created xsi:type="dcterms:W3CDTF">2026-08-13T09:36:34Z</dcterms:created>
  <dcterms:modified xsi:type="dcterms:W3CDTF">2026-08-15T12:16:52Z</dcterms:modified>
</cp:coreProperties>
</file>